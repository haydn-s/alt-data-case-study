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5202B"/>
                </a:solidFill>
                <a:latin typeface="Calibri"/>
              </a:rPr>
              <a:t>2022–2024  ·  before the fee change</a:t>
            </a:r>
          </a:p>
        </c:rich>
      </c:tx>
      <c:layout/>
      <c:overlay val="0"/>
    </c:title>
    <c:autoTitleDeleted val="0"/>
    <c:plotArea>
      <c:barChart>
        <c:barDir val="col"/>
        <c:grouping val="clustered"/>
        <c:ser>
          <c:idx val="0"/>
          <c:order val="0"/>
          <c:tx>
            <c:strRef>
              <c:f>Sheet1!$B$1</c:f>
              <c:strCache>
                <c:ptCount val="1"/>
                <c:pt idx="0">
                  <c:v>Ours</c:v>
                </c:pt>
              </c:strCache>
            </c:strRef>
          </c:tx>
          <c:spPr>
            <a:solidFill>
              <a:srgbClr val="1F3B73"/>
            </a:solidFill>
          </c:spPr>
          <c:cat>
            <c:strRef>
              <c:f>Sheet1!$A$2:$A$4</c:f>
              <c:strCache>
                <c:ptCount val="3"/>
                <c:pt idx="0">
                  <c:v>Passengers</c:v>
                </c:pt>
                <c:pt idx="1">
                  <c:v>Fare</c:v>
                </c:pt>
                <c:pt idx="2">
                  <c:v>Revenue</c:v>
                </c:pt>
              </c:strCache>
            </c:strRef>
          </c:cat>
          <c:val>
            <c:numRef>
              <c:f>Sheet1!$B$2:$B$4</c:f>
              <c:numCache>
                <c:formatCode>General</c:formatCode>
                <c:ptCount val="3"/>
                <c:pt idx="0">
                  <c:v>4.8</c:v>
                </c:pt>
                <c:pt idx="1">
                  <c:v>4.3</c:v>
                </c:pt>
                <c:pt idx="2">
                  <c:v>5.7</c:v>
                </c:pt>
              </c:numCache>
            </c:numRef>
          </c:val>
        </c:ser>
        <c:ser>
          <c:idx val="1"/>
          <c:order val="1"/>
          <c:tx>
            <c:strRef>
              <c:f>Sheet1!$C$1</c:f>
              <c:strCache>
                <c:ptCount val="1"/>
                <c:pt idx="0">
                  <c:v>B1 naive</c:v>
                </c:pt>
              </c:strCache>
            </c:strRef>
          </c:tx>
          <c:spPr>
            <a:solidFill>
              <a:srgbClr val="D1495B"/>
            </a:solidFill>
          </c:spPr>
          <c:cat>
            <c:strRef>
              <c:f>Sheet1!$A$2:$A$4</c:f>
              <c:strCache>
                <c:ptCount val="3"/>
                <c:pt idx="0">
                  <c:v>Passengers</c:v>
                </c:pt>
                <c:pt idx="1">
                  <c:v>Fare</c:v>
                </c:pt>
                <c:pt idx="2">
                  <c:v>Revenue</c:v>
                </c:pt>
              </c:strCache>
            </c:strRef>
          </c:cat>
          <c:val>
            <c:numRef>
              <c:f>Sheet1!$C$2:$C$4</c:f>
              <c:numCache>
                <c:formatCode>General</c:formatCode>
                <c:ptCount val="3"/>
                <c:pt idx="0">
                  <c:v>10.3</c:v>
                </c:pt>
                <c:pt idx="1">
                  <c:v>5.4</c:v>
                </c:pt>
                <c:pt idx="2">
                  <c:v>10.9</c:v>
                </c:pt>
              </c:numCache>
            </c:numRef>
          </c:val>
        </c:ser>
        <c:dLbls>
          <c:numFmt formatCode="0.0&quot;%&quot;" sourceLinked="0"/>
          <c:txPr>
            <a:bodyPr/>
            <a:lstStyle/>
            <a:p>
              <a:pPr>
                <a:defRPr sz="1400" b="1">
                  <a:solidFill>
                    <a:srgbClr val="1B1F24"/>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1DC"/>
            </a:solidFill>
          </a:ln>
        </c:spPr>
        <c:txPr>
          <a:bodyPr/>
          <a:lstStyle/>
          <a:p>
            <a:pPr>
              <a:defRPr sz="1500">
                <a:solidFill>
                  <a:srgbClr val="5B6573"/>
                </a:solidFill>
                <a:latin typeface="Calibri"/>
              </a:defRPr>
            </a:pPr>
          </a:p>
        </c:txPr>
        <c:crossAx val="-2113994440"/>
        <c:crosses val="autoZero"/>
        <c:auto val="1"/>
        <c:lblAlgn val="ctr"/>
        <c:lblOffset val="100"/>
        <c:noMultiLvlLbl val="0"/>
      </c:catAx>
      <c:valAx>
        <c:axId val="-2113994440"/>
        <c:scaling>
          <c:max val="12.0"/>
          <c:min val="0.0"/>
        </c:scaling>
        <c:delete val="0"/>
        <c:axPos val="l"/>
        <c:majorGridlines>
          <c:spPr>
            <a:ln>
              <a:solidFill>
                <a:srgbClr val="E3E8EF"/>
              </a:solidFill>
            </a:ln>
          </c:spPr>
        </c:majorGridlines>
        <c:numFmt formatCode="0&quot;%&quot;" sourceLinked="0"/>
        <c:majorTickMark val="out"/>
        <c:minorTickMark val="none"/>
        <c:tickLblPos val="nextTo"/>
        <c:spPr>
          <a:ln>
            <a:noFill/>
          </a:ln>
        </c:spPr>
        <c:txPr>
          <a:bodyPr/>
          <a:lstStyle/>
          <a:p>
            <a:pPr>
              <a:defRPr sz="1400">
                <a:solidFill>
                  <a:srgbClr val="5B6573"/>
                </a:solidFill>
                <a:latin typeface="Calibri"/>
              </a:defRPr>
            </a:pPr>
          </a:p>
        </c:txPr>
        <c:crossAx val="-2068027336"/>
        <c:crosses val="autoZero"/>
        <c:majorUnit val="4.0"/>
      </c:valAx>
    </c:plotArea>
    <c:legend>
      <c:legendPos val="b"/>
      <c:overlay val="0"/>
      <c:txPr>
        <a:bodyPr/>
        <a:lstStyle/>
        <a:p>
          <a:pPr>
            <a:defRPr sz="1400">
              <a:solidFill>
                <a:srgbClr val="5B6573"/>
              </a:solidFill>
            </a:defRPr>
          </a:pPr>
        </a:p>
      </c:txPr>
    </c:legend>
    <c:dispBlanksAs val="gap"/>
  </c:chart>
  <c:txPr>
    <a:bodyPr/>
    <a:lstStyle/>
    <a:p>
      <a:pPr>
        <a:defRPr sz="14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5202B"/>
                </a:solidFill>
                <a:latin typeface="Calibri"/>
              </a:rPr>
              <a:t>2025–2026  ·  after the fee change</a:t>
            </a:r>
          </a:p>
        </c:rich>
      </c:tx>
      <c:layout/>
      <c:overlay val="0"/>
    </c:title>
    <c:autoTitleDeleted val="0"/>
    <c:plotArea>
      <c:barChart>
        <c:barDir val="col"/>
        <c:grouping val="clustered"/>
        <c:ser>
          <c:idx val="0"/>
          <c:order val="0"/>
          <c:tx>
            <c:strRef>
              <c:f>Sheet1!$B$1</c:f>
              <c:strCache>
                <c:ptCount val="1"/>
                <c:pt idx="0">
                  <c:v>Ours</c:v>
                </c:pt>
              </c:strCache>
            </c:strRef>
          </c:tx>
          <c:spPr>
            <a:solidFill>
              <a:srgbClr val="1F3B73"/>
            </a:solidFill>
          </c:spPr>
          <c:cat>
            <c:strRef>
              <c:f>Sheet1!$A$2:$A$4</c:f>
              <c:strCache>
                <c:ptCount val="3"/>
                <c:pt idx="0">
                  <c:v>Passengers</c:v>
                </c:pt>
                <c:pt idx="1">
                  <c:v>Fare</c:v>
                </c:pt>
                <c:pt idx="2">
                  <c:v>Revenue</c:v>
                </c:pt>
              </c:strCache>
            </c:strRef>
          </c:cat>
          <c:val>
            <c:numRef>
              <c:f>Sheet1!$B$2:$B$4</c:f>
              <c:numCache>
                <c:formatCode>General</c:formatCode>
                <c:ptCount val="3"/>
                <c:pt idx="0">
                  <c:v>1.1</c:v>
                </c:pt>
                <c:pt idx="1">
                  <c:v>4.4</c:v>
                </c:pt>
                <c:pt idx="2">
                  <c:v>3.5</c:v>
                </c:pt>
              </c:numCache>
            </c:numRef>
          </c:val>
        </c:ser>
        <c:ser>
          <c:idx val="1"/>
          <c:order val="1"/>
          <c:tx>
            <c:strRef>
              <c:f>Sheet1!$C$1</c:f>
              <c:strCache>
                <c:ptCount val="1"/>
                <c:pt idx="0">
                  <c:v>B1 naive</c:v>
                </c:pt>
              </c:strCache>
            </c:strRef>
          </c:tx>
          <c:spPr>
            <a:solidFill>
              <a:srgbClr val="D1495B"/>
            </a:solidFill>
          </c:spPr>
          <c:cat>
            <c:strRef>
              <c:f>Sheet1!$A$2:$A$4</c:f>
              <c:strCache>
                <c:ptCount val="3"/>
                <c:pt idx="0">
                  <c:v>Passengers</c:v>
                </c:pt>
                <c:pt idx="1">
                  <c:v>Fare</c:v>
                </c:pt>
                <c:pt idx="2">
                  <c:v>Revenue</c:v>
                </c:pt>
              </c:strCache>
            </c:strRef>
          </c:cat>
          <c:val>
            <c:numRef>
              <c:f>Sheet1!$C$2:$C$4</c:f>
              <c:numCache>
                <c:formatCode>General</c:formatCode>
                <c:ptCount val="3"/>
                <c:pt idx="0">
                  <c:v>2.6</c:v>
                </c:pt>
                <c:pt idx="1">
                  <c:v>5.0</c:v>
                </c:pt>
                <c:pt idx="2">
                  <c:v>3.9</c:v>
                </c:pt>
              </c:numCache>
            </c:numRef>
          </c:val>
        </c:ser>
        <c:dLbls>
          <c:numFmt formatCode="0.0&quot;%&quot;" sourceLinked="0"/>
          <c:txPr>
            <a:bodyPr/>
            <a:lstStyle/>
            <a:p>
              <a:pPr>
                <a:defRPr sz="1400" b="1">
                  <a:solidFill>
                    <a:srgbClr val="1B1F24"/>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1DC"/>
            </a:solidFill>
          </a:ln>
        </c:spPr>
        <c:txPr>
          <a:bodyPr/>
          <a:lstStyle/>
          <a:p>
            <a:pPr>
              <a:defRPr sz="1500">
                <a:solidFill>
                  <a:srgbClr val="5B6573"/>
                </a:solidFill>
                <a:latin typeface="Calibri"/>
              </a:defRPr>
            </a:pPr>
          </a:p>
        </c:txPr>
        <c:crossAx val="-2113994440"/>
        <c:crosses val="autoZero"/>
        <c:auto val="1"/>
        <c:lblAlgn val="ctr"/>
        <c:lblOffset val="100"/>
        <c:noMultiLvlLbl val="0"/>
      </c:catAx>
      <c:valAx>
        <c:axId val="-2113994440"/>
        <c:scaling>
          <c:max val="12.0"/>
          <c:min val="0.0"/>
        </c:scaling>
        <c:delete val="0"/>
        <c:axPos val="l"/>
        <c:majorGridlines>
          <c:spPr>
            <a:ln>
              <a:solidFill>
                <a:srgbClr val="E3E8EF"/>
              </a:solidFill>
            </a:ln>
          </c:spPr>
        </c:majorGridlines>
        <c:numFmt formatCode="0&quot;%&quot;" sourceLinked="0"/>
        <c:majorTickMark val="out"/>
        <c:minorTickMark val="none"/>
        <c:tickLblPos val="nextTo"/>
        <c:spPr>
          <a:ln>
            <a:noFill/>
          </a:ln>
        </c:spPr>
        <c:txPr>
          <a:bodyPr/>
          <a:lstStyle/>
          <a:p>
            <a:pPr>
              <a:defRPr sz="1400">
                <a:solidFill>
                  <a:srgbClr val="5B6573"/>
                </a:solidFill>
                <a:latin typeface="Calibri"/>
              </a:defRPr>
            </a:pPr>
          </a:p>
        </c:txPr>
        <c:crossAx val="-2068027336"/>
        <c:crosses val="autoZero"/>
        <c:majorUnit val="4.0"/>
      </c:valAx>
    </c:plotArea>
    <c:legend>
      <c:legendPos val="b"/>
      <c:overlay val="0"/>
      <c:txPr>
        <a:bodyPr/>
        <a:lstStyle/>
        <a:p>
          <a:pPr>
            <a:defRPr sz="1400">
              <a:solidFill>
                <a:srgbClr val="5B6573"/>
              </a:solidFill>
            </a:defRPr>
          </a:pPr>
        </a:p>
      </c:txPr>
    </c:legend>
    <c:dispBlanksAs val="gap"/>
  </c:chart>
  <c:txPr>
    <a:bodyPr/>
    <a:lstStyle/>
    <a:p>
      <a:pPr>
        <a:defRPr sz="14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Southwest reported 33,467k revenue passengers and a $231.69 average fare, so $7.75bn of passenger revenue. We forecast 32,912k, $229.34 and $7.55bn. All three actuals sit inside our 80% bands, and all three forecasts were low: passengers by 1.7%, fare by 1.0%, revenue by 2.7%. The bar is each 80% band, the diamond our forecast, the dot the actual. The bigger surprise: passenger revenue came in above the band implied by Southwest's own guidance. Our forecast sat inside that band; the company beat its own guide.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reported count does a checkpoint count measure? Enplaned passengers, not revenue passengers. A connecting trip is one paying trip but two boardings. In Q2 2026 boardings rose while paying trips fell, because assigned seating and the fare bundles pushed travellers onto connections. The ratio between the two, the trip factor, is the bridge from alternative data to the target, and no free source observes it: we extrapolate it from Southwest's own releases. Cleaning: the TSA file is structurally clean, with no missing, duplicate or non-positive days, so we imputed nothing. We flagged both funding-lapse windows. Once the downward trend in growth is controlled, neither shows a throughput drop, so we repaired nothing; neither touches Q3. Q2's fare carries a $285M one-off, which we added back before projecting. T-100 is published about three months late, so only July is a filing. We also used the BLS airfare CPI (October 2025 blank, interpolated) and EIA jet fuel (holiday blanks dropped). Google Trends was not used, because it is rescaled on every pull and has no stable history to backtest.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each from its own public signal, then multiplied. Passengers: national TSA throughput, times Southwest's share of it from T-100, divided by the trip factor; blended 65/35 with a capacity identity built on guided seat miles. Fare: a blend of three methods, an industry anchor on the BLS airfare CPI, a seasonal step and fuel pass-through, all within 1.6% of each other. Baselines from the packet: B0 is last year, B1 is last year scaled by Q2's growth. Against the print, B1 beat us on passengers, 0.1% low against our 1.7% low. We beat both on fare, though only narrowly once B1 is rebuilt without the one-off (1.3% low). Kalshi's fare market, a benchmark only, finished at 0.9% low, a touch closer than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re-implemented both methods from the roles' write-ups and replayed them quarter by quarter from 2022, re-estimating every parameter from what was public at the time. The packet asks for 2022-2024 and the 2025-2026 fee change separately; those are the two panels. Passengers beat B1 in both eras and in 14/18 quarters. Fare beats B1 on average in both eras, but by about a point, and the Diebold-Mariano test cannot tell it apart from naive (p = 0.44); 2022's COVID base flatters every method, and in 2023-24 alone B1 wins on fare. So the revenue figure, the client's number, has no demonstrated edge (p = 0.53). Q3 2026 fits that pattern on fare, but on passengers the naive forecast won this time, as it did in Q2: see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passenger forecast was 1.7% low. The identity revenue passengers = boardings ÷ trip factor splits that miss exactly. The boardings half, built from TSA and T-100, was 0.5% low: we forecast 43,108k boardings and Southwest reported 43,310k. The trip factor, which no public source observes, was 1.2% low: we extrapolated 1.3098 from the two post-change quarters and it came in at 1.2941, slightly below Q2's. The alternative data held; the accounting bridge on top of it missed, which is the risk our Flag position names. The trip factor was 1.2% off forecast, inside our 1.5-point downgrade trigger. On fare, we were 1.0% low: Southwest beat its own unit revenue guide, so the band we used as a sense check was itself too low. And the naive B1 beat our passenger number this quarter, as it did in Q2 (0.6% high against our 0.9% low). That fires our two-quarters-running downgrade trigger. For the Q4 decision: keep selling the boardings nowcast, but downgrade the revenue-passenger number to boardings-only until the trip factor is re-estimated on the new quarters.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02B"/>
        </a:solidFill>
        <a:effectLst/>
      </p:bgPr>
    </p:bg>
    <p:spTree>
      <p:nvGrpSpPr>
        <p:cNvPr id="1" name=""/>
        <p:cNvGrpSpPr/>
        <p:nvPr/>
      </p:nvGrpSpPr>
      <p:grpSpPr/>
      <p:sp>
        <p:nvSpPr>
          <p:cNvPr id="2" name="Title 1"/>
          <p:cNvSpPr>
            <a:spLocks noGrp="1"/>
          </p:cNvSpPr>
          <p:nvPr>
            <p:ph type="title"/>
          </p:nvPr>
        </p:nvSpPr>
        <p:spPr>
          <a:xfrm>
            <a:off x="548640" y="685800"/>
            <a:ext cx="11094415" cy="731520"/>
          </a:xfrm>
        </p:spPr>
        <p:txBody>
          <a:bodyPr lIns="0" rIns="0" anchor="t"/>
          <a:lstStyle/>
          <a:p>
            <a:pPr algn="l"/>
            <a:r>
              <a:rPr sz="3600" b="1">
                <a:solidFill>
                  <a:srgbClr val="FFFFFF"/>
                </a:solidFill>
                <a:latin typeface="Cambria"/>
              </a:rPr>
              <a:t>Inside every 80% band, a little low</a:t>
            </a:r>
          </a:p>
        </p:txBody>
      </p:sp>
      <p:sp>
        <p:nvSpPr>
          <p:cNvPr id="3" name="Kicker"/>
          <p:cNvSpPr txBox="1"/>
          <p:nvPr/>
        </p:nvSpPr>
        <p:spPr>
          <a:xfrm>
            <a:off x="548640" y="411480"/>
            <a:ext cx="11094415" cy="274320"/>
          </a:xfrm>
          <a:prstGeom prst="rect">
            <a:avLst/>
          </a:prstGeom>
          <a:noFill/>
        </p:spPr>
        <p:txBody>
          <a:bodyPr wrap="square" lIns="0" rIns="0" tIns="0" bIns="0" anchor="t">
            <a:spAutoFit/>
          </a:bodyPr>
          <a:lstStyle/>
          <a:p>
            <a:pPr algn="l">
              <a:spcAft>
                <a:spcPts val="0"/>
              </a:spcAft>
            </a:pPr>
            <a:r>
              <a:rPr sz="1300" b="1" i="0">
                <a:solidFill>
                  <a:srgbClr val="E9A13B"/>
                </a:solidFill>
                <a:latin typeface="Calibri"/>
              </a:rPr>
              <a:t>1  ·  FORECAST VS ACTUAL</a:t>
            </a:r>
          </a:p>
        </p:txBody>
      </p:sp>
      <p:sp>
        <p:nvSpPr>
          <p:cNvPr id="4" name="Subtitle"/>
          <p:cNvSpPr txBox="1"/>
          <p:nvPr/>
        </p:nvSpPr>
        <p:spPr>
          <a:xfrm>
            <a:off x="548640" y="1463040"/>
            <a:ext cx="11094415" cy="365760"/>
          </a:xfrm>
          <a:prstGeom prst="rect">
            <a:avLst/>
          </a:prstGeom>
          <a:noFill/>
        </p:spPr>
        <p:txBody>
          <a:bodyPr wrap="square" lIns="0" rIns="0" tIns="0" bIns="0" anchor="t">
            <a:spAutoFit/>
          </a:bodyPr>
          <a:lstStyle/>
          <a:p>
            <a:pPr algn="l">
              <a:spcAft>
                <a:spcPts val="0"/>
              </a:spcAft>
            </a:pPr>
            <a:r>
              <a:rPr sz="1500" b="0" i="0">
                <a:solidFill>
                  <a:srgbClr val="AEB8C6"/>
                </a:solidFill>
                <a:latin typeface="Calibri"/>
              </a:rPr>
              <a:t>Southwest Airlines (LUV), Q3 2026  ·  forecast locked Oct 20, scored against the Oct 21 release</a:t>
            </a:r>
          </a:p>
        </p:txBody>
      </p:sp>
      <p:sp>
        <p:nvSpPr>
          <p:cNvPr id="5" name="TextBox 4"/>
          <p:cNvSpPr txBox="1"/>
          <p:nvPr/>
        </p:nvSpPr>
        <p:spPr>
          <a:xfrm>
            <a:off x="548640" y="2560320"/>
            <a:ext cx="2560320" cy="365760"/>
          </a:xfrm>
          <a:prstGeom prst="rect">
            <a:avLst/>
          </a:prstGeom>
          <a:noFill/>
        </p:spPr>
        <p:txBody>
          <a:bodyPr wrap="square" lIns="0" rIns="0" tIns="0" bIns="0" anchor="ctr">
            <a:spAutoFit/>
          </a:bodyPr>
          <a:lstStyle/>
          <a:p>
            <a:pPr algn="l">
              <a:spcAft>
                <a:spcPts val="0"/>
              </a:spcAft>
            </a:pPr>
            <a:r>
              <a:rPr sz="2000" b="1" i="0">
                <a:solidFill>
                  <a:srgbClr val="FFFFFF"/>
                </a:solidFill>
                <a:latin typeface="Calibri"/>
              </a:rPr>
              <a:t>Revenue passengers</a:t>
            </a:r>
          </a:p>
        </p:txBody>
      </p:sp>
      <p:sp>
        <p:nvSpPr>
          <p:cNvPr id="6" name="80% band Revenue passengers"/>
          <p:cNvSpPr/>
          <p:nvPr/>
        </p:nvSpPr>
        <p:spPr>
          <a:xfrm>
            <a:off x="3246120" y="2587752"/>
            <a:ext cx="5577840" cy="310896"/>
          </a:xfrm>
          <a:prstGeom prst="roundRect">
            <a:avLst>
              <a:gd name="adj" fmla="val 12000"/>
            </a:avLst>
          </a:prstGeom>
          <a:solidFill>
            <a:srgbClr val="3A4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46120" y="2971800"/>
            <a:ext cx="1371600" cy="274320"/>
          </a:xfrm>
          <a:prstGeom prst="rect">
            <a:avLst/>
          </a:prstGeom>
          <a:noFill/>
        </p:spPr>
        <p:txBody>
          <a:bodyPr wrap="square" lIns="0" rIns="0" tIns="0" bIns="0" anchor="t">
            <a:spAutoFit/>
          </a:bodyPr>
          <a:lstStyle/>
          <a:p>
            <a:pPr algn="l">
              <a:spcAft>
                <a:spcPts val="0"/>
              </a:spcAft>
            </a:pPr>
            <a:r>
              <a:rPr sz="1200" b="0" i="0">
                <a:solidFill>
                  <a:srgbClr val="AEB8C6"/>
                </a:solidFill>
                <a:latin typeface="Calibri"/>
              </a:rPr>
              <a:t>31,912k</a:t>
            </a:r>
          </a:p>
        </p:txBody>
      </p:sp>
      <p:sp>
        <p:nvSpPr>
          <p:cNvPr id="8" name="TextBox 7"/>
          <p:cNvSpPr txBox="1"/>
          <p:nvPr/>
        </p:nvSpPr>
        <p:spPr>
          <a:xfrm>
            <a:off x="7452359" y="2971800"/>
            <a:ext cx="1371600" cy="274320"/>
          </a:xfrm>
          <a:prstGeom prst="rect">
            <a:avLst/>
          </a:prstGeom>
          <a:noFill/>
        </p:spPr>
        <p:txBody>
          <a:bodyPr wrap="square" lIns="0" rIns="0" tIns="0" bIns="0" anchor="t">
            <a:spAutoFit/>
          </a:bodyPr>
          <a:lstStyle/>
          <a:p>
            <a:pPr algn="r">
              <a:spcAft>
                <a:spcPts val="0"/>
              </a:spcAft>
            </a:pPr>
            <a:r>
              <a:rPr sz="1200" b="0" i="0">
                <a:solidFill>
                  <a:srgbClr val="AEB8C6"/>
                </a:solidFill>
                <a:latin typeface="Calibri"/>
              </a:rPr>
              <a:t>33,912k</a:t>
            </a:r>
          </a:p>
        </p:txBody>
      </p:sp>
      <p:sp>
        <p:nvSpPr>
          <p:cNvPr id="9" name="Forecast Revenue passengers"/>
          <p:cNvSpPr/>
          <p:nvPr/>
        </p:nvSpPr>
        <p:spPr>
          <a:xfrm>
            <a:off x="5879591" y="2587752"/>
            <a:ext cx="310896" cy="310896"/>
          </a:xfrm>
          <a:prstGeom prst="diamond">
            <a:avLst/>
          </a:prstGeom>
          <a:solidFill>
            <a:srgbClr val="E9A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39" y="2971800"/>
            <a:ext cx="1828800" cy="274320"/>
          </a:xfrm>
          <a:prstGeom prst="rect">
            <a:avLst/>
          </a:prstGeom>
          <a:noFill/>
        </p:spPr>
        <p:txBody>
          <a:bodyPr wrap="square" lIns="0" rIns="0" tIns="0" bIns="0" anchor="t">
            <a:spAutoFit/>
          </a:bodyPr>
          <a:lstStyle/>
          <a:p>
            <a:pPr algn="ctr">
              <a:spcAft>
                <a:spcPts val="0"/>
              </a:spcAft>
            </a:pPr>
            <a:r>
              <a:rPr sz="1400" b="1" i="0">
                <a:solidFill>
                  <a:srgbClr val="E9A13B"/>
                </a:solidFill>
                <a:latin typeface="Calibri"/>
              </a:rPr>
              <a:t>Forecast 32,912k</a:t>
            </a:r>
          </a:p>
        </p:txBody>
      </p:sp>
      <p:sp>
        <p:nvSpPr>
          <p:cNvPr id="11" name="Actual Revenue passengers"/>
          <p:cNvSpPr/>
          <p:nvPr/>
        </p:nvSpPr>
        <p:spPr>
          <a:xfrm>
            <a:off x="7454168" y="2615184"/>
            <a:ext cx="256032" cy="256032"/>
          </a:xfrm>
          <a:prstGeom prst="ellipse">
            <a:avLst/>
          </a:prstGeom>
          <a:solidFill>
            <a:srgbClr val="FFFFFF"/>
          </a:solidFill>
          <a:ln w="19050">
            <a:solidFill>
              <a:srgbClr val="152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67784" y="2240280"/>
            <a:ext cx="1828800" cy="274320"/>
          </a:xfrm>
          <a:prstGeom prst="rect">
            <a:avLst/>
          </a:prstGeom>
          <a:noFill/>
        </p:spPr>
        <p:txBody>
          <a:bodyPr wrap="square" lIns="0" rIns="0" tIns="0" bIns="0" anchor="t">
            <a:spAutoFit/>
          </a:bodyPr>
          <a:lstStyle/>
          <a:p>
            <a:pPr algn="ctr">
              <a:spcAft>
                <a:spcPts val="0"/>
              </a:spcAft>
            </a:pPr>
            <a:r>
              <a:rPr sz="1400" b="1" i="0">
                <a:solidFill>
                  <a:srgbClr val="FFFFFF"/>
                </a:solidFill>
                <a:latin typeface="Calibri"/>
              </a:rPr>
              <a:t>Actual 33,467k</a:t>
            </a:r>
          </a:p>
        </p:txBody>
      </p:sp>
      <p:sp>
        <p:nvSpPr>
          <p:cNvPr id="13" name="TextBox 12"/>
          <p:cNvSpPr txBox="1"/>
          <p:nvPr/>
        </p:nvSpPr>
        <p:spPr>
          <a:xfrm>
            <a:off x="9281159" y="2377440"/>
            <a:ext cx="2361895" cy="731520"/>
          </a:xfrm>
          <a:prstGeom prst="rect">
            <a:avLst/>
          </a:prstGeom>
          <a:noFill/>
        </p:spPr>
        <p:txBody>
          <a:bodyPr wrap="square" lIns="0" rIns="0" tIns="0" bIns="0" anchor="t">
            <a:spAutoFit/>
          </a:bodyPr>
          <a:lstStyle/>
          <a:p>
            <a:pPr algn="l">
              <a:spcAft>
                <a:spcPts val="0"/>
              </a:spcAft>
            </a:pPr>
            <a:r>
              <a:rPr sz="2600" b="1" i="0">
                <a:solidFill>
                  <a:srgbClr val="FFFFFF"/>
                </a:solidFill>
                <a:latin typeface="Calibri"/>
              </a:rPr>
              <a:t>1.7% low</a:t>
            </a:r>
          </a:p>
          <a:p>
            <a:pPr algn="l">
              <a:spcAft>
                <a:spcPts val="0"/>
              </a:spcAft>
            </a:pPr>
            <a:r>
              <a:rPr sz="1400" b="0" i="0">
                <a:solidFill>
                  <a:srgbClr val="2A9D8F"/>
                </a:solidFill>
                <a:latin typeface="Calibri"/>
              </a:rPr>
              <a:t>✓ inside 80% band</a:t>
            </a:r>
          </a:p>
        </p:txBody>
      </p:sp>
      <p:sp>
        <p:nvSpPr>
          <p:cNvPr id="14" name="TextBox 13"/>
          <p:cNvSpPr txBox="1"/>
          <p:nvPr/>
        </p:nvSpPr>
        <p:spPr>
          <a:xfrm>
            <a:off x="548640" y="3749039"/>
            <a:ext cx="2560320" cy="365760"/>
          </a:xfrm>
          <a:prstGeom prst="rect">
            <a:avLst/>
          </a:prstGeom>
          <a:noFill/>
        </p:spPr>
        <p:txBody>
          <a:bodyPr wrap="square" lIns="0" rIns="0" tIns="0" bIns="0" anchor="ctr">
            <a:spAutoFit/>
          </a:bodyPr>
          <a:lstStyle/>
          <a:p>
            <a:pPr algn="l">
              <a:spcAft>
                <a:spcPts val="0"/>
              </a:spcAft>
            </a:pPr>
            <a:r>
              <a:rPr sz="2000" b="1" i="0">
                <a:solidFill>
                  <a:srgbClr val="FFFFFF"/>
                </a:solidFill>
                <a:latin typeface="Calibri"/>
              </a:rPr>
              <a:t>Average fare</a:t>
            </a:r>
          </a:p>
        </p:txBody>
      </p:sp>
      <p:sp>
        <p:nvSpPr>
          <p:cNvPr id="15" name="80% band Average fare"/>
          <p:cNvSpPr/>
          <p:nvPr/>
        </p:nvSpPr>
        <p:spPr>
          <a:xfrm>
            <a:off x="3246120" y="3776472"/>
            <a:ext cx="5577840" cy="310896"/>
          </a:xfrm>
          <a:prstGeom prst="roundRect">
            <a:avLst>
              <a:gd name="adj" fmla="val 12000"/>
            </a:avLst>
          </a:prstGeom>
          <a:solidFill>
            <a:srgbClr val="3A4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6120" y="4160520"/>
            <a:ext cx="1371600" cy="274320"/>
          </a:xfrm>
          <a:prstGeom prst="rect">
            <a:avLst/>
          </a:prstGeom>
          <a:noFill/>
        </p:spPr>
        <p:txBody>
          <a:bodyPr wrap="square" lIns="0" rIns="0" tIns="0" bIns="0" anchor="t">
            <a:spAutoFit/>
          </a:bodyPr>
          <a:lstStyle/>
          <a:p>
            <a:pPr algn="l">
              <a:spcAft>
                <a:spcPts val="0"/>
              </a:spcAft>
            </a:pPr>
            <a:r>
              <a:rPr sz="1200" b="0" i="0">
                <a:solidFill>
                  <a:srgbClr val="AEB8C6"/>
                </a:solidFill>
                <a:latin typeface="Calibri"/>
              </a:rPr>
              <a:t>$215.87</a:t>
            </a:r>
          </a:p>
        </p:txBody>
      </p:sp>
      <p:sp>
        <p:nvSpPr>
          <p:cNvPr id="17" name="TextBox 16"/>
          <p:cNvSpPr txBox="1"/>
          <p:nvPr/>
        </p:nvSpPr>
        <p:spPr>
          <a:xfrm>
            <a:off x="7452359" y="4160520"/>
            <a:ext cx="1371600" cy="274320"/>
          </a:xfrm>
          <a:prstGeom prst="rect">
            <a:avLst/>
          </a:prstGeom>
          <a:noFill/>
        </p:spPr>
        <p:txBody>
          <a:bodyPr wrap="square" lIns="0" rIns="0" tIns="0" bIns="0" anchor="t">
            <a:spAutoFit/>
          </a:bodyPr>
          <a:lstStyle/>
          <a:p>
            <a:pPr algn="r">
              <a:spcAft>
                <a:spcPts val="0"/>
              </a:spcAft>
            </a:pPr>
            <a:r>
              <a:rPr sz="1200" b="0" i="0">
                <a:solidFill>
                  <a:srgbClr val="AEB8C6"/>
                </a:solidFill>
                <a:latin typeface="Calibri"/>
              </a:rPr>
              <a:t>$242.81</a:t>
            </a:r>
          </a:p>
        </p:txBody>
      </p:sp>
      <p:sp>
        <p:nvSpPr>
          <p:cNvPr id="18" name="Forecast Average fare"/>
          <p:cNvSpPr/>
          <p:nvPr/>
        </p:nvSpPr>
        <p:spPr>
          <a:xfrm>
            <a:off x="5879592" y="3776472"/>
            <a:ext cx="310896" cy="310896"/>
          </a:xfrm>
          <a:prstGeom prst="diamond">
            <a:avLst/>
          </a:prstGeom>
          <a:solidFill>
            <a:srgbClr val="E9A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4160520"/>
            <a:ext cx="1828800" cy="274320"/>
          </a:xfrm>
          <a:prstGeom prst="rect">
            <a:avLst/>
          </a:prstGeom>
          <a:noFill/>
        </p:spPr>
        <p:txBody>
          <a:bodyPr wrap="square" lIns="0" rIns="0" tIns="0" bIns="0" anchor="t">
            <a:spAutoFit/>
          </a:bodyPr>
          <a:lstStyle/>
          <a:p>
            <a:pPr algn="ctr">
              <a:spcAft>
                <a:spcPts val="0"/>
              </a:spcAft>
            </a:pPr>
            <a:r>
              <a:rPr sz="1400" b="1" i="0">
                <a:solidFill>
                  <a:srgbClr val="E9A13B"/>
                </a:solidFill>
                <a:latin typeface="Calibri"/>
              </a:rPr>
              <a:t>Forecast $229.34</a:t>
            </a:r>
          </a:p>
        </p:txBody>
      </p:sp>
      <p:sp>
        <p:nvSpPr>
          <p:cNvPr id="20" name="Actual Average fare"/>
          <p:cNvSpPr/>
          <p:nvPr/>
        </p:nvSpPr>
        <p:spPr>
          <a:xfrm>
            <a:off x="6393403" y="3803904"/>
            <a:ext cx="256032" cy="256032"/>
          </a:xfrm>
          <a:prstGeom prst="ellipse">
            <a:avLst/>
          </a:prstGeom>
          <a:solidFill>
            <a:srgbClr val="FFFFFF"/>
          </a:solidFill>
          <a:ln w="19050">
            <a:solidFill>
              <a:srgbClr val="152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07019" y="3429000"/>
            <a:ext cx="1828800" cy="274320"/>
          </a:xfrm>
          <a:prstGeom prst="rect">
            <a:avLst/>
          </a:prstGeom>
          <a:noFill/>
        </p:spPr>
        <p:txBody>
          <a:bodyPr wrap="square" lIns="0" rIns="0" tIns="0" bIns="0" anchor="t">
            <a:spAutoFit/>
          </a:bodyPr>
          <a:lstStyle/>
          <a:p>
            <a:pPr algn="ctr">
              <a:spcAft>
                <a:spcPts val="0"/>
              </a:spcAft>
            </a:pPr>
            <a:r>
              <a:rPr sz="1400" b="1" i="0">
                <a:solidFill>
                  <a:srgbClr val="FFFFFF"/>
                </a:solidFill>
                <a:latin typeface="Calibri"/>
              </a:rPr>
              <a:t>Actual $231.69</a:t>
            </a:r>
          </a:p>
        </p:txBody>
      </p:sp>
      <p:sp>
        <p:nvSpPr>
          <p:cNvPr id="22" name="TextBox 21"/>
          <p:cNvSpPr txBox="1"/>
          <p:nvPr/>
        </p:nvSpPr>
        <p:spPr>
          <a:xfrm>
            <a:off x="9281159" y="3566160"/>
            <a:ext cx="2361895" cy="731520"/>
          </a:xfrm>
          <a:prstGeom prst="rect">
            <a:avLst/>
          </a:prstGeom>
          <a:noFill/>
        </p:spPr>
        <p:txBody>
          <a:bodyPr wrap="square" lIns="0" rIns="0" tIns="0" bIns="0" anchor="t">
            <a:spAutoFit/>
          </a:bodyPr>
          <a:lstStyle/>
          <a:p>
            <a:pPr algn="l">
              <a:spcAft>
                <a:spcPts val="0"/>
              </a:spcAft>
            </a:pPr>
            <a:r>
              <a:rPr sz="2600" b="1" i="0">
                <a:solidFill>
                  <a:srgbClr val="FFFFFF"/>
                </a:solidFill>
                <a:latin typeface="Calibri"/>
              </a:rPr>
              <a:t>1.0% low</a:t>
            </a:r>
          </a:p>
          <a:p>
            <a:pPr algn="l">
              <a:spcAft>
                <a:spcPts val="0"/>
              </a:spcAft>
            </a:pPr>
            <a:r>
              <a:rPr sz="1400" b="0" i="0">
                <a:solidFill>
                  <a:srgbClr val="2A9D8F"/>
                </a:solidFill>
                <a:latin typeface="Calibri"/>
              </a:rPr>
              <a:t>✓ inside 80% band</a:t>
            </a:r>
          </a:p>
        </p:txBody>
      </p:sp>
      <p:sp>
        <p:nvSpPr>
          <p:cNvPr id="23" name="TextBox 22"/>
          <p:cNvSpPr txBox="1"/>
          <p:nvPr/>
        </p:nvSpPr>
        <p:spPr>
          <a:xfrm>
            <a:off x="548640" y="4937760"/>
            <a:ext cx="2560320" cy="365760"/>
          </a:xfrm>
          <a:prstGeom prst="rect">
            <a:avLst/>
          </a:prstGeom>
          <a:noFill/>
        </p:spPr>
        <p:txBody>
          <a:bodyPr wrap="square" lIns="0" rIns="0" tIns="0" bIns="0" anchor="ctr">
            <a:spAutoFit/>
          </a:bodyPr>
          <a:lstStyle/>
          <a:p>
            <a:pPr algn="l">
              <a:spcAft>
                <a:spcPts val="0"/>
              </a:spcAft>
            </a:pPr>
            <a:r>
              <a:rPr sz="2000" b="1" i="0">
                <a:solidFill>
                  <a:srgbClr val="FFFFFF"/>
                </a:solidFill>
                <a:latin typeface="Calibri"/>
              </a:rPr>
              <a:t>Passenger revenue</a:t>
            </a:r>
          </a:p>
        </p:txBody>
      </p:sp>
      <p:sp>
        <p:nvSpPr>
          <p:cNvPr id="24" name="80% band Passenger revenue"/>
          <p:cNvSpPr/>
          <p:nvPr/>
        </p:nvSpPr>
        <p:spPr>
          <a:xfrm>
            <a:off x="3246120" y="4965192"/>
            <a:ext cx="5577840" cy="310896"/>
          </a:xfrm>
          <a:prstGeom prst="roundRect">
            <a:avLst>
              <a:gd name="adj" fmla="val 12000"/>
            </a:avLst>
          </a:prstGeom>
          <a:solidFill>
            <a:srgbClr val="3A4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6120" y="5349240"/>
            <a:ext cx="1371600" cy="274320"/>
          </a:xfrm>
          <a:prstGeom prst="rect">
            <a:avLst/>
          </a:prstGeom>
          <a:noFill/>
        </p:spPr>
        <p:txBody>
          <a:bodyPr wrap="square" lIns="0" rIns="0" tIns="0" bIns="0" anchor="t">
            <a:spAutoFit/>
          </a:bodyPr>
          <a:lstStyle/>
          <a:p>
            <a:pPr algn="l">
              <a:spcAft>
                <a:spcPts val="0"/>
              </a:spcAft>
            </a:pPr>
            <a:r>
              <a:rPr sz="1200" b="0" i="0">
                <a:solidFill>
                  <a:srgbClr val="AEB8C6"/>
                </a:solidFill>
                <a:latin typeface="Calibri"/>
              </a:rPr>
              <a:t>$7.14bn</a:t>
            </a:r>
          </a:p>
        </p:txBody>
      </p:sp>
      <p:sp>
        <p:nvSpPr>
          <p:cNvPr id="26" name="TextBox 25"/>
          <p:cNvSpPr txBox="1"/>
          <p:nvPr/>
        </p:nvSpPr>
        <p:spPr>
          <a:xfrm>
            <a:off x="7452359" y="5349240"/>
            <a:ext cx="1371600" cy="274320"/>
          </a:xfrm>
          <a:prstGeom prst="rect">
            <a:avLst/>
          </a:prstGeom>
          <a:noFill/>
        </p:spPr>
        <p:txBody>
          <a:bodyPr wrap="square" lIns="0" rIns="0" tIns="0" bIns="0" anchor="t">
            <a:spAutoFit/>
          </a:bodyPr>
          <a:lstStyle/>
          <a:p>
            <a:pPr algn="r">
              <a:spcAft>
                <a:spcPts val="0"/>
              </a:spcAft>
            </a:pPr>
            <a:r>
              <a:rPr sz="1200" b="0" i="0">
                <a:solidFill>
                  <a:srgbClr val="AEB8C6"/>
                </a:solidFill>
                <a:latin typeface="Calibri"/>
              </a:rPr>
              <a:t>$7.95bn</a:t>
            </a:r>
          </a:p>
        </p:txBody>
      </p:sp>
      <p:sp>
        <p:nvSpPr>
          <p:cNvPr id="27" name="Forecast Passenger revenue"/>
          <p:cNvSpPr/>
          <p:nvPr/>
        </p:nvSpPr>
        <p:spPr>
          <a:xfrm>
            <a:off x="5898179" y="4965192"/>
            <a:ext cx="310896" cy="310896"/>
          </a:xfrm>
          <a:prstGeom prst="diamond">
            <a:avLst/>
          </a:prstGeom>
          <a:solidFill>
            <a:srgbClr val="E9A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39227" y="5349240"/>
            <a:ext cx="1828800" cy="274320"/>
          </a:xfrm>
          <a:prstGeom prst="rect">
            <a:avLst/>
          </a:prstGeom>
          <a:noFill/>
        </p:spPr>
        <p:txBody>
          <a:bodyPr wrap="square" lIns="0" rIns="0" tIns="0" bIns="0" anchor="t">
            <a:spAutoFit/>
          </a:bodyPr>
          <a:lstStyle/>
          <a:p>
            <a:pPr algn="ctr">
              <a:spcAft>
                <a:spcPts val="0"/>
              </a:spcAft>
            </a:pPr>
            <a:r>
              <a:rPr sz="1400" b="1" i="0">
                <a:solidFill>
                  <a:srgbClr val="E9A13B"/>
                </a:solidFill>
                <a:latin typeface="Calibri"/>
              </a:rPr>
              <a:t>Forecast $7.55bn</a:t>
            </a:r>
          </a:p>
        </p:txBody>
      </p:sp>
      <p:sp>
        <p:nvSpPr>
          <p:cNvPr id="29" name="Actual Passenger revenue"/>
          <p:cNvSpPr/>
          <p:nvPr/>
        </p:nvSpPr>
        <p:spPr>
          <a:xfrm>
            <a:off x="7328476" y="4992624"/>
            <a:ext cx="256032" cy="256032"/>
          </a:xfrm>
          <a:prstGeom prst="ellipse">
            <a:avLst/>
          </a:prstGeom>
          <a:solidFill>
            <a:srgbClr val="FFFFFF"/>
          </a:solidFill>
          <a:ln w="19050">
            <a:solidFill>
              <a:srgbClr val="152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42092" y="4617720"/>
            <a:ext cx="1828800" cy="274320"/>
          </a:xfrm>
          <a:prstGeom prst="rect">
            <a:avLst/>
          </a:prstGeom>
          <a:noFill/>
        </p:spPr>
        <p:txBody>
          <a:bodyPr wrap="square" lIns="0" rIns="0" tIns="0" bIns="0" anchor="t">
            <a:spAutoFit/>
          </a:bodyPr>
          <a:lstStyle/>
          <a:p>
            <a:pPr algn="ctr">
              <a:spcAft>
                <a:spcPts val="0"/>
              </a:spcAft>
            </a:pPr>
            <a:r>
              <a:rPr sz="1400" b="1" i="0">
                <a:solidFill>
                  <a:srgbClr val="FFFFFF"/>
                </a:solidFill>
                <a:latin typeface="Calibri"/>
              </a:rPr>
              <a:t>Actual $7.75bn</a:t>
            </a:r>
          </a:p>
        </p:txBody>
      </p:sp>
      <p:sp>
        <p:nvSpPr>
          <p:cNvPr id="31" name="TextBox 30"/>
          <p:cNvSpPr txBox="1"/>
          <p:nvPr/>
        </p:nvSpPr>
        <p:spPr>
          <a:xfrm>
            <a:off x="9281159" y="4754880"/>
            <a:ext cx="2361895" cy="731520"/>
          </a:xfrm>
          <a:prstGeom prst="rect">
            <a:avLst/>
          </a:prstGeom>
          <a:noFill/>
        </p:spPr>
        <p:txBody>
          <a:bodyPr wrap="square" lIns="0" rIns="0" tIns="0" bIns="0" anchor="t">
            <a:spAutoFit/>
          </a:bodyPr>
          <a:lstStyle/>
          <a:p>
            <a:pPr algn="l">
              <a:spcAft>
                <a:spcPts val="0"/>
              </a:spcAft>
            </a:pPr>
            <a:r>
              <a:rPr sz="2600" b="1" i="0">
                <a:solidFill>
                  <a:srgbClr val="FFFFFF"/>
                </a:solidFill>
                <a:latin typeface="Calibri"/>
              </a:rPr>
              <a:t>2.7% low</a:t>
            </a:r>
          </a:p>
          <a:p>
            <a:pPr algn="l">
              <a:spcAft>
                <a:spcPts val="0"/>
              </a:spcAft>
            </a:pPr>
            <a:r>
              <a:rPr sz="1400" b="0" i="0">
                <a:solidFill>
                  <a:srgbClr val="2A9D8F"/>
                </a:solidFill>
                <a:latin typeface="Calibri"/>
              </a:rPr>
              <a:t>✓ inside 80% band</a:t>
            </a:r>
          </a:p>
        </p:txBody>
      </p:sp>
      <p:sp>
        <p:nvSpPr>
          <p:cNvPr id="32" name="TextBox 31"/>
          <p:cNvSpPr txBox="1"/>
          <p:nvPr/>
        </p:nvSpPr>
        <p:spPr>
          <a:xfrm>
            <a:off x="548640" y="5989320"/>
            <a:ext cx="11094415" cy="365760"/>
          </a:xfrm>
          <a:prstGeom prst="rect">
            <a:avLst/>
          </a:prstGeom>
          <a:noFill/>
        </p:spPr>
        <p:txBody>
          <a:bodyPr wrap="square" lIns="0" rIns="0" tIns="0" bIns="0" anchor="t">
            <a:spAutoFit/>
          </a:bodyPr>
          <a:lstStyle/>
          <a:p>
            <a:pPr algn="l">
              <a:spcAft>
                <a:spcPts val="0"/>
              </a:spcAft>
            </a:pPr>
            <a:r>
              <a:rPr sz="1600" b="0" i="0">
                <a:solidFill>
                  <a:srgbClr val="AEB8C6"/>
                </a:solidFill>
                <a:latin typeface="Calibri"/>
              </a:rPr>
              <a:t>Passenger revenue landed </a:t>
            </a:r>
            <a:r>
              <a:rPr sz="1600" b="1" i="0">
                <a:solidFill>
                  <a:srgbClr val="FFFFFF"/>
                </a:solidFill>
                <a:latin typeface="Calibri"/>
              </a:rPr>
              <a:t>above the $7.39bn–$7.60bn band</a:t>
            </a:r>
            <a:r>
              <a:rPr sz="1600" b="0" i="0">
                <a:solidFill>
                  <a:srgbClr val="AEB8C6"/>
                </a:solidFill>
                <a:latin typeface="Calibri"/>
              </a:rPr>
              <a:t> that Southwest's own guidance implied.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85800"/>
            <a:ext cx="11094415" cy="731520"/>
          </a:xfrm>
        </p:spPr>
        <p:txBody>
          <a:bodyPr lIns="0" rIns="0" anchor="t"/>
          <a:lstStyle/>
          <a:p>
            <a:pPr algn="l"/>
            <a:r>
              <a:rPr sz="3600" b="1">
                <a:solidFill>
                  <a:srgbClr val="15202B"/>
                </a:solidFill>
                <a:latin typeface="Cambria"/>
              </a:rPr>
              <a:t>TSA counts boardings, not passengers</a:t>
            </a:r>
          </a:p>
        </p:txBody>
      </p:sp>
      <p:sp>
        <p:nvSpPr>
          <p:cNvPr id="3" name="Kicker"/>
          <p:cNvSpPr txBox="1"/>
          <p:nvPr/>
        </p:nvSpPr>
        <p:spPr>
          <a:xfrm>
            <a:off x="548640" y="411480"/>
            <a:ext cx="11094415" cy="274320"/>
          </a:xfrm>
          <a:prstGeom prst="rect">
            <a:avLst/>
          </a:prstGeom>
          <a:noFill/>
        </p:spPr>
        <p:txBody>
          <a:bodyPr wrap="square" lIns="0" rIns="0" tIns="0" bIns="0" anchor="t">
            <a:spAutoFit/>
          </a:bodyPr>
          <a:lstStyle/>
          <a:p>
            <a:pPr algn="l">
              <a:spcAft>
                <a:spcPts val="0"/>
              </a:spcAft>
            </a:pPr>
            <a:r>
              <a:rPr sz="1300" b="1" i="0">
                <a:solidFill>
                  <a:srgbClr val="1F3B73"/>
                </a:solidFill>
                <a:latin typeface="Calibri"/>
              </a:rPr>
              <a:t>2  ·  DATA AND CLEANING DECISIONS</a:t>
            </a:r>
          </a:p>
        </p:txBody>
      </p:sp>
      <p:sp>
        <p:nvSpPr>
          <p:cNvPr id="4" name="Boardings vs passengers"/>
          <p:cNvSpPr/>
          <p:nvPr/>
        </p:nvSpPr>
        <p:spPr>
          <a:xfrm>
            <a:off x="548640" y="1737360"/>
            <a:ext cx="4297680" cy="4343400"/>
          </a:xfrm>
          <a:prstGeom prst="roundRect">
            <a:avLst>
              <a:gd name="adj" fmla="val 12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3566160" cy="274320"/>
          </a:xfrm>
          <a:prstGeom prst="rect">
            <a:avLst/>
          </a:prstGeom>
          <a:noFill/>
        </p:spPr>
        <p:txBody>
          <a:bodyPr wrap="square" lIns="0" rIns="0" tIns="0" bIns="0" anchor="t">
            <a:spAutoFit/>
          </a:bodyPr>
          <a:lstStyle/>
          <a:p>
            <a:pPr algn="l">
              <a:spcAft>
                <a:spcPts val="0"/>
              </a:spcAft>
            </a:pPr>
            <a:r>
              <a:rPr sz="1300" b="1" i="0">
                <a:solidFill>
                  <a:srgbClr val="5B6573"/>
                </a:solidFill>
                <a:latin typeface="Calibri"/>
              </a:rPr>
              <a:t>Q2 2026, YEAR ON YEAR</a:t>
            </a:r>
          </a:p>
        </p:txBody>
      </p:sp>
      <p:sp>
        <p:nvSpPr>
          <p:cNvPr id="6" name="TextBox 5"/>
          <p:cNvSpPr txBox="1"/>
          <p:nvPr/>
        </p:nvSpPr>
        <p:spPr>
          <a:xfrm>
            <a:off x="914400" y="2423160"/>
            <a:ext cx="3566160" cy="822960"/>
          </a:xfrm>
          <a:prstGeom prst="rect">
            <a:avLst/>
          </a:prstGeom>
          <a:noFill/>
        </p:spPr>
        <p:txBody>
          <a:bodyPr wrap="square" lIns="0" rIns="0" tIns="0" bIns="0" anchor="t">
            <a:spAutoFit/>
          </a:bodyPr>
          <a:lstStyle/>
          <a:p>
            <a:pPr algn="l">
              <a:spcAft>
                <a:spcPts val="0"/>
              </a:spcAft>
            </a:pPr>
            <a:r>
              <a:rPr sz="5400" b="1" i="0">
                <a:solidFill>
                  <a:srgbClr val="1F3B73"/>
                </a:solidFill>
                <a:latin typeface="Cambria"/>
              </a:rPr>
              <a:t>+0.3%</a:t>
            </a:r>
            <a:r>
              <a:rPr sz="2000" b="0" i="0">
                <a:solidFill>
                  <a:srgbClr val="1B1F24"/>
                </a:solidFill>
                <a:latin typeface="Calibri"/>
              </a:rPr>
              <a:t>  boardings</a:t>
            </a:r>
          </a:p>
        </p:txBody>
      </p:sp>
      <p:sp>
        <p:nvSpPr>
          <p:cNvPr id="7" name="TextBox 6"/>
          <p:cNvSpPr txBox="1"/>
          <p:nvPr/>
        </p:nvSpPr>
        <p:spPr>
          <a:xfrm>
            <a:off x="914400" y="3337560"/>
            <a:ext cx="3566160" cy="822960"/>
          </a:xfrm>
          <a:prstGeom prst="rect">
            <a:avLst/>
          </a:prstGeom>
          <a:noFill/>
        </p:spPr>
        <p:txBody>
          <a:bodyPr wrap="square" lIns="0" rIns="0" tIns="0" bIns="0" anchor="t">
            <a:spAutoFit/>
          </a:bodyPr>
          <a:lstStyle/>
          <a:p>
            <a:pPr algn="l">
              <a:spcAft>
                <a:spcPts val="0"/>
              </a:spcAft>
            </a:pPr>
            <a:r>
              <a:rPr sz="5400" b="1" i="0">
                <a:solidFill>
                  <a:srgbClr val="D1495B"/>
                </a:solidFill>
                <a:latin typeface="Cambria"/>
              </a:rPr>
              <a:t>−3.3%</a:t>
            </a:r>
            <a:r>
              <a:rPr sz="2000" b="0" i="0">
                <a:solidFill>
                  <a:srgbClr val="1B1F24"/>
                </a:solidFill>
                <a:latin typeface="Calibri"/>
              </a:rPr>
              <a:t>  paying trips</a:t>
            </a:r>
          </a:p>
        </p:txBody>
      </p:sp>
      <p:sp>
        <p:nvSpPr>
          <p:cNvPr id="8" name="TextBox 7"/>
          <p:cNvSpPr txBox="1"/>
          <p:nvPr/>
        </p:nvSpPr>
        <p:spPr>
          <a:xfrm>
            <a:off x="914400" y="4572000"/>
            <a:ext cx="3566160" cy="1280160"/>
          </a:xfrm>
          <a:prstGeom prst="rect">
            <a:avLst/>
          </a:prstGeom>
          <a:noFill/>
        </p:spPr>
        <p:txBody>
          <a:bodyPr wrap="square" lIns="0" rIns="0" tIns="0" bIns="0" anchor="t">
            <a:spAutoFit/>
          </a:bodyPr>
          <a:lstStyle/>
          <a:p>
            <a:pPr algn="l">
              <a:spcAft>
                <a:spcPts val="0"/>
              </a:spcAft>
            </a:pPr>
            <a:r>
              <a:rPr sz="1700" b="0" i="0">
                <a:solidFill>
                  <a:srgbClr val="1B1F24"/>
                </a:solidFill>
                <a:latin typeface="Calibri"/>
              </a:rPr>
              <a:t>The gap is the trip factor: boardings per paying trip. No public source reports it.</a:t>
            </a:r>
          </a:p>
        </p:txBody>
      </p:sp>
      <p:sp>
        <p:nvSpPr>
          <p:cNvPr id="9" name="TextBox 8"/>
          <p:cNvSpPr txBox="1"/>
          <p:nvPr/>
        </p:nvSpPr>
        <p:spPr>
          <a:xfrm>
            <a:off x="5394959" y="1783080"/>
            <a:ext cx="6248095" cy="274320"/>
          </a:xfrm>
          <a:prstGeom prst="rect">
            <a:avLst/>
          </a:prstGeom>
          <a:noFill/>
        </p:spPr>
        <p:txBody>
          <a:bodyPr wrap="square" lIns="0" rIns="0" tIns="0" bIns="0" anchor="t">
            <a:spAutoFit/>
          </a:bodyPr>
          <a:lstStyle/>
          <a:p>
            <a:pPr algn="l">
              <a:spcAft>
                <a:spcPts val="0"/>
              </a:spcAft>
            </a:pPr>
            <a:r>
              <a:rPr sz="1300" b="1" i="0">
                <a:solidFill>
                  <a:srgbClr val="5B6573"/>
                </a:solidFill>
                <a:latin typeface="Calibri"/>
              </a:rPr>
              <a:t>CLEANING DECISIONS</a:t>
            </a:r>
          </a:p>
        </p:txBody>
      </p:sp>
      <p:sp>
        <p:nvSpPr>
          <p:cNvPr id="10" name="Rectangle 9"/>
          <p:cNvSpPr/>
          <p:nvPr/>
        </p:nvSpPr>
        <p:spPr>
          <a:xfrm>
            <a:off x="5394959" y="2286000"/>
            <a:ext cx="73152" cy="914400"/>
          </a:xfrm>
          <a:prstGeom prst="rect">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4999" y="2240280"/>
            <a:ext cx="5928055" cy="365760"/>
          </a:xfrm>
          <a:prstGeom prst="rect">
            <a:avLst/>
          </a:prstGeom>
          <a:noFill/>
        </p:spPr>
        <p:txBody>
          <a:bodyPr wrap="square" lIns="0" rIns="0" tIns="0" bIns="0" anchor="t">
            <a:spAutoFit/>
          </a:bodyPr>
          <a:lstStyle/>
          <a:p>
            <a:pPr algn="l">
              <a:spcAft>
                <a:spcPts val="0"/>
              </a:spcAft>
            </a:pPr>
            <a:r>
              <a:rPr sz="2000" b="1" i="0">
                <a:solidFill>
                  <a:srgbClr val="15202B"/>
                </a:solidFill>
                <a:latin typeface="Calibri"/>
              </a:rPr>
              <a:t>TSA checkpoint, daily</a:t>
            </a:r>
          </a:p>
        </p:txBody>
      </p:sp>
      <p:sp>
        <p:nvSpPr>
          <p:cNvPr id="12" name="TextBox 11"/>
          <p:cNvSpPr txBox="1"/>
          <p:nvPr/>
        </p:nvSpPr>
        <p:spPr>
          <a:xfrm>
            <a:off x="5714999" y="2651760"/>
            <a:ext cx="5928055" cy="548640"/>
          </a:xfrm>
          <a:prstGeom prst="rect">
            <a:avLst/>
          </a:prstGeom>
          <a:noFill/>
        </p:spPr>
        <p:txBody>
          <a:bodyPr wrap="square" lIns="0" rIns="0" tIns="0" bIns="0" anchor="t">
            <a:spAutoFit/>
          </a:bodyPr>
          <a:lstStyle/>
          <a:p>
            <a:pPr algn="l">
              <a:spcAft>
                <a:spcPts val="0"/>
              </a:spcAft>
            </a:pPr>
            <a:r>
              <a:rPr sz="1700" b="0" i="0">
                <a:solidFill>
                  <a:srgbClr val="1B1F24"/>
                </a:solidFill>
                <a:latin typeface="Calibri"/>
              </a:rPr>
              <a:t>Nothing imputed. Both funding lapses flagged, not repaired.</a:t>
            </a:r>
          </a:p>
        </p:txBody>
      </p:sp>
      <p:sp>
        <p:nvSpPr>
          <p:cNvPr id="13" name="Rectangle 12"/>
          <p:cNvSpPr/>
          <p:nvPr/>
        </p:nvSpPr>
        <p:spPr>
          <a:xfrm>
            <a:off x="5394959" y="3566160"/>
            <a:ext cx="73152" cy="914400"/>
          </a:xfrm>
          <a:prstGeom prst="rect">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14999" y="3520440"/>
            <a:ext cx="5928055" cy="365760"/>
          </a:xfrm>
          <a:prstGeom prst="rect">
            <a:avLst/>
          </a:prstGeom>
          <a:noFill/>
        </p:spPr>
        <p:txBody>
          <a:bodyPr wrap="square" lIns="0" rIns="0" tIns="0" bIns="0" anchor="t">
            <a:spAutoFit/>
          </a:bodyPr>
          <a:lstStyle/>
          <a:p>
            <a:pPr algn="l">
              <a:spcAft>
                <a:spcPts val="0"/>
              </a:spcAft>
            </a:pPr>
            <a:r>
              <a:rPr sz="2000" b="1" i="0">
                <a:solidFill>
                  <a:srgbClr val="15202B"/>
                </a:solidFill>
                <a:latin typeface="Calibri"/>
              </a:rPr>
              <a:t>Southwest Q2 release</a:t>
            </a:r>
          </a:p>
        </p:txBody>
      </p:sp>
      <p:sp>
        <p:nvSpPr>
          <p:cNvPr id="15" name="TextBox 14"/>
          <p:cNvSpPr txBox="1"/>
          <p:nvPr/>
        </p:nvSpPr>
        <p:spPr>
          <a:xfrm>
            <a:off x="5714999" y="3931920"/>
            <a:ext cx="5928055" cy="548640"/>
          </a:xfrm>
          <a:prstGeom prst="rect">
            <a:avLst/>
          </a:prstGeom>
          <a:noFill/>
        </p:spPr>
        <p:txBody>
          <a:bodyPr wrap="square" lIns="0" rIns="0" tIns="0" bIns="0" anchor="t">
            <a:spAutoFit/>
          </a:bodyPr>
          <a:lstStyle/>
          <a:p>
            <a:pPr algn="l">
              <a:spcAft>
                <a:spcPts val="0"/>
              </a:spcAft>
            </a:pPr>
            <a:r>
              <a:rPr sz="1700" b="0" i="0">
                <a:solidFill>
                  <a:srgbClr val="1B1F24"/>
                </a:solidFill>
                <a:latin typeface="Calibri"/>
              </a:rPr>
              <a:t>$285M one-off added back: fare $225.61 → $233.90.</a:t>
            </a:r>
          </a:p>
        </p:txBody>
      </p:sp>
      <p:sp>
        <p:nvSpPr>
          <p:cNvPr id="16" name="Rectangle 15"/>
          <p:cNvSpPr/>
          <p:nvPr/>
        </p:nvSpPr>
        <p:spPr>
          <a:xfrm>
            <a:off x="5394959" y="4846320"/>
            <a:ext cx="73152" cy="914400"/>
          </a:xfrm>
          <a:prstGeom prst="rect">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4999" y="4800600"/>
            <a:ext cx="5928055" cy="365760"/>
          </a:xfrm>
          <a:prstGeom prst="rect">
            <a:avLst/>
          </a:prstGeom>
          <a:noFill/>
        </p:spPr>
        <p:txBody>
          <a:bodyPr wrap="square" lIns="0" rIns="0" tIns="0" bIns="0" anchor="t">
            <a:spAutoFit/>
          </a:bodyPr>
          <a:lstStyle/>
          <a:p>
            <a:pPr algn="l">
              <a:spcAft>
                <a:spcPts val="0"/>
              </a:spcAft>
            </a:pPr>
            <a:r>
              <a:rPr sz="2000" b="1" i="0">
                <a:solidFill>
                  <a:srgbClr val="15202B"/>
                </a:solidFill>
                <a:latin typeface="Calibri"/>
              </a:rPr>
              <a:t>BTS T-100</a:t>
            </a:r>
          </a:p>
        </p:txBody>
      </p:sp>
      <p:sp>
        <p:nvSpPr>
          <p:cNvPr id="18" name="TextBox 17"/>
          <p:cNvSpPr txBox="1"/>
          <p:nvPr/>
        </p:nvSpPr>
        <p:spPr>
          <a:xfrm>
            <a:off x="5714999" y="5212080"/>
            <a:ext cx="5928055" cy="548640"/>
          </a:xfrm>
          <a:prstGeom prst="rect">
            <a:avLst/>
          </a:prstGeom>
          <a:noFill/>
        </p:spPr>
        <p:txBody>
          <a:bodyPr wrap="square" lIns="0" rIns="0" tIns="0" bIns="0" anchor="t">
            <a:spAutoFit/>
          </a:bodyPr>
          <a:lstStyle/>
          <a:p>
            <a:pPr algn="l">
              <a:spcAft>
                <a:spcPts val="0"/>
              </a:spcAft>
            </a:pPr>
            <a:r>
              <a:rPr sz="1700" b="0" i="0">
                <a:solidFill>
                  <a:srgbClr val="1B1F24"/>
                </a:solidFill>
                <a:latin typeface="Calibri"/>
              </a:rPr>
              <a:t>July is filed; August and September nowcast from TSA.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85800"/>
            <a:ext cx="11094415" cy="731520"/>
          </a:xfrm>
        </p:spPr>
        <p:txBody>
          <a:bodyPr lIns="0" rIns="0" anchor="t"/>
          <a:lstStyle/>
          <a:p>
            <a:pPr algn="l"/>
            <a:r>
              <a:rPr sz="3600" b="1">
                <a:solidFill>
                  <a:srgbClr val="15202B"/>
                </a:solidFill>
                <a:latin typeface="Cambria"/>
              </a:rPr>
              <a:t>Naive won on passengers; we won on fare</a:t>
            </a:r>
          </a:p>
        </p:txBody>
      </p:sp>
      <p:sp>
        <p:nvSpPr>
          <p:cNvPr id="3" name="Kicker"/>
          <p:cNvSpPr txBox="1"/>
          <p:nvPr/>
        </p:nvSpPr>
        <p:spPr>
          <a:xfrm>
            <a:off x="548640" y="411480"/>
            <a:ext cx="11094415" cy="274320"/>
          </a:xfrm>
          <a:prstGeom prst="rect">
            <a:avLst/>
          </a:prstGeom>
          <a:noFill/>
        </p:spPr>
        <p:txBody>
          <a:bodyPr wrap="square" lIns="0" rIns="0" tIns="0" bIns="0" anchor="t">
            <a:spAutoFit/>
          </a:bodyPr>
          <a:lstStyle/>
          <a:p>
            <a:pPr algn="l">
              <a:spcAft>
                <a:spcPts val="0"/>
              </a:spcAft>
            </a:pPr>
            <a:r>
              <a:rPr sz="1300" b="1" i="0">
                <a:solidFill>
                  <a:srgbClr val="1F3B73"/>
                </a:solidFill>
                <a:latin typeface="Calibri"/>
              </a:rPr>
              <a:t>3  ·  MODEL AND BASELINES</a:t>
            </a:r>
          </a:p>
        </p:txBody>
      </p:sp>
      <p:sp>
        <p:nvSpPr>
          <p:cNvPr id="4" name="Rounded Rectangle 3"/>
          <p:cNvSpPr/>
          <p:nvPr/>
        </p:nvSpPr>
        <p:spPr>
          <a:xfrm>
            <a:off x="548640" y="1828800"/>
            <a:ext cx="3383280" cy="960120"/>
          </a:xfrm>
          <a:prstGeom prst="roundRect">
            <a:avLst>
              <a:gd name="adj" fmla="val 12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ctr"/>
            <a:r>
              <a:rPr sz="1600" b="0">
                <a:solidFill>
                  <a:srgbClr val="1B1F24"/>
                </a:solidFill>
                <a:latin typeface="Calibri"/>
              </a:rPr>
              <a:t>TSA throughput × Southwest share
÷ trip factor</a:t>
            </a:r>
          </a:p>
        </p:txBody>
      </p:sp>
      <p:sp>
        <p:nvSpPr>
          <p:cNvPr id="5" name="Right Arrow 4"/>
          <p:cNvSpPr/>
          <p:nvPr/>
        </p:nvSpPr>
        <p:spPr>
          <a:xfrm>
            <a:off x="4069080" y="2130552"/>
            <a:ext cx="365760" cy="365760"/>
          </a:xfrm>
          <a:prstGeom prst="rightArrow">
            <a:avLst/>
          </a:prstGeom>
          <a:solidFill>
            <a:srgbClr val="8A9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0" y="1828800"/>
            <a:ext cx="2286000" cy="960120"/>
          </a:xfrm>
          <a:prstGeom prst="roundRect">
            <a:avLst>
              <a:gd name="adj" fmla="val 12000"/>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ctr"/>
            <a:r>
              <a:rPr sz="1400" b="0">
                <a:solidFill>
                  <a:srgbClr val="AEB8C6"/>
                </a:solidFill>
                <a:latin typeface="Calibri"/>
              </a:rPr>
              <a:t>Passengers
</a:t>
            </a:r>
            <a:r>
              <a:rPr sz="2400" b="1">
                <a:solidFill>
                  <a:srgbClr val="FFFFFF"/>
                </a:solidFill>
                <a:latin typeface="Calibri"/>
              </a:rPr>
              <a:t>32,912k</a:t>
            </a:r>
          </a:p>
        </p:txBody>
      </p:sp>
      <p:sp>
        <p:nvSpPr>
          <p:cNvPr id="7" name="Rounded Rectangle 6"/>
          <p:cNvSpPr/>
          <p:nvPr/>
        </p:nvSpPr>
        <p:spPr>
          <a:xfrm>
            <a:off x="548640" y="3154680"/>
            <a:ext cx="3383280" cy="960120"/>
          </a:xfrm>
          <a:prstGeom prst="roundRect">
            <a:avLst>
              <a:gd name="adj" fmla="val 12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ctr"/>
            <a:r>
              <a:rPr sz="1600" b="0">
                <a:solidFill>
                  <a:srgbClr val="1B1F24"/>
                </a:solidFill>
                <a:latin typeface="Calibri"/>
              </a:rPr>
              <a:t>Airfare CPI, seasonality
and fuel pass-through</a:t>
            </a:r>
          </a:p>
        </p:txBody>
      </p:sp>
      <p:sp>
        <p:nvSpPr>
          <p:cNvPr id="8" name="Right Arrow 7"/>
          <p:cNvSpPr/>
          <p:nvPr/>
        </p:nvSpPr>
        <p:spPr>
          <a:xfrm>
            <a:off x="4069080" y="3456432"/>
            <a:ext cx="365760" cy="365760"/>
          </a:xfrm>
          <a:prstGeom prst="rightArrow">
            <a:avLst/>
          </a:prstGeom>
          <a:solidFill>
            <a:srgbClr val="8A9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3154680"/>
            <a:ext cx="2286000" cy="960120"/>
          </a:xfrm>
          <a:prstGeom prst="roundRect">
            <a:avLst>
              <a:gd name="adj" fmla="val 12000"/>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ctr"/>
            <a:r>
              <a:rPr sz="1400" b="0">
                <a:solidFill>
                  <a:srgbClr val="AEB8C6"/>
                </a:solidFill>
                <a:latin typeface="Calibri"/>
              </a:rPr>
              <a:t>Fare
</a:t>
            </a:r>
            <a:r>
              <a:rPr sz="2400" b="1">
                <a:solidFill>
                  <a:srgbClr val="FFFFFF"/>
                </a:solidFill>
                <a:latin typeface="Calibri"/>
              </a:rPr>
              <a:t>$229.34</a:t>
            </a:r>
          </a:p>
        </p:txBody>
      </p:sp>
      <p:sp>
        <p:nvSpPr>
          <p:cNvPr id="10" name="Rounded Rectangle 9"/>
          <p:cNvSpPr/>
          <p:nvPr/>
        </p:nvSpPr>
        <p:spPr>
          <a:xfrm>
            <a:off x="4572000" y="4480560"/>
            <a:ext cx="2286000" cy="960120"/>
          </a:xfrm>
          <a:prstGeom prst="roundRect">
            <a:avLst>
              <a:gd name="adj" fmla="val 12000"/>
            </a:avLst>
          </a:prstGeom>
          <a:solidFill>
            <a:srgbClr val="E9A1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ctr"/>
            <a:r>
              <a:rPr sz="1400" b="0">
                <a:solidFill>
                  <a:srgbClr val="15202B"/>
                </a:solidFill>
                <a:latin typeface="Calibri"/>
              </a:rPr>
              <a:t>Passenger revenue
</a:t>
            </a:r>
            <a:r>
              <a:rPr sz="2400" b="1">
                <a:solidFill>
                  <a:srgbClr val="15202B"/>
                </a:solidFill>
                <a:latin typeface="Calibri"/>
              </a:rPr>
              <a:t>$7.55bn</a:t>
            </a:r>
          </a:p>
        </p:txBody>
      </p:sp>
      <p:sp>
        <p:nvSpPr>
          <p:cNvPr id="11" name="TextBox 10"/>
          <p:cNvSpPr txBox="1"/>
          <p:nvPr/>
        </p:nvSpPr>
        <p:spPr>
          <a:xfrm>
            <a:off x="548640" y="4709160"/>
            <a:ext cx="3840480" cy="548640"/>
          </a:xfrm>
          <a:prstGeom prst="rect">
            <a:avLst/>
          </a:prstGeom>
          <a:noFill/>
        </p:spPr>
        <p:txBody>
          <a:bodyPr wrap="square" lIns="0" rIns="0" tIns="0" bIns="0" anchor="ctr">
            <a:spAutoFit/>
          </a:bodyPr>
          <a:lstStyle/>
          <a:p>
            <a:pPr algn="r">
              <a:spcAft>
                <a:spcPts val="0"/>
              </a:spcAft>
            </a:pPr>
            <a:r>
              <a:rPr sz="1800" b="1" i="0">
                <a:solidFill>
                  <a:srgbClr val="5B6573"/>
                </a:solidFill>
                <a:latin typeface="Calibri"/>
              </a:rPr>
              <a:t>Passengers × fare</a:t>
            </a:r>
          </a:p>
        </p:txBody>
      </p:sp>
      <p:sp>
        <p:nvSpPr>
          <p:cNvPr id="12" name="TextBox 11"/>
          <p:cNvSpPr txBox="1"/>
          <p:nvPr/>
        </p:nvSpPr>
        <p:spPr>
          <a:xfrm>
            <a:off x="7299655" y="1783080"/>
            <a:ext cx="4343400" cy="274320"/>
          </a:xfrm>
          <a:prstGeom prst="rect">
            <a:avLst/>
          </a:prstGeom>
          <a:noFill/>
        </p:spPr>
        <p:txBody>
          <a:bodyPr wrap="square" lIns="0" rIns="0" tIns="0" bIns="0" anchor="t">
            <a:spAutoFit/>
          </a:bodyPr>
          <a:lstStyle/>
          <a:p>
            <a:pPr algn="l">
              <a:spcAft>
                <a:spcPts val="0"/>
              </a:spcAft>
            </a:pPr>
            <a:r>
              <a:rPr sz="1300" b="1" i="0">
                <a:solidFill>
                  <a:srgbClr val="5B6573"/>
                </a:solidFill>
                <a:latin typeface="Calibri"/>
              </a:rPr>
              <a:t>ERROR VS ACTUAL</a:t>
            </a:r>
          </a:p>
        </p:txBody>
      </p:sp>
      <p:graphicFrame>
        <p:nvGraphicFramePr>
          <p:cNvPr id="13" name="Baselines vs actual"/>
          <p:cNvGraphicFramePr>
            <a:graphicFrameLocks noGrp="1"/>
          </p:cNvGraphicFramePr>
          <p:nvPr/>
        </p:nvGraphicFramePr>
        <p:xfrm>
          <a:off x="7299655" y="2148840"/>
          <a:ext cx="4343400" cy="2194560"/>
        </p:xfrm>
        <a:graphic>
          <a:graphicData uri="http://schemas.openxmlformats.org/drawingml/2006/table">
            <a:tbl>
              <a:tblPr firstRow="1" bandRow="1">
                <a:tableStyleId>{5C22544A-7EE6-4342-B048-85BDC9FD1C3A}</a:tableStyleId>
              </a:tblPr>
              <a:tblGrid>
                <a:gridCol w="1600200"/>
                <a:gridCol w="1371600"/>
                <a:gridCol w="1371600"/>
              </a:tblGrid>
              <a:tr h="548640">
                <a:tc>
                  <a:txBody>
                    <a:bodyPr wrap="square"/>
                    <a:lstStyle/>
                    <a:p>
                      <a:pPr algn="l"/>
                      <a:r>
                        <a:rPr sz="1500" b="1">
                          <a:solidFill>
                            <a:srgbClr val="FFFFFF"/>
                          </a:solidFill>
                          <a:latin typeface="Calibri"/>
                        </a:rPr>
                        <a:t/>
                      </a:r>
                    </a:p>
                  </a:txBody>
                  <a:tcPr marL="137160" marR="137160" marT="54864" marB="54864" anchor="ctr">
                    <a:solidFill>
                      <a:srgbClr val="1F3B73"/>
                    </a:solidFill>
                  </a:tcPr>
                </a:tc>
                <a:tc>
                  <a:txBody>
                    <a:bodyPr wrap="square"/>
                    <a:lstStyle/>
                    <a:p>
                      <a:pPr algn="l"/>
                      <a:r>
                        <a:rPr sz="1500" b="1">
                          <a:solidFill>
                            <a:srgbClr val="FFFFFF"/>
                          </a:solidFill>
                          <a:latin typeface="Calibri"/>
                        </a:rPr>
                        <a:t>Passengers</a:t>
                      </a:r>
                    </a:p>
                  </a:txBody>
                  <a:tcPr marL="137160" marR="137160" marT="54864" marB="54864" anchor="ctr">
                    <a:solidFill>
                      <a:srgbClr val="1F3B73"/>
                    </a:solidFill>
                  </a:tcPr>
                </a:tc>
                <a:tc>
                  <a:txBody>
                    <a:bodyPr wrap="square"/>
                    <a:lstStyle/>
                    <a:p>
                      <a:pPr algn="l"/>
                      <a:r>
                        <a:rPr sz="1500" b="1">
                          <a:solidFill>
                            <a:srgbClr val="FFFFFF"/>
                          </a:solidFill>
                          <a:latin typeface="Calibri"/>
                        </a:rPr>
                        <a:t>Fare</a:t>
                      </a:r>
                    </a:p>
                  </a:txBody>
                  <a:tcPr marL="137160" marR="137160" marT="54864" marB="54864" anchor="ctr">
                    <a:solidFill>
                      <a:srgbClr val="1F3B73"/>
                    </a:solidFill>
                  </a:tcPr>
                </a:tc>
              </a:tr>
              <a:tr h="548640">
                <a:tc>
                  <a:txBody>
                    <a:bodyPr wrap="square"/>
                    <a:lstStyle/>
                    <a:p>
                      <a:pPr algn="l"/>
                      <a:r>
                        <a:rPr sz="1500" b="1">
                          <a:solidFill>
                            <a:srgbClr val="1B1F24"/>
                          </a:solidFill>
                          <a:latin typeface="Calibri"/>
                        </a:rPr>
                        <a:t>Ours</a:t>
                      </a:r>
                    </a:p>
                  </a:txBody>
                  <a:tcPr marL="137160" marR="137160" marT="54864" marB="54864" anchor="ctr">
                    <a:solidFill>
                      <a:srgbClr val="FFFFFF"/>
                    </a:solidFill>
                  </a:tcPr>
                </a:tc>
                <a:tc>
                  <a:txBody>
                    <a:bodyPr wrap="square"/>
                    <a:lstStyle/>
                    <a:p>
                      <a:pPr algn="l"/>
                      <a:r>
                        <a:rPr sz="1600" b="0">
                          <a:solidFill>
                            <a:srgbClr val="1B1F24"/>
                          </a:solidFill>
                          <a:latin typeface="Calibri"/>
                        </a:rPr>
                        <a:t>1.7% low</a:t>
                      </a:r>
                    </a:p>
                  </a:txBody>
                  <a:tcPr marL="137160" marR="137160" marT="54864" marB="54864" anchor="ctr">
                    <a:solidFill>
                      <a:srgbClr val="FFFFFF"/>
                    </a:solidFill>
                  </a:tcPr>
                </a:tc>
                <a:tc>
                  <a:txBody>
                    <a:bodyPr wrap="square"/>
                    <a:lstStyle/>
                    <a:p>
                      <a:pPr algn="l"/>
                      <a:r>
                        <a:rPr sz="1600" b="1">
                          <a:solidFill>
                            <a:srgbClr val="1E7268"/>
                          </a:solidFill>
                          <a:latin typeface="Calibri"/>
                        </a:rPr>
                        <a:t>1.0% low</a:t>
                      </a:r>
                    </a:p>
                  </a:txBody>
                  <a:tcPr marL="137160" marR="137160" marT="54864" marB="54864" anchor="ctr">
                    <a:solidFill>
                      <a:srgbClr val="FFFFFF"/>
                    </a:solidFill>
                  </a:tcPr>
                </a:tc>
              </a:tr>
              <a:tr h="548640">
                <a:tc>
                  <a:txBody>
                    <a:bodyPr wrap="square"/>
                    <a:lstStyle/>
                    <a:p>
                      <a:pPr algn="l"/>
                      <a:r>
                        <a:rPr sz="1500" b="0">
                          <a:solidFill>
                            <a:srgbClr val="1B1F24"/>
                          </a:solidFill>
                          <a:latin typeface="Calibri"/>
                        </a:rPr>
                        <a:t>B1 naive</a:t>
                      </a:r>
                    </a:p>
                  </a:txBody>
                  <a:tcPr marL="137160" marR="137160" marT="54864" marB="54864" anchor="ctr">
                    <a:solidFill>
                      <a:srgbClr val="EEF2F7"/>
                    </a:solidFill>
                  </a:tcPr>
                </a:tc>
                <a:tc>
                  <a:txBody>
                    <a:bodyPr wrap="square"/>
                    <a:lstStyle/>
                    <a:p>
                      <a:pPr algn="l"/>
                      <a:r>
                        <a:rPr sz="1600" b="1">
                          <a:solidFill>
                            <a:srgbClr val="1E7268"/>
                          </a:solidFill>
                          <a:latin typeface="Calibri"/>
                        </a:rPr>
                        <a:t>0.1% low</a:t>
                      </a:r>
                    </a:p>
                  </a:txBody>
                  <a:tcPr marL="137160" marR="137160" marT="54864" marB="54864" anchor="ctr">
                    <a:solidFill>
                      <a:srgbClr val="EEF2F7"/>
                    </a:solidFill>
                  </a:tcPr>
                </a:tc>
                <a:tc>
                  <a:txBody>
                    <a:bodyPr wrap="square"/>
                    <a:lstStyle/>
                    <a:p>
                      <a:pPr algn="l"/>
                      <a:r>
                        <a:rPr sz="1600" b="0">
                          <a:solidFill>
                            <a:srgbClr val="1B1F24"/>
                          </a:solidFill>
                          <a:latin typeface="Calibri"/>
                        </a:rPr>
                        <a:t>4.8% low</a:t>
                      </a:r>
                    </a:p>
                  </a:txBody>
                  <a:tcPr marL="137160" marR="137160" marT="54864" marB="54864" anchor="ctr">
                    <a:solidFill>
                      <a:srgbClr val="EEF2F7"/>
                    </a:solidFill>
                  </a:tcPr>
                </a:tc>
              </a:tr>
              <a:tr h="548640">
                <a:tc>
                  <a:txBody>
                    <a:bodyPr wrap="square"/>
                    <a:lstStyle/>
                    <a:p>
                      <a:pPr algn="l"/>
                      <a:r>
                        <a:rPr sz="1500" b="0">
                          <a:solidFill>
                            <a:srgbClr val="1B1F24"/>
                          </a:solidFill>
                          <a:latin typeface="Calibri"/>
                        </a:rPr>
                        <a:t>B0 last year</a:t>
                      </a:r>
                    </a:p>
                  </a:txBody>
                  <a:tcPr marL="137160" marR="137160" marT="54864" marB="54864" anchor="ctr">
                    <a:solidFill>
                      <a:srgbClr val="FFFFFF"/>
                    </a:solidFill>
                  </a:tcPr>
                </a:tc>
                <a:tc>
                  <a:txBody>
                    <a:bodyPr wrap="square"/>
                    <a:lstStyle/>
                    <a:p>
                      <a:pPr algn="l"/>
                      <a:r>
                        <a:rPr sz="1600" b="0">
                          <a:solidFill>
                            <a:srgbClr val="1B1F24"/>
                          </a:solidFill>
                          <a:latin typeface="Calibri"/>
                        </a:rPr>
                        <a:t>3.3% high</a:t>
                      </a:r>
                    </a:p>
                  </a:txBody>
                  <a:tcPr marL="137160" marR="137160" marT="54864" marB="54864" anchor="ctr">
                    <a:solidFill>
                      <a:srgbClr val="FFFFFF"/>
                    </a:solidFill>
                  </a:tcPr>
                </a:tc>
                <a:tc>
                  <a:txBody>
                    <a:bodyPr wrap="square"/>
                    <a:lstStyle/>
                    <a:p>
                      <a:pPr algn="l"/>
                      <a:r>
                        <a:rPr sz="1600" b="0">
                          <a:solidFill>
                            <a:srgbClr val="1B1F24"/>
                          </a:solidFill>
                          <a:latin typeface="Calibri"/>
                        </a:rPr>
                        <a:t>21.2% low</a:t>
                      </a:r>
                    </a:p>
                  </a:txBody>
                  <a:tcPr marL="137160" marR="137160" marT="54864" marB="54864" anchor="ctr">
                    <a:solidFill>
                      <a:srgbClr val="FFFFFF"/>
                    </a:solidFill>
                  </a:tcPr>
                </a:tc>
              </a:tr>
            </a:tbl>
          </a:graphicData>
        </a:graphic>
      </p:graphicFrame>
      <p:sp>
        <p:nvSpPr>
          <p:cNvPr id="14" name="TextBox 13"/>
          <p:cNvSpPr txBox="1"/>
          <p:nvPr/>
        </p:nvSpPr>
        <p:spPr>
          <a:xfrm>
            <a:off x="7299655" y="4526280"/>
            <a:ext cx="4343400" cy="548640"/>
          </a:xfrm>
          <a:prstGeom prst="rect">
            <a:avLst/>
          </a:prstGeom>
          <a:noFill/>
        </p:spPr>
        <p:txBody>
          <a:bodyPr wrap="square" lIns="0" rIns="0" tIns="0" bIns="0" anchor="t">
            <a:spAutoFit/>
          </a:bodyPr>
          <a:lstStyle/>
          <a:p>
            <a:pPr algn="l">
              <a:spcAft>
                <a:spcPts val="0"/>
              </a:spcAft>
            </a:pPr>
            <a:r>
              <a:rPr sz="1300" b="0" i="0">
                <a:solidFill>
                  <a:srgbClr val="5B6573"/>
                </a:solidFill>
                <a:latin typeface="Calibri"/>
              </a:rPr>
              <a:t>Green: closest. B1 = last year × Q2 growth; its fare without Q2's $285M one-off is 1.3% 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685800"/>
            <a:ext cx="11094415" cy="731520"/>
          </a:xfrm>
        </p:spPr>
        <p:txBody>
          <a:bodyPr lIns="0" rIns="0" anchor="t"/>
          <a:lstStyle/>
          <a:p>
            <a:pPr algn="l"/>
            <a:r>
              <a:rPr sz="3600" b="1">
                <a:solidFill>
                  <a:srgbClr val="15202B"/>
                </a:solidFill>
                <a:latin typeface="Cambria"/>
              </a:rPr>
              <a:t>Passengers beat naive; fare barely does</a:t>
            </a:r>
          </a:p>
        </p:txBody>
      </p:sp>
      <p:sp>
        <p:nvSpPr>
          <p:cNvPr id="3" name="Kicker"/>
          <p:cNvSpPr txBox="1"/>
          <p:nvPr/>
        </p:nvSpPr>
        <p:spPr>
          <a:xfrm>
            <a:off x="548640" y="411480"/>
            <a:ext cx="11094415" cy="274320"/>
          </a:xfrm>
          <a:prstGeom prst="rect">
            <a:avLst/>
          </a:prstGeom>
          <a:noFill/>
        </p:spPr>
        <p:txBody>
          <a:bodyPr wrap="square" lIns="0" rIns="0" tIns="0" bIns="0" anchor="t">
            <a:spAutoFit/>
          </a:bodyPr>
          <a:lstStyle/>
          <a:p>
            <a:pPr algn="l">
              <a:spcAft>
                <a:spcPts val="0"/>
              </a:spcAft>
            </a:pPr>
            <a:r>
              <a:rPr sz="1300" b="1" i="0">
                <a:solidFill>
                  <a:srgbClr val="1F3B73"/>
                </a:solidFill>
                <a:latin typeface="Calibri"/>
              </a:rPr>
              <a:t>4  ·  BACKTEST BY PERIOD</a:t>
            </a:r>
          </a:p>
        </p:txBody>
      </p:sp>
      <p:graphicFrame>
        <p:nvGraphicFramePr>
          <p:cNvPr id="4" name="Backtest MAPE 2022–2024  ·  before the fee change"/>
          <p:cNvGraphicFramePr>
            <a:graphicFrameLocks noGrp="1"/>
          </p:cNvGraphicFramePr>
          <p:nvPr/>
        </p:nvGraphicFramePr>
        <p:xfrm>
          <a:off x="548640" y="1691640"/>
          <a:ext cx="5394960" cy="4069080"/>
        </p:xfrm>
        <a:graphic>
          <a:graphicData uri="http://schemas.openxmlformats.org/drawingml/2006/chart">
            <c:chart xmlns:c="http://schemas.openxmlformats.org/drawingml/2006/chart" r:id="rId2"/>
          </a:graphicData>
        </a:graphic>
      </p:graphicFrame>
      <p:graphicFrame>
        <p:nvGraphicFramePr>
          <p:cNvPr id="5" name="Backtest MAPE 2025–2026  ·  after the fee change"/>
          <p:cNvGraphicFramePr>
            <a:graphicFrameLocks noGrp="1"/>
          </p:cNvGraphicFramePr>
          <p:nvPr/>
        </p:nvGraphicFramePr>
        <p:xfrm>
          <a:off x="6263640" y="1691640"/>
          <a:ext cx="5394960" cy="4069080"/>
        </p:xfrm>
        <a:graphic>
          <a:graphicData uri="http://schemas.openxmlformats.org/drawingml/2006/chart">
            <c:chart xmlns:c="http://schemas.openxmlformats.org/drawingml/2006/chart" r:id="rId3"/>
          </a:graphicData>
        </a:graphic>
      </p:graphicFrame>
      <p:sp>
        <p:nvSpPr>
          <p:cNvPr id="6" name="TextBox 5"/>
          <p:cNvSpPr txBox="1"/>
          <p:nvPr/>
        </p:nvSpPr>
        <p:spPr>
          <a:xfrm>
            <a:off x="548640" y="5943600"/>
            <a:ext cx="11094415" cy="457200"/>
          </a:xfrm>
          <a:prstGeom prst="rect">
            <a:avLst/>
          </a:prstGeom>
          <a:noFill/>
        </p:spPr>
        <p:txBody>
          <a:bodyPr wrap="square" lIns="0" rIns="0" tIns="0" bIns="0" anchor="t">
            <a:spAutoFit/>
          </a:bodyPr>
          <a:lstStyle/>
          <a:p>
            <a:pPr algn="l">
              <a:spcAft>
                <a:spcPts val="0"/>
              </a:spcAft>
            </a:pPr>
            <a:r>
              <a:rPr sz="1500" b="0" i="0">
                <a:solidFill>
                  <a:srgbClr val="5B6573"/>
                </a:solidFill>
                <a:latin typeface="Calibri"/>
              </a:rPr>
              <a:t>Mean absolute % error, lower is better. </a:t>
            </a:r>
            <a:r>
              <a:rPr sz="1500" b="1" i="0">
                <a:solidFill>
                  <a:srgbClr val="15202B"/>
                </a:solidFill>
                <a:latin typeface="Calibri"/>
              </a:rPr>
              <a:t>Only the passenger edge is significant (p = 0.05, 2025–26).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202B"/>
        </a:solidFill>
        <a:effectLst/>
      </p:bgPr>
    </p:bg>
    <p:spTree>
      <p:nvGrpSpPr>
        <p:cNvPr id="1" name=""/>
        <p:cNvGrpSpPr/>
        <p:nvPr/>
      </p:nvGrpSpPr>
      <p:grpSpPr/>
      <p:sp>
        <p:nvSpPr>
          <p:cNvPr id="2" name="Title 1"/>
          <p:cNvSpPr>
            <a:spLocks noGrp="1"/>
          </p:cNvSpPr>
          <p:nvPr>
            <p:ph type="title"/>
          </p:nvPr>
        </p:nvSpPr>
        <p:spPr>
          <a:xfrm>
            <a:off x="548640" y="685800"/>
            <a:ext cx="11094415" cy="731520"/>
          </a:xfrm>
        </p:spPr>
        <p:txBody>
          <a:bodyPr lIns="0" rIns="0" anchor="t"/>
          <a:lstStyle/>
          <a:p>
            <a:pPr algn="l"/>
            <a:r>
              <a:rPr sz="3600" b="1">
                <a:solidFill>
                  <a:srgbClr val="FFFFFF"/>
                </a:solidFill>
                <a:latin typeface="Cambria"/>
              </a:rPr>
              <a:t>The TSA data held; the trip factor didn't</a:t>
            </a:r>
          </a:p>
        </p:txBody>
      </p:sp>
      <p:sp>
        <p:nvSpPr>
          <p:cNvPr id="3" name="Kicker"/>
          <p:cNvSpPr txBox="1"/>
          <p:nvPr/>
        </p:nvSpPr>
        <p:spPr>
          <a:xfrm>
            <a:off x="548640" y="411480"/>
            <a:ext cx="11094415" cy="274320"/>
          </a:xfrm>
          <a:prstGeom prst="rect">
            <a:avLst/>
          </a:prstGeom>
          <a:noFill/>
        </p:spPr>
        <p:txBody>
          <a:bodyPr wrap="square" lIns="0" rIns="0" tIns="0" bIns="0" anchor="t">
            <a:spAutoFit/>
          </a:bodyPr>
          <a:lstStyle/>
          <a:p>
            <a:pPr algn="l">
              <a:spcAft>
                <a:spcPts val="0"/>
              </a:spcAft>
            </a:pPr>
            <a:r>
              <a:rPr sz="1300" b="1" i="0">
                <a:solidFill>
                  <a:srgbClr val="E9A13B"/>
                </a:solidFill>
                <a:latin typeface="Calibri"/>
              </a:rPr>
              <a:t>5  ·  WHAT WE GOT WRONG AND WHY</a:t>
            </a:r>
          </a:p>
        </p:txBody>
      </p:sp>
      <p:sp>
        <p:nvSpPr>
          <p:cNvPr id="4" name="TextBox 3"/>
          <p:cNvSpPr txBox="1"/>
          <p:nvPr/>
        </p:nvSpPr>
        <p:spPr>
          <a:xfrm>
            <a:off x="548640" y="1737360"/>
            <a:ext cx="5486400" cy="274320"/>
          </a:xfrm>
          <a:prstGeom prst="rect">
            <a:avLst/>
          </a:prstGeom>
          <a:noFill/>
        </p:spPr>
        <p:txBody>
          <a:bodyPr wrap="square" lIns="0" rIns="0" tIns="0" bIns="0" anchor="t">
            <a:spAutoFit/>
          </a:bodyPr>
          <a:lstStyle/>
          <a:p>
            <a:pPr algn="l">
              <a:spcAft>
                <a:spcPts val="0"/>
              </a:spcAft>
            </a:pPr>
            <a:r>
              <a:rPr sz="1300" b="1" i="0">
                <a:solidFill>
                  <a:srgbClr val="AEB8C6"/>
                </a:solidFill>
                <a:latin typeface="Calibri"/>
              </a:rPr>
              <a:t>PASSENGER MISS, SPLIT</a:t>
            </a:r>
          </a:p>
        </p:txBody>
      </p:sp>
      <p:sp>
        <p:nvSpPr>
          <p:cNvPr id="5" name="TextBox 4"/>
          <p:cNvSpPr txBox="1"/>
          <p:nvPr/>
        </p:nvSpPr>
        <p:spPr>
          <a:xfrm>
            <a:off x="548640" y="2194560"/>
            <a:ext cx="2011680" cy="640080"/>
          </a:xfrm>
          <a:prstGeom prst="rect">
            <a:avLst/>
          </a:prstGeom>
          <a:noFill/>
        </p:spPr>
        <p:txBody>
          <a:bodyPr wrap="square" lIns="0" rIns="0" tIns="0" bIns="0" anchor="ctr">
            <a:spAutoFit/>
          </a:bodyPr>
          <a:lstStyle/>
          <a:p>
            <a:pPr algn="l">
              <a:spcAft>
                <a:spcPts val="0"/>
              </a:spcAft>
            </a:pPr>
            <a:r>
              <a:rPr sz="2000" b="1" i="0">
                <a:solidFill>
                  <a:srgbClr val="FFFFFF"/>
                </a:solidFill>
                <a:latin typeface="Calibri"/>
              </a:rPr>
              <a:t>Boardings</a:t>
            </a:r>
          </a:p>
          <a:p>
            <a:pPr algn="l">
              <a:spcAft>
                <a:spcPts val="0"/>
              </a:spcAft>
            </a:pPr>
            <a:r>
              <a:rPr sz="1300" b="0" i="0">
                <a:solidFill>
                  <a:srgbClr val="AEB8C6"/>
                </a:solidFill>
                <a:latin typeface="Calibri"/>
              </a:rPr>
              <a:t>TSA + T-100 data</a:t>
            </a:r>
          </a:p>
        </p:txBody>
      </p:sp>
      <p:sp>
        <p:nvSpPr>
          <p:cNvPr id="6" name="Miss Boardings"/>
          <p:cNvSpPr/>
          <p:nvPr/>
        </p:nvSpPr>
        <p:spPr>
          <a:xfrm>
            <a:off x="2651760" y="2304288"/>
            <a:ext cx="766366" cy="42062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5286" y="2304288"/>
            <a:ext cx="1280160" cy="420624"/>
          </a:xfrm>
          <a:prstGeom prst="rect">
            <a:avLst/>
          </a:prstGeom>
          <a:noFill/>
        </p:spPr>
        <p:txBody>
          <a:bodyPr wrap="square" lIns="0" rIns="0" tIns="0" bIns="0" anchor="ctr">
            <a:spAutoFit/>
          </a:bodyPr>
          <a:lstStyle/>
          <a:p>
            <a:pPr algn="l">
              <a:spcAft>
                <a:spcPts val="0"/>
              </a:spcAft>
            </a:pPr>
            <a:r>
              <a:rPr sz="1800" b="1" i="0">
                <a:solidFill>
                  <a:srgbClr val="2A9D8F"/>
                </a:solidFill>
                <a:latin typeface="Calibri"/>
              </a:rPr>
              <a:t>0.5% low</a:t>
            </a:r>
          </a:p>
        </p:txBody>
      </p:sp>
      <p:sp>
        <p:nvSpPr>
          <p:cNvPr id="8" name="TextBox 7"/>
          <p:cNvSpPr txBox="1"/>
          <p:nvPr/>
        </p:nvSpPr>
        <p:spPr>
          <a:xfrm>
            <a:off x="548640" y="3154680"/>
            <a:ext cx="2011680" cy="640080"/>
          </a:xfrm>
          <a:prstGeom prst="rect">
            <a:avLst/>
          </a:prstGeom>
          <a:noFill/>
        </p:spPr>
        <p:txBody>
          <a:bodyPr wrap="square" lIns="0" rIns="0" tIns="0" bIns="0" anchor="ctr">
            <a:spAutoFit/>
          </a:bodyPr>
          <a:lstStyle/>
          <a:p>
            <a:pPr algn="l">
              <a:spcAft>
                <a:spcPts val="0"/>
              </a:spcAft>
            </a:pPr>
            <a:r>
              <a:rPr sz="2000" b="1" i="0">
                <a:solidFill>
                  <a:srgbClr val="FFFFFF"/>
                </a:solidFill>
                <a:latin typeface="Calibri"/>
              </a:rPr>
              <a:t>Trip factor</a:t>
            </a:r>
          </a:p>
          <a:p>
            <a:pPr algn="l">
              <a:spcAft>
                <a:spcPts val="0"/>
              </a:spcAft>
            </a:pPr>
            <a:r>
              <a:rPr sz="1300" b="0" i="0">
                <a:solidFill>
                  <a:srgbClr val="AEB8C6"/>
                </a:solidFill>
                <a:latin typeface="Calibri"/>
              </a:rPr>
              <a:t>the bridge</a:t>
            </a:r>
          </a:p>
        </p:txBody>
      </p:sp>
      <p:sp>
        <p:nvSpPr>
          <p:cNvPr id="9" name="Miss Trip factor"/>
          <p:cNvSpPr/>
          <p:nvPr/>
        </p:nvSpPr>
        <p:spPr>
          <a:xfrm>
            <a:off x="2651760" y="3264408"/>
            <a:ext cx="1976833" cy="420624"/>
          </a:xfrm>
          <a:prstGeom prst="rect">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65753" y="3264408"/>
            <a:ext cx="1280160" cy="420624"/>
          </a:xfrm>
          <a:prstGeom prst="rect">
            <a:avLst/>
          </a:prstGeom>
          <a:noFill/>
        </p:spPr>
        <p:txBody>
          <a:bodyPr wrap="square" lIns="0" rIns="0" tIns="0" bIns="0" anchor="ctr">
            <a:spAutoFit/>
          </a:bodyPr>
          <a:lstStyle/>
          <a:p>
            <a:pPr algn="l">
              <a:spcAft>
                <a:spcPts val="0"/>
              </a:spcAft>
            </a:pPr>
            <a:r>
              <a:rPr sz="1800" b="1" i="0">
                <a:solidFill>
                  <a:srgbClr val="D1495B"/>
                </a:solidFill>
                <a:latin typeface="Calibri"/>
              </a:rPr>
              <a:t>1.2% low</a:t>
            </a:r>
          </a:p>
        </p:txBody>
      </p:sp>
      <p:sp>
        <p:nvSpPr>
          <p:cNvPr id="11" name="TextBox 10"/>
          <p:cNvSpPr txBox="1"/>
          <p:nvPr/>
        </p:nvSpPr>
        <p:spPr>
          <a:xfrm>
            <a:off x="548640" y="4114800"/>
            <a:ext cx="2011680" cy="640080"/>
          </a:xfrm>
          <a:prstGeom prst="rect">
            <a:avLst/>
          </a:prstGeom>
          <a:noFill/>
        </p:spPr>
        <p:txBody>
          <a:bodyPr wrap="square" lIns="0" rIns="0" tIns="0" bIns="0" anchor="ctr">
            <a:spAutoFit/>
          </a:bodyPr>
          <a:lstStyle/>
          <a:p>
            <a:pPr algn="l">
              <a:spcAft>
                <a:spcPts val="0"/>
              </a:spcAft>
            </a:pPr>
            <a:r>
              <a:rPr sz="2000" b="1" i="0">
                <a:solidFill>
                  <a:srgbClr val="FFFFFF"/>
                </a:solidFill>
                <a:latin typeface="Calibri"/>
              </a:rPr>
              <a:t>Total</a:t>
            </a:r>
          </a:p>
          <a:p>
            <a:pPr algn="l">
              <a:spcAft>
                <a:spcPts val="0"/>
              </a:spcAft>
            </a:pPr>
            <a:r>
              <a:rPr sz="1300" b="0" i="0">
                <a:solidFill>
                  <a:srgbClr val="AEB8C6"/>
                </a:solidFill>
                <a:latin typeface="Calibri"/>
              </a:rPr>
              <a:t/>
            </a:r>
          </a:p>
        </p:txBody>
      </p:sp>
      <p:sp>
        <p:nvSpPr>
          <p:cNvPr id="12" name="Miss Total"/>
          <p:cNvSpPr/>
          <p:nvPr/>
        </p:nvSpPr>
        <p:spPr>
          <a:xfrm>
            <a:off x="2651760" y="4224528"/>
            <a:ext cx="27432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4224528"/>
            <a:ext cx="1280160" cy="420624"/>
          </a:xfrm>
          <a:prstGeom prst="rect">
            <a:avLst/>
          </a:prstGeom>
          <a:noFill/>
        </p:spPr>
        <p:txBody>
          <a:bodyPr wrap="square" lIns="0" rIns="0" tIns="0" bIns="0" anchor="ctr">
            <a:spAutoFit/>
          </a:bodyPr>
          <a:lstStyle/>
          <a:p>
            <a:pPr algn="l">
              <a:spcAft>
                <a:spcPts val="0"/>
              </a:spcAft>
            </a:pPr>
            <a:r>
              <a:rPr sz="1800" b="1" i="0">
                <a:solidFill>
                  <a:srgbClr val="FFFFFF"/>
                </a:solidFill>
                <a:latin typeface="Calibri"/>
              </a:rPr>
              <a:t>1.7% low</a:t>
            </a:r>
          </a:p>
        </p:txBody>
      </p:sp>
      <p:sp>
        <p:nvSpPr>
          <p:cNvPr id="14" name="Oval 13"/>
          <p:cNvSpPr/>
          <p:nvPr/>
        </p:nvSpPr>
        <p:spPr>
          <a:xfrm>
            <a:off x="6858000" y="2286000"/>
            <a:ext cx="420624" cy="42062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ctr"/>
            <a:r>
              <a:rPr sz="1600" b="1">
                <a:solidFill>
                  <a:srgbClr val="FFFFFF"/>
                </a:solidFill>
                <a:latin typeface="Calibri"/>
              </a:rPr>
              <a:t>1</a:t>
            </a:r>
          </a:p>
        </p:txBody>
      </p:sp>
      <p:sp>
        <p:nvSpPr>
          <p:cNvPr id="15" name="TextBox 14"/>
          <p:cNvSpPr txBox="1"/>
          <p:nvPr/>
        </p:nvSpPr>
        <p:spPr>
          <a:xfrm>
            <a:off x="7498079" y="2194560"/>
            <a:ext cx="4144975" cy="640080"/>
          </a:xfrm>
          <a:prstGeom prst="rect">
            <a:avLst/>
          </a:prstGeom>
          <a:noFill/>
        </p:spPr>
        <p:txBody>
          <a:bodyPr wrap="square" lIns="0" rIns="0" tIns="0" bIns="0" anchor="ctr">
            <a:spAutoFit/>
          </a:bodyPr>
          <a:lstStyle/>
          <a:p>
            <a:pPr algn="l">
              <a:spcAft>
                <a:spcPts val="0"/>
              </a:spcAft>
            </a:pPr>
            <a:r>
              <a:rPr sz="1700" b="0" i="0">
                <a:solidFill>
                  <a:srgbClr val="FFFFFF"/>
                </a:solidFill>
                <a:latin typeface="Calibri"/>
              </a:rPr>
              <a:t>Trip factor rose 2.2%, not the 3.4% we extrapolated.</a:t>
            </a:r>
          </a:p>
        </p:txBody>
      </p:sp>
      <p:sp>
        <p:nvSpPr>
          <p:cNvPr id="16" name="Oval 15"/>
          <p:cNvSpPr/>
          <p:nvPr/>
        </p:nvSpPr>
        <p:spPr>
          <a:xfrm>
            <a:off x="6858000" y="3246120"/>
            <a:ext cx="420624" cy="42062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ctr"/>
            <a:r>
              <a:rPr sz="1600" b="1">
                <a:solidFill>
                  <a:srgbClr val="FFFFFF"/>
                </a:solidFill>
                <a:latin typeface="Calibri"/>
              </a:rPr>
              <a:t>2</a:t>
            </a:r>
          </a:p>
        </p:txBody>
      </p:sp>
      <p:sp>
        <p:nvSpPr>
          <p:cNvPr id="17" name="TextBox 16"/>
          <p:cNvSpPr txBox="1"/>
          <p:nvPr/>
        </p:nvSpPr>
        <p:spPr>
          <a:xfrm>
            <a:off x="7498079" y="3154680"/>
            <a:ext cx="4144975" cy="640080"/>
          </a:xfrm>
          <a:prstGeom prst="rect">
            <a:avLst/>
          </a:prstGeom>
          <a:noFill/>
        </p:spPr>
        <p:txBody>
          <a:bodyPr wrap="square" lIns="0" rIns="0" tIns="0" bIns="0" anchor="ctr">
            <a:spAutoFit/>
          </a:bodyPr>
          <a:lstStyle/>
          <a:p>
            <a:pPr algn="l">
              <a:spcAft>
                <a:spcPts val="0"/>
              </a:spcAft>
            </a:pPr>
            <a:r>
              <a:rPr sz="1700" b="0" i="0">
                <a:solidFill>
                  <a:srgbClr val="FFFFFF"/>
                </a:solidFill>
                <a:latin typeface="Calibri"/>
              </a:rPr>
              <a:t>Fare 1.0% low: Southwest beat its own guide, unit revenue +21.6% vs +17.5–19.5%.</a:t>
            </a:r>
          </a:p>
        </p:txBody>
      </p:sp>
      <p:sp>
        <p:nvSpPr>
          <p:cNvPr id="18" name="Oval 17"/>
          <p:cNvSpPr/>
          <p:nvPr/>
        </p:nvSpPr>
        <p:spPr>
          <a:xfrm>
            <a:off x="6858000" y="4206240"/>
            <a:ext cx="420624" cy="420624"/>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ctr"/>
            <a:r>
              <a:rPr sz="1600" b="1">
                <a:solidFill>
                  <a:srgbClr val="FFFFFF"/>
                </a:solidFill>
                <a:latin typeface="Calibri"/>
              </a:rPr>
              <a:t>3</a:t>
            </a:r>
          </a:p>
        </p:txBody>
      </p:sp>
      <p:sp>
        <p:nvSpPr>
          <p:cNvPr id="19" name="TextBox 18"/>
          <p:cNvSpPr txBox="1"/>
          <p:nvPr/>
        </p:nvSpPr>
        <p:spPr>
          <a:xfrm>
            <a:off x="7498079" y="4114800"/>
            <a:ext cx="4144975" cy="640080"/>
          </a:xfrm>
          <a:prstGeom prst="rect">
            <a:avLst/>
          </a:prstGeom>
          <a:noFill/>
        </p:spPr>
        <p:txBody>
          <a:bodyPr wrap="square" lIns="0" rIns="0" tIns="0" bIns="0" anchor="ctr">
            <a:spAutoFit/>
          </a:bodyPr>
          <a:lstStyle/>
          <a:p>
            <a:pPr algn="l">
              <a:spcAft>
                <a:spcPts val="0"/>
              </a:spcAft>
            </a:pPr>
            <a:r>
              <a:rPr sz="1700" b="0" i="0">
                <a:solidFill>
                  <a:srgbClr val="FFFFFF"/>
                </a:solidFill>
                <a:latin typeface="Calibri"/>
              </a:rPr>
              <a:t>Naive B1 beat our passenger count: 0.1% low vs 1.7% low, the second quarter running.</a:t>
            </a:r>
          </a:p>
        </p:txBody>
      </p:sp>
      <p:sp>
        <p:nvSpPr>
          <p:cNvPr id="20" name="PoV"/>
          <p:cNvSpPr/>
          <p:nvPr/>
        </p:nvSpPr>
        <p:spPr>
          <a:xfrm>
            <a:off x="548640" y="5257800"/>
            <a:ext cx="11094415" cy="868680"/>
          </a:xfrm>
          <a:prstGeom prst="roundRect">
            <a:avLst>
              <a:gd name="adj" fmla="val 12000"/>
            </a:avLst>
          </a:prstGeom>
          <a:solidFill>
            <a:srgbClr val="2232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lstStyle/>
          <a:p>
            <a:pPr algn="l"/>
            <a:r>
              <a:rPr sz="1800" b="1">
                <a:solidFill>
                  <a:srgbClr val="E9A13B"/>
                </a:solidFill>
                <a:latin typeface="Calibri"/>
              </a:rPr>
              <a:t>PoV  </a:t>
            </a:r>
            <a:r>
              <a:rPr sz="1800" b="0">
                <a:solidFill>
                  <a:srgbClr val="FFFFFF"/>
                </a:solidFill>
                <a:latin typeface="Calibri"/>
              </a:rPr>
              <a:t>Team Flag. Keep selling the boardings nowcast; downgrade the passenger count until the trip factor settles.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