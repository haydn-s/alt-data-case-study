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Guidance band</c:v>
                </c:pt>
              </c:strCache>
            </c:strRef>
          </c:tx>
          <c:spPr>
            <a:ln w="28575">
              <a:solidFill>
                <a:srgbClr val="2A9D8F"/>
              </a:solidFill>
            </a:ln>
          </c:spPr>
          <c:marker>
            <c:symbol val="none"/>
          </c:marker>
          <c:xVal>
            <c:numRef>
              <c:f>Sheet1!$A$2:$A$26</c:f>
              <c:numCache>
                <c:formatCode>General</c:formatCode>
                <c:ptCount val="25"/>
                <c:pt idx="0">
                  <c:v>208.3</c:v>
                </c:pt>
                <c:pt idx="1">
                  <c:v>209.56</c:v>
                </c:pt>
                <c:pt idx="2">
                  <c:v>210.82</c:v>
                </c:pt>
                <c:pt idx="3">
                  <c:v>212.08</c:v>
                </c:pt>
                <c:pt idx="4">
                  <c:v>213.34</c:v>
                </c:pt>
                <c:pt idx="5">
                  <c:v>214.6</c:v>
                </c:pt>
                <c:pt idx="6">
                  <c:v>215.86</c:v>
                </c:pt>
                <c:pt idx="7">
                  <c:v>217.12</c:v>
                </c:pt>
                <c:pt idx="8">
                  <c:v>218.38</c:v>
                </c:pt>
                <c:pt idx="9">
                  <c:v>219.64</c:v>
                </c:pt>
                <c:pt idx="10">
                  <c:v>220.9</c:v>
                </c:pt>
                <c:pt idx="11">
                  <c:v>222.16</c:v>
                </c:pt>
                <c:pt idx="12">
                  <c:v>223.42</c:v>
                </c:pt>
                <c:pt idx="13">
                  <c:v>224.68</c:v>
                </c:pt>
                <c:pt idx="14">
                  <c:v>225.94</c:v>
                </c:pt>
                <c:pt idx="15">
                  <c:v>227.2</c:v>
                </c:pt>
                <c:pt idx="16">
                  <c:v>228.46</c:v>
                </c:pt>
                <c:pt idx="17">
                  <c:v>229.72</c:v>
                </c:pt>
                <c:pt idx="18">
                  <c:v>230.98</c:v>
                </c:pt>
                <c:pt idx="19">
                  <c:v>232.24</c:v>
                </c:pt>
                <c:pt idx="20">
                  <c:v>233.5</c:v>
                </c:pt>
                <c:pt idx="21">
                  <c:v>234.76</c:v>
                </c:pt>
                <c:pt idx="22">
                  <c:v>236.02</c:v>
                </c:pt>
                <c:pt idx="23">
                  <c:v>237.28</c:v>
                </c:pt>
                <c:pt idx="24">
                  <c:v>238.54</c:v>
                </c:pt>
              </c:numCache>
            </c:numRef>
          </c:xVal>
          <c:yVal>
            <c:numRef>
              <c:f>Sheet1!$B$2:$B$26</c:f>
              <c:numCache>
                <c:formatCode>General</c:formatCode>
                <c:ptCount val="25"/>
                <c:pt idx="0">
                  <c:v>35500.0</c:v>
                </c:pt>
                <c:pt idx="1">
                  <c:v>35286.6</c:v>
                </c:pt>
                <c:pt idx="2">
                  <c:v>35075.7</c:v>
                </c:pt>
                <c:pt idx="3">
                  <c:v>34867.3</c:v>
                </c:pt>
                <c:pt idx="4">
                  <c:v>34661.4</c:v>
                </c:pt>
                <c:pt idx="5">
                  <c:v>34457.9</c:v>
                </c:pt>
                <c:pt idx="6">
                  <c:v>34256.8</c:v>
                </c:pt>
                <c:pt idx="7">
                  <c:v>34058.0</c:v>
                </c:pt>
                <c:pt idx="8">
                  <c:v>33861.5</c:v>
                </c:pt>
                <c:pt idx="9">
                  <c:v>33667.3</c:v>
                </c:pt>
                <c:pt idx="10">
                  <c:v>33475.3</c:v>
                </c:pt>
                <c:pt idx="11">
                  <c:v>33285.4</c:v>
                </c:pt>
                <c:pt idx="12">
                  <c:v>33097.7</c:v>
                </c:pt>
                <c:pt idx="13">
                  <c:v>32912.1</c:v>
                </c:pt>
                <c:pt idx="14">
                  <c:v>32728.6</c:v>
                </c:pt>
                <c:pt idx="15">
                  <c:v>32547.1</c:v>
                </c:pt>
                <c:pt idx="16">
                  <c:v>32367.6</c:v>
                </c:pt>
                <c:pt idx="17">
                  <c:v>32190.1</c:v>
                </c:pt>
                <c:pt idx="18">
                  <c:v>32014.5</c:v>
                </c:pt>
                <c:pt idx="19">
                  <c:v>31840.9</c:v>
                </c:pt>
                <c:pt idx="20">
                  <c:v>31669.1</c:v>
                </c:pt>
                <c:pt idx="21">
                  <c:v>31499.1</c:v>
                </c:pt>
                <c:pt idx="22">
                  <c:v>31331.0</c:v>
                </c:pt>
                <c:pt idx="23">
                  <c:v>31164.6</c:v>
                </c:pt>
                <c:pt idx="24">
                  <c:v>31000.0</c:v>
                </c:pt>
              </c:numCache>
            </c:numRef>
          </c:yVal>
          <c:smooth val="0"/>
        </c:ser>
        <c:ser>
          <c:idx val="1"/>
          <c:order val="1"/>
          <c:tx>
            <c:strRef>
              <c:f>Sheet1!$B$28</c:f>
              <c:strCache>
                <c:ptCount val="1"/>
                <c:pt idx="0">
                  <c:v>Guidance band (upper edge)</c:v>
                </c:pt>
              </c:strCache>
            </c:strRef>
          </c:tx>
          <c:spPr>
            <a:ln w="28575">
              <a:solidFill>
                <a:srgbClr val="2A9D8F"/>
              </a:solidFill>
            </a:ln>
          </c:spPr>
          <c:marker>
            <c:symbol val="none"/>
          </c:marker>
          <c:xVal>
            <c:numRef>
              <c:f>Sheet1!$A$29:$A$53</c:f>
              <c:numCache>
                <c:formatCode>General</c:formatCode>
                <c:ptCount val="25"/>
                <c:pt idx="0">
                  <c:v>213.98</c:v>
                </c:pt>
                <c:pt idx="1">
                  <c:v>215.28</c:v>
                </c:pt>
                <c:pt idx="2">
                  <c:v>216.57</c:v>
                </c:pt>
                <c:pt idx="3">
                  <c:v>217.87</c:v>
                </c:pt>
                <c:pt idx="4">
                  <c:v>219.16</c:v>
                </c:pt>
                <c:pt idx="5">
                  <c:v>220.46</c:v>
                </c:pt>
                <c:pt idx="6">
                  <c:v>221.75</c:v>
                </c:pt>
                <c:pt idx="7">
                  <c:v>223.04</c:v>
                </c:pt>
                <c:pt idx="8">
                  <c:v>224.34</c:v>
                </c:pt>
                <c:pt idx="9">
                  <c:v>225.63</c:v>
                </c:pt>
                <c:pt idx="10">
                  <c:v>226.93</c:v>
                </c:pt>
                <c:pt idx="11">
                  <c:v>228.22</c:v>
                </c:pt>
                <c:pt idx="12">
                  <c:v>229.52</c:v>
                </c:pt>
                <c:pt idx="13">
                  <c:v>230.81</c:v>
                </c:pt>
                <c:pt idx="14">
                  <c:v>232.1</c:v>
                </c:pt>
                <c:pt idx="15">
                  <c:v>233.4</c:v>
                </c:pt>
                <c:pt idx="16">
                  <c:v>234.69</c:v>
                </c:pt>
                <c:pt idx="17">
                  <c:v>235.99</c:v>
                </c:pt>
                <c:pt idx="18">
                  <c:v>237.28</c:v>
                </c:pt>
                <c:pt idx="19">
                  <c:v>238.58</c:v>
                </c:pt>
                <c:pt idx="20">
                  <c:v>239.87</c:v>
                </c:pt>
                <c:pt idx="21">
                  <c:v>241.16</c:v>
                </c:pt>
                <c:pt idx="22">
                  <c:v>242.46</c:v>
                </c:pt>
                <c:pt idx="23">
                  <c:v>243.75</c:v>
                </c:pt>
                <c:pt idx="24">
                  <c:v>245.05</c:v>
                </c:pt>
              </c:numCache>
            </c:numRef>
          </c:xVal>
          <c:yVal>
            <c:numRef>
              <c:f>Sheet1!$B$29:$B$53</c:f>
              <c:numCache>
                <c:formatCode>General</c:formatCode>
                <c:ptCount val="25"/>
                <c:pt idx="0">
                  <c:v>35500.0</c:v>
                </c:pt>
                <c:pt idx="1">
                  <c:v>35286.6</c:v>
                </c:pt>
                <c:pt idx="2">
                  <c:v>35075.7</c:v>
                </c:pt>
                <c:pt idx="3">
                  <c:v>34867.3</c:v>
                </c:pt>
                <c:pt idx="4">
                  <c:v>34661.4</c:v>
                </c:pt>
                <c:pt idx="5">
                  <c:v>34457.9</c:v>
                </c:pt>
                <c:pt idx="6">
                  <c:v>34256.8</c:v>
                </c:pt>
                <c:pt idx="7">
                  <c:v>34058.0</c:v>
                </c:pt>
                <c:pt idx="8">
                  <c:v>33861.5</c:v>
                </c:pt>
                <c:pt idx="9">
                  <c:v>33667.3</c:v>
                </c:pt>
                <c:pt idx="10">
                  <c:v>33475.3</c:v>
                </c:pt>
                <c:pt idx="11">
                  <c:v>33285.4</c:v>
                </c:pt>
                <c:pt idx="12">
                  <c:v>33097.7</c:v>
                </c:pt>
                <c:pt idx="13">
                  <c:v>32912.1</c:v>
                </c:pt>
                <c:pt idx="14">
                  <c:v>32728.6</c:v>
                </c:pt>
                <c:pt idx="15">
                  <c:v>32547.1</c:v>
                </c:pt>
                <c:pt idx="16">
                  <c:v>32367.6</c:v>
                </c:pt>
                <c:pt idx="17">
                  <c:v>32190.1</c:v>
                </c:pt>
                <c:pt idx="18">
                  <c:v>32014.5</c:v>
                </c:pt>
                <c:pt idx="19">
                  <c:v>31840.9</c:v>
                </c:pt>
                <c:pt idx="20">
                  <c:v>31669.1</c:v>
                </c:pt>
                <c:pt idx="21">
                  <c:v>31499.1</c:v>
                </c:pt>
                <c:pt idx="22">
                  <c:v>31331.0</c:v>
                </c:pt>
                <c:pt idx="23">
                  <c:v>31164.6</c:v>
                </c:pt>
                <c:pt idx="24">
                  <c:v>31000.0</c:v>
                </c:pt>
              </c:numCache>
            </c:numRef>
          </c:yVal>
          <c:smooth val="0"/>
        </c:ser>
        <c:ser>
          <c:idx val="2"/>
          <c:order val="2"/>
          <c:tx>
            <c:strRef>
              <c:f>Sheet1!$B$55</c:f>
              <c:strCache>
                <c:ptCount val="1"/>
                <c:pt idx="0">
                  <c:v>Team forecast</c:v>
                </c:pt>
              </c:strCache>
            </c:strRef>
          </c:tx>
          <c:spPr>
            <a:ln>
              <a:noFill/>
            </a:ln>
          </c:spPr>
          <c:marker>
            <c:symbol val="diamond"/>
            <c:size val="12"/>
            <c:spPr>
              <a:solidFill>
                <a:srgbClr val="E9A13B"/>
              </a:solidFill>
              <a:ln>
                <a:solidFill>
                  <a:srgbClr val="FFFFFF"/>
                </a:solidFill>
              </a:ln>
            </c:spPr>
          </c:marker>
          <c:xVal>
            <c:numRef>
              <c:f>Sheet1!$A$56:$A$56</c:f>
              <c:numCache>
                <c:formatCode>General</c:formatCode>
                <c:ptCount val="1"/>
                <c:pt idx="0">
                  <c:v>229.34</c:v>
                </c:pt>
              </c:numCache>
            </c:numRef>
          </c:xVal>
          <c:yVal>
            <c:numRef>
              <c:f>Sheet1!$B$56:$B$56</c:f>
              <c:numCache>
                <c:formatCode>General</c:formatCode>
                <c:ptCount val="1"/>
                <c:pt idx="0">
                  <c:v>32912.0</c:v>
                </c:pt>
              </c:numCache>
            </c:numRef>
          </c:yVal>
          <c:smooth val="0"/>
        </c:ser>
        <c:ser>
          <c:idx val="3"/>
          <c:order val="3"/>
          <c:tx>
            <c:strRef>
              <c:f>Sheet1!$B$58</c:f>
              <c:strCache>
                <c:ptCount val="1"/>
                <c:pt idx="0">
                  <c:v>B0 last year</c:v>
                </c:pt>
              </c:strCache>
            </c:strRef>
          </c:tx>
          <c:spPr>
            <a:ln>
              <a:noFill/>
            </a:ln>
          </c:spPr>
          <c:marker>
            <c:symbol val="circle"/>
            <c:size val="10"/>
            <c:spPr>
              <a:solidFill>
                <a:srgbClr val="8A94A3"/>
              </a:solidFill>
              <a:ln>
                <a:solidFill>
                  <a:srgbClr val="FFFFFF"/>
                </a:solidFill>
              </a:ln>
            </c:spPr>
          </c:marker>
          <c:xVal>
            <c:numRef>
              <c:f>Sheet1!$A$59:$A$59</c:f>
              <c:numCache>
                <c:formatCode>General</c:formatCode>
                <c:ptCount val="1"/>
                <c:pt idx="0">
                  <c:v>182.56</c:v>
                </c:pt>
              </c:numCache>
            </c:numRef>
          </c:xVal>
          <c:yVal>
            <c:numRef>
              <c:f>Sheet1!$B$59:$B$59</c:f>
              <c:numCache>
                <c:formatCode>General</c:formatCode>
                <c:ptCount val="1"/>
                <c:pt idx="0">
                  <c:v>34581.0</c:v>
                </c:pt>
              </c:numCache>
            </c:numRef>
          </c:yVal>
          <c:smooth val="0"/>
        </c:ser>
        <c:ser>
          <c:idx val="4"/>
          <c:order val="4"/>
          <c:tx>
            <c:strRef>
              <c:f>Sheet1!$B$61</c:f>
              <c:strCache>
                <c:ptCount val="1"/>
                <c:pt idx="0">
                  <c:v>B1 packet</c:v>
                </c:pt>
              </c:strCache>
            </c:strRef>
          </c:tx>
          <c:spPr>
            <a:ln>
              <a:noFill/>
            </a:ln>
          </c:spPr>
          <c:marker>
            <c:symbol val="circle"/>
            <c:size val="10"/>
            <c:spPr>
              <a:solidFill>
                <a:srgbClr val="D1495B"/>
              </a:solidFill>
              <a:ln>
                <a:solidFill>
                  <a:srgbClr val="FFFFFF"/>
                </a:solidFill>
              </a:ln>
            </c:spPr>
          </c:marker>
          <c:xVal>
            <c:numRef>
              <c:f>Sheet1!$A$62:$A$62</c:f>
              <c:numCache>
                <c:formatCode>General</c:formatCode>
                <c:ptCount val="1"/>
                <c:pt idx="0">
                  <c:v>220.67</c:v>
                </c:pt>
              </c:numCache>
            </c:numRef>
          </c:xVal>
          <c:yVal>
            <c:numRef>
              <c:f>Sheet1!$B$62:$B$62</c:f>
              <c:numCache>
                <c:formatCode>General</c:formatCode>
                <c:ptCount val="1"/>
                <c:pt idx="0">
                  <c:v>33435.67</c:v>
                </c:pt>
              </c:numCache>
            </c:numRef>
          </c:yVal>
          <c:smooth val="0"/>
        </c:ser>
        <c:ser>
          <c:idx val="5"/>
          <c:order val="5"/>
          <c:tx>
            <c:strRef>
              <c:f>Sheet1!$B$64</c:f>
              <c:strCache>
                <c:ptCount val="1"/>
                <c:pt idx="0">
                  <c:v>B1 ex-breakage</c:v>
                </c:pt>
              </c:strCache>
            </c:strRef>
          </c:tx>
          <c:spPr>
            <a:ln>
              <a:noFill/>
            </a:ln>
          </c:spPr>
          <c:marker>
            <c:symbol val="circle"/>
            <c:size val="10"/>
            <c:spPr>
              <a:solidFill>
                <a:srgbClr val="8E2C3A"/>
              </a:solidFill>
              <a:ln>
                <a:solidFill>
                  <a:srgbClr val="FFFFFF"/>
                </a:solidFill>
              </a:ln>
            </c:spPr>
          </c:marker>
          <c:xVal>
            <c:numRef>
              <c:f>Sheet1!$A$65:$A$65</c:f>
              <c:numCache>
                <c:formatCode>General</c:formatCode>
                <c:ptCount val="1"/>
                <c:pt idx="0">
                  <c:v>228.78</c:v>
                </c:pt>
              </c:numCache>
            </c:numRef>
          </c:xVal>
          <c:yVal>
            <c:numRef>
              <c:f>Sheet1!$B$65:$B$65</c:f>
              <c:numCache>
                <c:formatCode>General</c:formatCode>
                <c:ptCount val="1"/>
                <c:pt idx="0">
                  <c:v>33435.67</c:v>
                </c:pt>
              </c:numCache>
            </c:numRef>
          </c:yVal>
          <c:smooth val="0"/>
        </c:ser>
        <c:ser>
          <c:idx val="6"/>
          <c:order val="6"/>
          <c:tx>
            <c:strRef>
              <c:f>Sheet1!$B$67</c:f>
              <c:strCache>
                <c:ptCount val="1"/>
                <c:pt idx="0">
                  <c:v>Team 80% interval</c:v>
                </c:pt>
              </c:strCache>
            </c:strRef>
          </c:tx>
          <c:spPr>
            <a:ln w="19050">
              <a:solidFill>
                <a:srgbClr val="E9A13B"/>
              </a:solidFill>
            </a:ln>
          </c:spPr>
          <c:marker>
            <c:symbol val="none"/>
          </c:marker>
          <c:xVal>
            <c:numRef>
              <c:f>Sheet1!$A$68:$A$69</c:f>
              <c:numCache>
                <c:formatCode>General</c:formatCode>
                <c:ptCount val="2"/>
                <c:pt idx="0">
                  <c:v>215.865</c:v>
                </c:pt>
                <c:pt idx="1">
                  <c:v>242.815</c:v>
                </c:pt>
              </c:numCache>
            </c:numRef>
          </c:xVal>
          <c:yVal>
            <c:numRef>
              <c:f>Sheet1!$B$68:$B$69</c:f>
              <c:numCache>
                <c:formatCode>General</c:formatCode>
                <c:ptCount val="2"/>
                <c:pt idx="0">
                  <c:v>32912.0</c:v>
                </c:pt>
                <c:pt idx="1">
                  <c:v>32912.0</c:v>
                </c:pt>
              </c:numCache>
            </c:numRef>
          </c:yVal>
          <c:smooth val="0"/>
        </c:ser>
        <c:ser>
          <c:idx val="7"/>
          <c:order val="7"/>
          <c:tx>
            <c:strRef>
              <c:f>Sheet1!$B$71</c:f>
              <c:strCache>
                <c:ptCount val="1"/>
                <c:pt idx="0">
                  <c:v>Team 80% interval (passengers)</c:v>
                </c:pt>
              </c:strCache>
            </c:strRef>
          </c:tx>
          <c:spPr>
            <a:ln w="19050">
              <a:solidFill>
                <a:srgbClr val="E9A13B"/>
              </a:solidFill>
            </a:ln>
          </c:spPr>
          <c:marker>
            <c:symbol val="none"/>
          </c:marker>
          <c:xVal>
            <c:numRef>
              <c:f>Sheet1!$A$72:$A$73</c:f>
              <c:numCache>
                <c:formatCode>General</c:formatCode>
                <c:ptCount val="2"/>
                <c:pt idx="0">
                  <c:v>229.34</c:v>
                </c:pt>
                <c:pt idx="1">
                  <c:v>229.34</c:v>
                </c:pt>
              </c:numCache>
            </c:numRef>
          </c:xVal>
          <c:yVal>
            <c:numRef>
              <c:f>Sheet1!$B$72:$B$73</c:f>
              <c:numCache>
                <c:formatCode>General</c:formatCode>
                <c:ptCount val="2"/>
                <c:pt idx="0">
                  <c:v>31911.5439</c:v>
                </c:pt>
                <c:pt idx="1">
                  <c:v>33912.4561</c:v>
                </c:pt>
              </c:numCache>
            </c:numRef>
          </c:yVal>
          <c:smooth val="0"/>
        </c:ser>
        <c:axId val="-2128940872"/>
        <c:axId val="-2129643912"/>
      </c:scatterChart>
      <c:valAx>
        <c:axId val="-2128940872"/>
        <c:scaling>
          <c:orientation val="minMax"/>
          <c:max val="250.0"/>
          <c:min val="180.0"/>
        </c:scaling>
        <c:delete val="0"/>
        <c:axPos val="b"/>
        <c:title>
          <c:tx>
            <c:rich>
              <a:bodyPr/>
              <a:lstStyle/>
              <a:p>
                <a:r>
                  <a:rPr sz="1200" b="0">
                    <a:solidFill>
                      <a:srgbClr val="5B6573"/>
                    </a:solidFill>
                    <a:latin typeface="Calibri"/>
                  </a:rPr>
                  <a:t>Average fare ($)</a:t>
                </a:r>
              </a:p>
            </c:rich>
          </c:tx>
          <c:layout/>
          <c:overlay val="0"/>
        </c:title>
        <c:numFmt formatCode="&quot;$&quot;0" sourceLinked="0"/>
        <c:majorTickMark val="out"/>
        <c:minorTickMark val="none"/>
        <c:tickLblPos val="nextTo"/>
        <c:spPr>
          <a:ln>
            <a:solidFill>
              <a:srgbClr val="C9D1DC"/>
            </a:solidFill>
          </a:ln>
        </c:spPr>
        <c:txPr>
          <a:bodyPr/>
          <a:lstStyle/>
          <a:p>
            <a:pPr>
              <a:defRPr sz="1200">
                <a:solidFill>
                  <a:srgbClr val="5B6573"/>
                </a:solidFill>
                <a:latin typeface="Calibri"/>
              </a:defRPr>
            </a:pPr>
          </a:p>
        </c:txPr>
        <c:crossAx val="-2129643912"/>
        <c:crosses val="autoZero"/>
        <c:crossBetween val="midCat"/>
        <c:majorUnit val="10.0"/>
      </c:valAx>
      <c:valAx>
        <c:axId val="-2129643912"/>
        <c:scaling>
          <c:orientation val="minMax"/>
          <c:max val="35500.0"/>
          <c:min val="31000.0"/>
        </c:scaling>
        <c:delete val="0"/>
        <c:axPos val="l"/>
        <c:majorGridlines>
          <c:spPr>
            <a:ln>
              <a:solidFill>
                <a:srgbClr val="E3E8EF"/>
              </a:solidFill>
            </a:ln>
          </c:spPr>
        </c:majorGridlines>
        <c:title>
          <c:tx>
            <c:rich>
              <a:bodyPr/>
              <a:lstStyle/>
              <a:p>
                <a:r>
                  <a:rPr sz="1200" b="0">
                    <a:solidFill>
                      <a:srgbClr val="5B6573"/>
                    </a:solidFill>
                    <a:latin typeface="Calibri"/>
                  </a:rPr>
                  <a:t>Revenue passengers (000s)</a:t>
                </a:r>
              </a:p>
            </c:rich>
          </c:tx>
          <c:layout/>
          <c:overlay val="0"/>
        </c:title>
        <c:numFmt formatCode="#,##0" sourceLinked="0"/>
        <c:majorTickMark val="out"/>
        <c:minorTickMark val="none"/>
        <c:tickLblPos val="nextTo"/>
        <c:spPr>
          <a:ln>
            <a:solidFill>
              <a:srgbClr val="C9D1DC"/>
            </a:solidFill>
          </a:ln>
        </c:spPr>
        <c:txPr>
          <a:bodyPr/>
          <a:lstStyle/>
          <a:p>
            <a:pPr>
              <a:defRPr sz="1200">
                <a:solidFill>
                  <a:srgbClr val="5B6573"/>
                </a:solidFill>
                <a:latin typeface="Calibri"/>
              </a:defRPr>
            </a:pPr>
          </a:p>
        </c:txPr>
        <c:crossAx val="-2128940872"/>
        <c:crosses val="autoZero"/>
        <c:crossBetween val="midCat"/>
        <c:majorUnit val="1000.0"/>
      </c:valAx>
    </c:plotArea>
    <c:legend>
      <c:legendPos val="b"/>
      <c:legendEntry>
        <c:idx val="7"/>
        <c:delete val="1"/>
      </c:legendEntry>
      <c:legendEntry>
        <c:idx val="1"/>
        <c:delete val="1"/>
      </c:legendEntry>
      <c:layout/>
      <c:overlay val="0"/>
      <c:txPr>
        <a:bodyPr/>
        <a:lstStyle/>
        <a:p>
          <a:pPr>
            <a:defRPr sz="1200">
              <a:solidFill>
                <a:srgbClr val="5B6573"/>
              </a:solidFill>
            </a:defRPr>
          </a:pPr>
        </a:p>
      </c:txPr>
    </c:legend>
    <c:plotVisOnly val="1"/>
    <c:dispBlanksAs val="gap"/>
    <c:showDLblsOverMax val="0"/>
  </c:chart>
  <c:txPr>
    <a:bodyPr/>
    <a:lstStyle/>
    <a:p>
      <a:pPr>
        <a:defRPr sz="12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5202B"/>
                </a:solidFill>
                <a:latin typeface="Calibri"/>
              </a:rPr>
              <a:t>2023–2024, pre fee change</a:t>
            </a:r>
          </a:p>
        </c:rich>
      </c:tx>
      <c:layout/>
      <c:overlay val="0"/>
    </c:title>
    <c:autoTitleDeleted val="0"/>
    <c:plotArea>
      <c:barChart>
        <c:barDir val="col"/>
        <c:grouping val="clustered"/>
        <c:ser>
          <c:idx val="0"/>
          <c:order val="0"/>
          <c:tx>
            <c:strRef>
              <c:f>Sheet1!$B$1</c:f>
              <c:strCache>
                <c:ptCount val="1"/>
                <c:pt idx="0">
                  <c:v>Our method</c:v>
                </c:pt>
              </c:strCache>
            </c:strRef>
          </c:tx>
          <c:spPr>
            <a:solidFill>
              <a:srgbClr val="1F3B73"/>
            </a:solidFill>
          </c:spPr>
          <c:cat>
            <c:strRef>
              <c:f>Sheet1!$A$2:$A$4</c:f>
              <c:strCache>
                <c:ptCount val="3"/>
                <c:pt idx="0">
                  <c:v>Passengers</c:v>
                </c:pt>
                <c:pt idx="1">
                  <c:v>Fare</c:v>
                </c:pt>
                <c:pt idx="2">
                  <c:v>Revenue</c:v>
                </c:pt>
              </c:strCache>
            </c:strRef>
          </c:cat>
          <c:val>
            <c:numRef>
              <c:f>Sheet1!$B$2:$B$4</c:f>
              <c:numCache>
                <c:formatCode>General</c:formatCode>
                <c:ptCount val="3"/>
                <c:pt idx="0">
                  <c:v>2.52</c:v>
                </c:pt>
                <c:pt idx="1">
                  <c:v>3.71</c:v>
                </c:pt>
                <c:pt idx="2">
                  <c:v>3.0</c:v>
                </c:pt>
              </c:numCache>
            </c:numRef>
          </c:val>
        </c:ser>
        <c:ser>
          <c:idx val="1"/>
          <c:order val="1"/>
          <c:tx>
            <c:strRef>
              <c:f>Sheet1!$C$1</c:f>
              <c:strCache>
                <c:ptCount val="1"/>
                <c:pt idx="0">
                  <c:v>B1 naive</c:v>
                </c:pt>
              </c:strCache>
            </c:strRef>
          </c:tx>
          <c:spPr>
            <a:solidFill>
              <a:srgbClr val="D1495B"/>
            </a:solidFill>
          </c:spPr>
          <c:cat>
            <c:strRef>
              <c:f>Sheet1!$A$2:$A$4</c:f>
              <c:strCache>
                <c:ptCount val="3"/>
                <c:pt idx="0">
                  <c:v>Passengers</c:v>
                </c:pt>
                <c:pt idx="1">
                  <c:v>Fare</c:v>
                </c:pt>
                <c:pt idx="2">
                  <c:v>Revenue</c:v>
                </c:pt>
              </c:strCache>
            </c:strRef>
          </c:cat>
          <c:val>
            <c:numRef>
              <c:f>Sheet1!$C$2:$C$4</c:f>
              <c:numCache>
                <c:formatCode>General</c:formatCode>
                <c:ptCount val="3"/>
                <c:pt idx="0">
                  <c:v>4.65</c:v>
                </c:pt>
                <c:pt idx="1">
                  <c:v>3.39</c:v>
                </c:pt>
                <c:pt idx="2">
                  <c:v>4.75</c:v>
                </c:pt>
              </c:numCache>
            </c:numRef>
          </c:val>
        </c:ser>
        <c:dLbls>
          <c:numFmt formatCode="0.0&quot;%&quot;" sourceLinked="0"/>
          <c:txPr>
            <a:bodyPr/>
            <a:lstStyle/>
            <a:p>
              <a:pPr>
                <a:defRPr sz="1200">
                  <a:solidFill>
                    <a:srgbClr val="1B1F24"/>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C9D1DC"/>
            </a:solidFill>
          </a:ln>
        </c:spPr>
        <c:txPr>
          <a:bodyPr/>
          <a:lstStyle/>
          <a:p>
            <a:pPr>
              <a:defRPr sz="1200">
                <a:solidFill>
                  <a:srgbClr val="5B6573"/>
                </a:solidFill>
                <a:latin typeface="Calibri"/>
              </a:defRPr>
            </a:pPr>
          </a:p>
        </c:txPr>
        <c:crossAx val="-2113994440"/>
        <c:crosses val="autoZero"/>
        <c:auto val="1"/>
        <c:lblAlgn val="ctr"/>
        <c:lblOffset val="100"/>
        <c:noMultiLvlLbl val="0"/>
      </c:catAx>
      <c:valAx>
        <c:axId val="-2113994440"/>
        <c:scaling>
          <c:max val="6.0"/>
          <c:min val="0.0"/>
        </c:scaling>
        <c:delete val="0"/>
        <c:axPos val="l"/>
        <c:majorGridlines>
          <c:spPr>
            <a:ln>
              <a:solidFill>
                <a:srgbClr val="E3E8EF"/>
              </a:solidFill>
            </a:ln>
          </c:spPr>
        </c:majorGridlines>
        <c:numFmt formatCode="0&quot;%&quot;" sourceLinked="0"/>
        <c:majorTickMark val="out"/>
        <c:minorTickMark val="none"/>
        <c:tickLblPos val="nextTo"/>
        <c:spPr>
          <a:ln>
            <a:noFill/>
          </a:ln>
        </c:spPr>
        <c:txPr>
          <a:bodyPr/>
          <a:lstStyle/>
          <a:p>
            <a:pPr>
              <a:defRPr sz="1200">
                <a:solidFill>
                  <a:srgbClr val="5B6573"/>
                </a:solidFill>
                <a:latin typeface="Calibri"/>
              </a:defRPr>
            </a:pPr>
          </a:p>
        </c:txPr>
        <c:crossAx val="-2068027336"/>
        <c:crosses val="autoZero"/>
        <c:majorUnit val="2.0"/>
      </c:valAx>
    </c:plotArea>
    <c:legend>
      <c:legendPos val="b"/>
      <c:overlay val="0"/>
      <c:txPr>
        <a:bodyPr/>
        <a:lstStyle/>
        <a:p>
          <a:pPr>
            <a:defRPr sz="1200">
              <a:solidFill>
                <a:srgbClr val="5B6573"/>
              </a:solidFill>
            </a:defRPr>
          </a:pPr>
        </a:p>
      </c:txPr>
    </c:legend>
    <c:dispBlanksAs val="gap"/>
  </c:chart>
  <c:txPr>
    <a:bodyPr/>
    <a:lstStyle/>
    <a:p>
      <a:pPr>
        <a:defRPr sz="12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5202B"/>
                </a:solidFill>
                <a:latin typeface="Calibri"/>
              </a:rPr>
              <a:t>2025–2026, fee + model change</a:t>
            </a:r>
          </a:p>
        </c:rich>
      </c:tx>
      <c:layout/>
      <c:overlay val="0"/>
    </c:title>
    <c:autoTitleDeleted val="0"/>
    <c:plotArea>
      <c:barChart>
        <c:barDir val="col"/>
        <c:grouping val="clustered"/>
        <c:ser>
          <c:idx val="0"/>
          <c:order val="0"/>
          <c:tx>
            <c:strRef>
              <c:f>Sheet1!$B$1</c:f>
              <c:strCache>
                <c:ptCount val="1"/>
                <c:pt idx="0">
                  <c:v>Our method</c:v>
                </c:pt>
              </c:strCache>
            </c:strRef>
          </c:tx>
          <c:spPr>
            <a:solidFill>
              <a:srgbClr val="1F3B73"/>
            </a:solidFill>
          </c:spPr>
          <c:cat>
            <c:strRef>
              <c:f>Sheet1!$A$2:$A$4</c:f>
              <c:strCache>
                <c:ptCount val="3"/>
                <c:pt idx="0">
                  <c:v>Passengers</c:v>
                </c:pt>
                <c:pt idx="1">
                  <c:v>Fare</c:v>
                </c:pt>
                <c:pt idx="2">
                  <c:v>Revenue</c:v>
                </c:pt>
              </c:strCache>
            </c:strRef>
          </c:cat>
          <c:val>
            <c:numRef>
              <c:f>Sheet1!$B$2:$B$4</c:f>
              <c:numCache>
                <c:formatCode>General</c:formatCode>
                <c:ptCount val="3"/>
                <c:pt idx="0">
                  <c:v>1.5</c:v>
                </c:pt>
                <c:pt idx="1">
                  <c:v>4.42</c:v>
                </c:pt>
                <c:pt idx="2">
                  <c:v>3.51</c:v>
                </c:pt>
              </c:numCache>
            </c:numRef>
          </c:val>
        </c:ser>
        <c:ser>
          <c:idx val="1"/>
          <c:order val="1"/>
          <c:tx>
            <c:strRef>
              <c:f>Sheet1!$C$1</c:f>
              <c:strCache>
                <c:ptCount val="1"/>
                <c:pt idx="0">
                  <c:v>B1 naive</c:v>
                </c:pt>
              </c:strCache>
            </c:strRef>
          </c:tx>
          <c:spPr>
            <a:solidFill>
              <a:srgbClr val="D1495B"/>
            </a:solidFill>
          </c:spPr>
          <c:cat>
            <c:strRef>
              <c:f>Sheet1!$A$2:$A$4</c:f>
              <c:strCache>
                <c:ptCount val="3"/>
                <c:pt idx="0">
                  <c:v>Passengers</c:v>
                </c:pt>
                <c:pt idx="1">
                  <c:v>Fare</c:v>
                </c:pt>
                <c:pt idx="2">
                  <c:v>Revenue</c:v>
                </c:pt>
              </c:strCache>
            </c:strRef>
          </c:cat>
          <c:val>
            <c:numRef>
              <c:f>Sheet1!$C$2:$C$4</c:f>
              <c:numCache>
                <c:formatCode>General</c:formatCode>
                <c:ptCount val="3"/>
                <c:pt idx="0">
                  <c:v>2.64</c:v>
                </c:pt>
                <c:pt idx="1">
                  <c:v>4.95</c:v>
                </c:pt>
                <c:pt idx="2">
                  <c:v>3.85</c:v>
                </c:pt>
              </c:numCache>
            </c:numRef>
          </c:val>
        </c:ser>
        <c:dLbls>
          <c:numFmt formatCode="0.0&quot;%&quot;" sourceLinked="0"/>
          <c:txPr>
            <a:bodyPr/>
            <a:lstStyle/>
            <a:p>
              <a:pPr>
                <a:defRPr sz="1200">
                  <a:solidFill>
                    <a:srgbClr val="1B1F24"/>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C9D1DC"/>
            </a:solidFill>
          </a:ln>
        </c:spPr>
        <c:txPr>
          <a:bodyPr/>
          <a:lstStyle/>
          <a:p>
            <a:pPr>
              <a:defRPr sz="1200">
                <a:solidFill>
                  <a:srgbClr val="5B6573"/>
                </a:solidFill>
                <a:latin typeface="Calibri"/>
              </a:defRPr>
            </a:pPr>
          </a:p>
        </c:txPr>
        <c:crossAx val="-2113994440"/>
        <c:crosses val="autoZero"/>
        <c:auto val="1"/>
        <c:lblAlgn val="ctr"/>
        <c:lblOffset val="100"/>
        <c:noMultiLvlLbl val="0"/>
      </c:catAx>
      <c:valAx>
        <c:axId val="-2113994440"/>
        <c:scaling>
          <c:max val="6.0"/>
          <c:min val="0.0"/>
        </c:scaling>
        <c:delete val="0"/>
        <c:axPos val="l"/>
        <c:majorGridlines>
          <c:spPr>
            <a:ln>
              <a:solidFill>
                <a:srgbClr val="E3E8EF"/>
              </a:solidFill>
            </a:ln>
          </c:spPr>
        </c:majorGridlines>
        <c:numFmt formatCode="0&quot;%&quot;" sourceLinked="0"/>
        <c:majorTickMark val="out"/>
        <c:minorTickMark val="none"/>
        <c:tickLblPos val="nextTo"/>
        <c:spPr>
          <a:ln>
            <a:noFill/>
          </a:ln>
        </c:spPr>
        <c:txPr>
          <a:bodyPr/>
          <a:lstStyle/>
          <a:p>
            <a:pPr>
              <a:defRPr sz="1200">
                <a:solidFill>
                  <a:srgbClr val="5B6573"/>
                </a:solidFill>
                <a:latin typeface="Calibri"/>
              </a:defRPr>
            </a:pPr>
          </a:p>
        </c:txPr>
        <c:crossAx val="-2068027336"/>
        <c:crosses val="autoZero"/>
        <c:majorUnit val="2.0"/>
      </c:valAx>
    </c:plotArea>
    <c:legend>
      <c:legendPos val="b"/>
      <c:overlay val="0"/>
      <c:txPr>
        <a:bodyPr/>
        <a:lstStyle/>
        <a:p>
          <a:pPr>
            <a:defRPr sz="1200">
              <a:solidFill>
                <a:srgbClr val="5B6573"/>
              </a:solidFill>
            </a:defRPr>
          </a:pPr>
        </a:p>
      </c:txPr>
    </c:legend>
    <c:dispBlanksAs val="gap"/>
  </c:chart>
  <c:txPr>
    <a:bodyPr/>
    <a:lstStyle/>
    <a:p>
      <a:pPr>
        <a:defRPr sz="12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Southwest carries about 5% fewer revenue passengers than a year ago but charges about 25% more per passenger, so passenger revenue lands inside the band management's guidance implies. The passenger count comes from TSA checkpoint throughput, Southwest's share of it (T-100), and the trip-factor bridge; the fare from three methods anchored on the BLS airfare index, seasonality and fuel. Intervals are Evaluation's harmonised 80% rule (post-COVID backtest error sd for both halves). The revenue interval uses a -0.4 error correlation because the fare is revenue divided by passengers. Kalshi's fare market agreed with our centre to within a dollar but was tighter than our band. [Placeholder: once Southwest reports, the actuals, errors and benchmark errors fill in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reported count does a checkpoint count measure? Enplaned passengers, not revenue passengers: a connecting trip is scanned once but boards twice, and the target counts it once. In Q2 2026 enplanements rose 0.3% while revenue passengers fell 3.3%. Cleaning: the TSA file is structurally clean (no missing, duplicate or non-positive days), so nothing was imputed. The two funding-lapse windows are flagged and tested: once the downward trend in YoY growth is controlled, neither shows a throughput drop, and the -6.7% the packet cites for Mar-May is +0.3% in this file. We went with the data and kept the flag. Neither window touches Q3 2026 or its Q3 2025 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Guidance pins passenger revenue to a narrow band, the teal curves. Any point between them satisfies guidance: flat passengers at about $215-220, or 5% fewer passengers at about $225-231. Those are different businesses, a volume story and a yield story, and the band cannot tell them apart. Our split says yield. The naive baselines miss the band on both sides: B1 on the packet's basis carries the $285M one-off into the fare and lands below; B1 rebuilt ex-breakage carries Q2's growth forward and lands above. Splitting also says which half to blame if the print misses the band.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re-implemented both roles' methods from their write-ups, reproduced their backtests exactly, and ran the packet's full 2022-2026 window. The TSA chain beats the naive baseline in every period and in 16 of 18 quarters, and in the current regime the edge is about as close to significance as six quarters allow. The fare does not reliably beat B1: in 2023-24 B1 wins outright. So the revenue figure the client cares about has no demonstrated edge over 'last year times last quarter's growth'. Interval check: Traffic's delivered band covered only 50% of post-COVID quarters and Price's 93%, so the form uses one harmonised rule for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print we registered four risks, in order of how much each could move the answer. The scorecard shows how the forecast did; the ledger shows what each risk turned into; the passenger miss splits exactly, in logs, into the boardings nowcast (TSA and T-100, the alternative data) and the trip factor (the accounting bridge, which no public source observes). That split is the test of our debate position: if the bridge failed and the boardings held, the Flag case is confirmed. The PoV card shows each downgrade trigger's status for the Q4 decision exercise. [Placeholder: every amber bracket fills in once Integration/actuals.json carries the Q3 release figures; the 'why' sentence comes from Presentation/deck_inputs.json.]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02B"/>
        </a:solidFill>
        <a:effectLst/>
      </p:bgPr>
    </p:bg>
    <p:spTree>
      <p:nvGrpSpPr>
        <p:cNvPr id="1" name=""/>
        <p:cNvGrpSpPr/>
        <p:nvPr/>
      </p:nvGrpSpPr>
      <p:grpSpPr/>
      <p:sp>
        <p:nvSpPr>
          <p:cNvPr id="2" name="Title 1"/>
          <p:cNvSpPr>
            <a:spLocks noGrp="1"/>
          </p:cNvSpPr>
          <p:nvPr>
            <p:ph type="title"/>
          </p:nvPr>
        </p:nvSpPr>
        <p:spPr>
          <a:xfrm>
            <a:off x="548640" y="384048"/>
            <a:ext cx="11094415" cy="731520"/>
          </a:xfrm>
        </p:spPr>
        <p:txBody>
          <a:bodyPr lIns="0" rIns="0" anchor="t"/>
          <a:lstStyle/>
          <a:p>
            <a:pPr algn="l"/>
            <a:r>
              <a:rPr sz="3600" b="1">
                <a:solidFill>
                  <a:srgbClr val="FFFFFF"/>
                </a:solidFill>
                <a:latin typeface="Cambria"/>
              </a:rPr>
              <a:t>Fewer passengers, a much higher fare</a:t>
            </a:r>
          </a:p>
        </p:txBody>
      </p:sp>
      <p:sp>
        <p:nvSpPr>
          <p:cNvPr id="3" name="Subtitle"/>
          <p:cNvSpPr txBox="1"/>
          <p:nvPr/>
        </p:nvSpPr>
        <p:spPr>
          <a:xfrm>
            <a:off x="548640" y="1143000"/>
            <a:ext cx="11094415" cy="365760"/>
          </a:xfrm>
          <a:prstGeom prst="rect">
            <a:avLst/>
          </a:prstGeom>
          <a:noFill/>
        </p:spPr>
        <p:txBody>
          <a:bodyPr wrap="square" lIns="0" rIns="0" tIns="0" bIns="0" anchor="t">
            <a:spAutoFit/>
          </a:bodyPr>
          <a:lstStyle/>
          <a:p>
            <a:pPr algn="l">
              <a:spcAft>
                <a:spcPts val="0"/>
              </a:spcAft>
            </a:pPr>
            <a:r>
              <a:rPr sz="1400" b="0" i="0">
                <a:solidFill>
                  <a:srgbClr val="AEB8C6"/>
                </a:solidFill>
                <a:latin typeface="Calibri"/>
              </a:rPr>
              <a:t>Southwest Airlines (LUV), Q3 2026  ·  </a:t>
            </a:r>
            <a:r>
              <a:rPr sz="1400" b="0" i="1">
                <a:solidFill>
                  <a:srgbClr val="E9A13B"/>
                </a:solidFill>
                <a:latin typeface="Calibri"/>
              </a:rPr>
              <a:t>[team name]</a:t>
            </a:r>
            <a:r>
              <a:rPr sz="1400" b="0" i="0">
                <a:solidFill>
                  <a:srgbClr val="AEB8C6"/>
                </a:solidFill>
                <a:latin typeface="Calibri"/>
              </a:rPr>
              <a:t>  ·  forecast committed Oct 20 2026  ·  free public data only</a:t>
            </a:r>
          </a:p>
        </p:txBody>
      </p:sp>
      <p:sp>
        <p:nvSpPr>
          <p:cNvPr id="4" name="Card Revenue Passengers"/>
          <p:cNvSpPr/>
          <p:nvPr/>
        </p:nvSpPr>
        <p:spPr>
          <a:xfrm>
            <a:off x="548640" y="1783080"/>
            <a:ext cx="3515258" cy="3246120"/>
          </a:xfrm>
          <a:prstGeom prst="roundRect">
            <a:avLst>
              <a:gd name="adj" fmla="val 6000"/>
            </a:avLst>
          </a:prstGeom>
          <a:solidFill>
            <a:srgbClr val="223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057400"/>
            <a:ext cx="2966618" cy="274320"/>
          </a:xfrm>
          <a:prstGeom prst="rect">
            <a:avLst/>
          </a:prstGeom>
          <a:noFill/>
        </p:spPr>
        <p:txBody>
          <a:bodyPr wrap="square" lIns="0" rIns="0" tIns="0" bIns="0" anchor="t">
            <a:spAutoFit/>
          </a:bodyPr>
          <a:lstStyle/>
          <a:p>
            <a:pPr algn="l">
              <a:spcAft>
                <a:spcPts val="0"/>
              </a:spcAft>
            </a:pPr>
            <a:r>
              <a:rPr sz="1200" b="1" i="0">
                <a:solidFill>
                  <a:srgbClr val="AEB8C6"/>
                </a:solidFill>
                <a:latin typeface="Calibri"/>
              </a:rPr>
              <a:t>REVENUE PASSENGERS</a:t>
            </a:r>
          </a:p>
        </p:txBody>
      </p:sp>
      <p:sp>
        <p:nvSpPr>
          <p:cNvPr id="6" name="TextBox 5"/>
          <p:cNvSpPr txBox="1"/>
          <p:nvPr/>
        </p:nvSpPr>
        <p:spPr>
          <a:xfrm>
            <a:off x="822959" y="2377440"/>
            <a:ext cx="2966618" cy="777240"/>
          </a:xfrm>
          <a:prstGeom prst="rect">
            <a:avLst/>
          </a:prstGeom>
          <a:noFill/>
        </p:spPr>
        <p:txBody>
          <a:bodyPr wrap="square" lIns="0" rIns="0" tIns="0" bIns="0" anchor="t">
            <a:spAutoFit/>
          </a:bodyPr>
          <a:lstStyle/>
          <a:p>
            <a:pPr algn="l">
              <a:spcAft>
                <a:spcPts val="0"/>
              </a:spcAft>
            </a:pPr>
            <a:r>
              <a:rPr sz="4400" b="1" i="0">
                <a:solidFill>
                  <a:srgbClr val="E9A13B"/>
                </a:solidFill>
                <a:latin typeface="Cambria"/>
              </a:rPr>
              <a:t>32,912k</a:t>
            </a:r>
          </a:p>
        </p:txBody>
      </p:sp>
      <p:sp>
        <p:nvSpPr>
          <p:cNvPr id="7" name="TextBox 6"/>
          <p:cNvSpPr txBox="1"/>
          <p:nvPr/>
        </p:nvSpPr>
        <p:spPr>
          <a:xfrm>
            <a:off x="822959" y="3200400"/>
            <a:ext cx="2966618" cy="32004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80%  31,912 – 33,912k</a:t>
            </a:r>
          </a:p>
        </p:txBody>
      </p:sp>
      <p:sp>
        <p:nvSpPr>
          <p:cNvPr id="8" name="TextBox 7"/>
          <p:cNvSpPr txBox="1"/>
          <p:nvPr/>
        </p:nvSpPr>
        <p:spPr>
          <a:xfrm>
            <a:off x="822959" y="3566160"/>
            <a:ext cx="2966618" cy="548640"/>
          </a:xfrm>
          <a:prstGeom prst="rect">
            <a:avLst/>
          </a:prstGeom>
          <a:noFill/>
        </p:spPr>
        <p:txBody>
          <a:bodyPr wrap="square" lIns="0" rIns="0" tIns="0" bIns="0" anchor="t">
            <a:spAutoFit/>
          </a:bodyPr>
          <a:lstStyle/>
          <a:p>
            <a:pPr algn="l">
              <a:spcAft>
                <a:spcPts val="0"/>
              </a:spcAft>
            </a:pPr>
            <a:r>
              <a:rPr sz="1400" b="0" i="0">
                <a:solidFill>
                  <a:srgbClr val="AEB8C6"/>
                </a:solidFill>
                <a:latin typeface="Calibri"/>
              </a:rPr>
              <a:t>−4.8% YoY  ·  TSA + T-100 chain</a:t>
            </a:r>
          </a:p>
        </p:txBody>
      </p:sp>
      <p:sp>
        <p:nvSpPr>
          <p:cNvPr id="9" name="Placeholder: actuals"/>
          <p:cNvSpPr/>
          <p:nvPr/>
        </p:nvSpPr>
        <p:spPr>
          <a:xfrm>
            <a:off x="685800" y="4114800"/>
            <a:ext cx="3240938" cy="777240"/>
          </a:xfrm>
          <a:prstGeom prst="roundRect">
            <a:avLst>
              <a:gd name="adj" fmla="val 12000"/>
            </a:avLst>
          </a:prstGeom>
          <a:noFill/>
          <a:ln w="15875">
            <a:solidFill>
              <a:srgbClr val="E9A1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4251960"/>
            <a:ext cx="2966618" cy="594360"/>
          </a:xfrm>
          <a:prstGeom prst="rect">
            <a:avLst/>
          </a:prstGeom>
          <a:noFill/>
        </p:spPr>
        <p:txBody>
          <a:bodyPr wrap="square" lIns="0" rIns="0" tIns="0" bIns="0" anchor="t">
            <a:spAutoFit/>
          </a:bodyPr>
          <a:lstStyle/>
          <a:p>
            <a:pPr algn="l">
              <a:spcAft>
                <a:spcPts val="200"/>
              </a:spcAft>
            </a:pPr>
            <a:r>
              <a:rPr sz="1400" b="1" i="0">
                <a:solidFill>
                  <a:srgbClr val="AEB8C6"/>
                </a:solidFill>
                <a:latin typeface="Calibri"/>
              </a:rPr>
              <a:t>Actual  </a:t>
            </a:r>
            <a:r>
              <a:rPr sz="1400" b="0" i="1">
                <a:solidFill>
                  <a:srgbClr val="E9A13B"/>
                </a:solidFill>
                <a:latin typeface="Calibri"/>
              </a:rPr>
              <a:t>[from the Q3 release]</a:t>
            </a:r>
          </a:p>
          <a:p>
            <a:pPr algn="l">
              <a:spcAft>
                <a:spcPts val="200"/>
              </a:spcAft>
            </a:pPr>
            <a:r>
              <a:rPr sz="1400" b="0" i="0">
                <a:solidFill>
                  <a:srgbClr val="AEB8C6"/>
                </a:solidFill>
                <a:latin typeface="Calibri"/>
              </a:rPr>
              <a:t>error </a:t>
            </a:r>
            <a:r>
              <a:rPr sz="1400" b="0" i="1">
                <a:solidFill>
                  <a:srgbClr val="E9A13B"/>
                </a:solidFill>
                <a:latin typeface="Calibri"/>
              </a:rPr>
              <a:t>[—]</a:t>
            </a:r>
            <a:r>
              <a:rPr sz="1400" b="0" i="0">
                <a:solidFill>
                  <a:srgbClr val="AEB8C6"/>
                </a:solidFill>
                <a:latin typeface="Calibri"/>
              </a:rPr>
              <a:t>  ·  in 80%? </a:t>
            </a:r>
            <a:r>
              <a:rPr sz="1400" b="0" i="1">
                <a:solidFill>
                  <a:srgbClr val="E9A13B"/>
                </a:solidFill>
                <a:latin typeface="Calibri"/>
              </a:rPr>
              <a:t>[—]</a:t>
            </a:r>
          </a:p>
        </p:txBody>
      </p:sp>
      <p:sp>
        <p:nvSpPr>
          <p:cNvPr id="11" name="Card Average Fare"/>
          <p:cNvSpPr/>
          <p:nvPr/>
        </p:nvSpPr>
        <p:spPr>
          <a:xfrm>
            <a:off x="4338218" y="1783080"/>
            <a:ext cx="3515258" cy="3246120"/>
          </a:xfrm>
          <a:prstGeom prst="roundRect">
            <a:avLst>
              <a:gd name="adj" fmla="val 6000"/>
            </a:avLst>
          </a:prstGeom>
          <a:solidFill>
            <a:srgbClr val="223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2538" y="2057400"/>
            <a:ext cx="2966618" cy="274320"/>
          </a:xfrm>
          <a:prstGeom prst="rect">
            <a:avLst/>
          </a:prstGeom>
          <a:noFill/>
        </p:spPr>
        <p:txBody>
          <a:bodyPr wrap="square" lIns="0" rIns="0" tIns="0" bIns="0" anchor="t">
            <a:spAutoFit/>
          </a:bodyPr>
          <a:lstStyle/>
          <a:p>
            <a:pPr algn="l">
              <a:spcAft>
                <a:spcPts val="0"/>
              </a:spcAft>
            </a:pPr>
            <a:r>
              <a:rPr sz="1200" b="1" i="0">
                <a:solidFill>
                  <a:srgbClr val="AEB8C6"/>
                </a:solidFill>
                <a:latin typeface="Calibri"/>
              </a:rPr>
              <a:t>AVERAGE FARE</a:t>
            </a:r>
          </a:p>
        </p:txBody>
      </p:sp>
      <p:sp>
        <p:nvSpPr>
          <p:cNvPr id="13" name="TextBox 12"/>
          <p:cNvSpPr txBox="1"/>
          <p:nvPr/>
        </p:nvSpPr>
        <p:spPr>
          <a:xfrm>
            <a:off x="4612538" y="2377440"/>
            <a:ext cx="2966618" cy="777240"/>
          </a:xfrm>
          <a:prstGeom prst="rect">
            <a:avLst/>
          </a:prstGeom>
          <a:noFill/>
        </p:spPr>
        <p:txBody>
          <a:bodyPr wrap="square" lIns="0" rIns="0" tIns="0" bIns="0" anchor="t">
            <a:spAutoFit/>
          </a:bodyPr>
          <a:lstStyle/>
          <a:p>
            <a:pPr algn="l">
              <a:spcAft>
                <a:spcPts val="0"/>
              </a:spcAft>
            </a:pPr>
            <a:r>
              <a:rPr sz="4400" b="1" i="0">
                <a:solidFill>
                  <a:srgbClr val="E9A13B"/>
                </a:solidFill>
                <a:latin typeface="Cambria"/>
              </a:rPr>
              <a:t>$229.34</a:t>
            </a:r>
          </a:p>
        </p:txBody>
      </p:sp>
      <p:sp>
        <p:nvSpPr>
          <p:cNvPr id="14" name="TextBox 13"/>
          <p:cNvSpPr txBox="1"/>
          <p:nvPr/>
        </p:nvSpPr>
        <p:spPr>
          <a:xfrm>
            <a:off x="4612538" y="3200400"/>
            <a:ext cx="2966618" cy="32004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80%  $215.87 – $242.81</a:t>
            </a:r>
          </a:p>
        </p:txBody>
      </p:sp>
      <p:sp>
        <p:nvSpPr>
          <p:cNvPr id="15" name="TextBox 14"/>
          <p:cNvSpPr txBox="1"/>
          <p:nvPr/>
        </p:nvSpPr>
        <p:spPr>
          <a:xfrm>
            <a:off x="4612538" y="3566160"/>
            <a:ext cx="2966618" cy="548640"/>
          </a:xfrm>
          <a:prstGeom prst="rect">
            <a:avLst/>
          </a:prstGeom>
          <a:noFill/>
        </p:spPr>
        <p:txBody>
          <a:bodyPr wrap="square" lIns="0" rIns="0" tIns="0" bIns="0" anchor="t">
            <a:spAutoFit/>
          </a:bodyPr>
          <a:lstStyle/>
          <a:p>
            <a:pPr algn="l">
              <a:spcAft>
                <a:spcPts val="0"/>
              </a:spcAft>
            </a:pPr>
            <a:r>
              <a:rPr sz="1400" b="0" i="0">
                <a:solidFill>
                  <a:srgbClr val="AEB8C6"/>
                </a:solidFill>
                <a:latin typeface="Calibri"/>
              </a:rPr>
              <a:t>+25.6% YoY  ·  CPI, season, fuel blend</a:t>
            </a:r>
          </a:p>
        </p:txBody>
      </p:sp>
      <p:sp>
        <p:nvSpPr>
          <p:cNvPr id="16" name="Placeholder: actuals"/>
          <p:cNvSpPr/>
          <p:nvPr/>
        </p:nvSpPr>
        <p:spPr>
          <a:xfrm>
            <a:off x="4475378" y="4114800"/>
            <a:ext cx="3240938" cy="777240"/>
          </a:xfrm>
          <a:prstGeom prst="roundRect">
            <a:avLst>
              <a:gd name="adj" fmla="val 12000"/>
            </a:avLst>
          </a:prstGeom>
          <a:noFill/>
          <a:ln w="15875">
            <a:solidFill>
              <a:srgbClr val="E9A1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2538" y="4251960"/>
            <a:ext cx="2966618" cy="594360"/>
          </a:xfrm>
          <a:prstGeom prst="rect">
            <a:avLst/>
          </a:prstGeom>
          <a:noFill/>
        </p:spPr>
        <p:txBody>
          <a:bodyPr wrap="square" lIns="0" rIns="0" tIns="0" bIns="0" anchor="t">
            <a:spAutoFit/>
          </a:bodyPr>
          <a:lstStyle/>
          <a:p>
            <a:pPr algn="l">
              <a:spcAft>
                <a:spcPts val="200"/>
              </a:spcAft>
            </a:pPr>
            <a:r>
              <a:rPr sz="1400" b="1" i="0">
                <a:solidFill>
                  <a:srgbClr val="AEB8C6"/>
                </a:solidFill>
                <a:latin typeface="Calibri"/>
              </a:rPr>
              <a:t>Actual  </a:t>
            </a:r>
            <a:r>
              <a:rPr sz="1400" b="0" i="1">
                <a:solidFill>
                  <a:srgbClr val="E9A13B"/>
                </a:solidFill>
                <a:latin typeface="Calibri"/>
              </a:rPr>
              <a:t>[from the Q3 release]</a:t>
            </a:r>
          </a:p>
          <a:p>
            <a:pPr algn="l">
              <a:spcAft>
                <a:spcPts val="200"/>
              </a:spcAft>
            </a:pPr>
            <a:r>
              <a:rPr sz="1400" b="0" i="0">
                <a:solidFill>
                  <a:srgbClr val="AEB8C6"/>
                </a:solidFill>
                <a:latin typeface="Calibri"/>
              </a:rPr>
              <a:t>error </a:t>
            </a:r>
            <a:r>
              <a:rPr sz="1400" b="0" i="1">
                <a:solidFill>
                  <a:srgbClr val="E9A13B"/>
                </a:solidFill>
                <a:latin typeface="Calibri"/>
              </a:rPr>
              <a:t>[—]</a:t>
            </a:r>
            <a:r>
              <a:rPr sz="1400" b="0" i="0">
                <a:solidFill>
                  <a:srgbClr val="AEB8C6"/>
                </a:solidFill>
                <a:latin typeface="Calibri"/>
              </a:rPr>
              <a:t>  ·  in 80%? </a:t>
            </a:r>
            <a:r>
              <a:rPr sz="1400" b="0" i="1">
                <a:solidFill>
                  <a:srgbClr val="E9A13B"/>
                </a:solidFill>
                <a:latin typeface="Calibri"/>
              </a:rPr>
              <a:t>[—]</a:t>
            </a:r>
          </a:p>
        </p:txBody>
      </p:sp>
      <p:sp>
        <p:nvSpPr>
          <p:cNvPr id="18" name="Card Passenger Revenue"/>
          <p:cNvSpPr/>
          <p:nvPr/>
        </p:nvSpPr>
        <p:spPr>
          <a:xfrm>
            <a:off x="8127796" y="1783080"/>
            <a:ext cx="3515258" cy="3246120"/>
          </a:xfrm>
          <a:prstGeom prst="roundRect">
            <a:avLst>
              <a:gd name="adj" fmla="val 6000"/>
            </a:avLst>
          </a:prstGeom>
          <a:solidFill>
            <a:srgbClr val="223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02116" y="2057400"/>
            <a:ext cx="2966618" cy="274320"/>
          </a:xfrm>
          <a:prstGeom prst="rect">
            <a:avLst/>
          </a:prstGeom>
          <a:noFill/>
        </p:spPr>
        <p:txBody>
          <a:bodyPr wrap="square" lIns="0" rIns="0" tIns="0" bIns="0" anchor="t">
            <a:spAutoFit/>
          </a:bodyPr>
          <a:lstStyle/>
          <a:p>
            <a:pPr algn="l">
              <a:spcAft>
                <a:spcPts val="0"/>
              </a:spcAft>
            </a:pPr>
            <a:r>
              <a:rPr sz="1200" b="1" i="0">
                <a:solidFill>
                  <a:srgbClr val="AEB8C6"/>
                </a:solidFill>
                <a:latin typeface="Calibri"/>
              </a:rPr>
              <a:t>PASSENGER REVENUE</a:t>
            </a:r>
          </a:p>
        </p:txBody>
      </p:sp>
      <p:sp>
        <p:nvSpPr>
          <p:cNvPr id="20" name="TextBox 19"/>
          <p:cNvSpPr txBox="1"/>
          <p:nvPr/>
        </p:nvSpPr>
        <p:spPr>
          <a:xfrm>
            <a:off x="8402116" y="2377440"/>
            <a:ext cx="2966618" cy="777240"/>
          </a:xfrm>
          <a:prstGeom prst="rect">
            <a:avLst/>
          </a:prstGeom>
          <a:noFill/>
        </p:spPr>
        <p:txBody>
          <a:bodyPr wrap="square" lIns="0" rIns="0" tIns="0" bIns="0" anchor="t">
            <a:spAutoFit/>
          </a:bodyPr>
          <a:lstStyle/>
          <a:p>
            <a:pPr algn="l">
              <a:spcAft>
                <a:spcPts val="0"/>
              </a:spcAft>
            </a:pPr>
            <a:r>
              <a:rPr sz="4400" b="1" i="0">
                <a:solidFill>
                  <a:srgbClr val="E9A13B"/>
                </a:solidFill>
                <a:latin typeface="Cambria"/>
              </a:rPr>
              <a:t>$7.55bn</a:t>
            </a:r>
          </a:p>
        </p:txBody>
      </p:sp>
      <p:sp>
        <p:nvSpPr>
          <p:cNvPr id="21" name="TextBox 20"/>
          <p:cNvSpPr txBox="1"/>
          <p:nvPr/>
        </p:nvSpPr>
        <p:spPr>
          <a:xfrm>
            <a:off x="8402116" y="3200400"/>
            <a:ext cx="2966618" cy="32004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80%  $7.14bn – $7.95bn</a:t>
            </a:r>
          </a:p>
        </p:txBody>
      </p:sp>
      <p:sp>
        <p:nvSpPr>
          <p:cNvPr id="22" name="TextBox 21"/>
          <p:cNvSpPr txBox="1"/>
          <p:nvPr/>
        </p:nvSpPr>
        <p:spPr>
          <a:xfrm>
            <a:off x="8402116" y="3566160"/>
            <a:ext cx="2966618" cy="548640"/>
          </a:xfrm>
          <a:prstGeom prst="rect">
            <a:avLst/>
          </a:prstGeom>
          <a:noFill/>
        </p:spPr>
        <p:txBody>
          <a:bodyPr wrap="square" lIns="0" rIns="0" tIns="0" bIns="0" anchor="t">
            <a:spAutoFit/>
          </a:bodyPr>
          <a:lstStyle/>
          <a:p>
            <a:pPr algn="l">
              <a:spcAft>
                <a:spcPts val="0"/>
              </a:spcAft>
            </a:pPr>
            <a:r>
              <a:rPr sz="1400" b="0" i="0">
                <a:solidFill>
                  <a:srgbClr val="AEB8C6"/>
                </a:solidFill>
                <a:latin typeface="Calibri"/>
              </a:rPr>
              <a:t>inside guided band $7.39bn – $7.60bn</a:t>
            </a:r>
          </a:p>
        </p:txBody>
      </p:sp>
      <p:sp>
        <p:nvSpPr>
          <p:cNvPr id="23" name="Placeholder: actuals"/>
          <p:cNvSpPr/>
          <p:nvPr/>
        </p:nvSpPr>
        <p:spPr>
          <a:xfrm>
            <a:off x="8264956" y="4114800"/>
            <a:ext cx="3240938" cy="777240"/>
          </a:xfrm>
          <a:prstGeom prst="roundRect">
            <a:avLst>
              <a:gd name="adj" fmla="val 12000"/>
            </a:avLst>
          </a:prstGeom>
          <a:noFill/>
          <a:ln w="15875">
            <a:solidFill>
              <a:srgbClr val="E9A1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02116" y="4251960"/>
            <a:ext cx="2966618" cy="594360"/>
          </a:xfrm>
          <a:prstGeom prst="rect">
            <a:avLst/>
          </a:prstGeom>
          <a:noFill/>
        </p:spPr>
        <p:txBody>
          <a:bodyPr wrap="square" lIns="0" rIns="0" tIns="0" bIns="0" anchor="t">
            <a:spAutoFit/>
          </a:bodyPr>
          <a:lstStyle/>
          <a:p>
            <a:pPr algn="l">
              <a:spcAft>
                <a:spcPts val="200"/>
              </a:spcAft>
            </a:pPr>
            <a:r>
              <a:rPr sz="1400" b="1" i="0">
                <a:solidFill>
                  <a:srgbClr val="AEB8C6"/>
                </a:solidFill>
                <a:latin typeface="Calibri"/>
              </a:rPr>
              <a:t>Actual  </a:t>
            </a:r>
            <a:r>
              <a:rPr sz="1400" b="0" i="1">
                <a:solidFill>
                  <a:srgbClr val="E9A13B"/>
                </a:solidFill>
                <a:latin typeface="Calibri"/>
              </a:rPr>
              <a:t>[from the Q3 release]</a:t>
            </a:r>
          </a:p>
          <a:p>
            <a:pPr algn="l">
              <a:spcAft>
                <a:spcPts val="200"/>
              </a:spcAft>
            </a:pPr>
            <a:r>
              <a:rPr sz="1400" b="0" i="0">
                <a:solidFill>
                  <a:srgbClr val="AEB8C6"/>
                </a:solidFill>
                <a:latin typeface="Calibri"/>
              </a:rPr>
              <a:t>error </a:t>
            </a:r>
            <a:r>
              <a:rPr sz="1400" b="0" i="1">
                <a:solidFill>
                  <a:srgbClr val="E9A13B"/>
                </a:solidFill>
                <a:latin typeface="Calibri"/>
              </a:rPr>
              <a:t>[—]</a:t>
            </a:r>
            <a:r>
              <a:rPr sz="1400" b="0" i="0">
                <a:solidFill>
                  <a:srgbClr val="AEB8C6"/>
                </a:solidFill>
                <a:latin typeface="Calibri"/>
              </a:rPr>
              <a:t>  ·  in 80%? </a:t>
            </a:r>
            <a:r>
              <a:rPr sz="1400" b="0" i="1">
                <a:solidFill>
                  <a:srgbClr val="E9A13B"/>
                </a:solidFill>
                <a:latin typeface="Calibri"/>
              </a:rPr>
              <a:t>[—]</a:t>
            </a:r>
          </a:p>
        </p:txBody>
      </p:sp>
      <p:sp>
        <p:nvSpPr>
          <p:cNvPr id="25" name="TextBox 24"/>
          <p:cNvSpPr txBox="1"/>
          <p:nvPr/>
        </p:nvSpPr>
        <p:spPr>
          <a:xfrm>
            <a:off x="548640" y="5257800"/>
            <a:ext cx="11094415" cy="274320"/>
          </a:xfrm>
          <a:prstGeom prst="rect">
            <a:avLst/>
          </a:prstGeom>
          <a:noFill/>
        </p:spPr>
        <p:txBody>
          <a:bodyPr wrap="square" lIns="0" rIns="0" tIns="0" bIns="0" anchor="t">
            <a:spAutoFit/>
          </a:bodyPr>
          <a:lstStyle/>
          <a:p>
            <a:pPr algn="l">
              <a:spcAft>
                <a:spcPts val="0"/>
              </a:spcAft>
            </a:pPr>
            <a:r>
              <a:rPr sz="1200" b="1" i="0">
                <a:solidFill>
                  <a:srgbClr val="AEB8C6"/>
                </a:solidFill>
                <a:latin typeface="Calibri"/>
              </a:rPr>
              <a:t>BENCHMARKS  ·  error vs actual</a:t>
            </a:r>
          </a:p>
        </p:txBody>
      </p:sp>
      <p:sp>
        <p:nvSpPr>
          <p:cNvPr id="26" name="TextBox 25"/>
          <p:cNvSpPr txBox="1"/>
          <p:nvPr/>
        </p:nvSpPr>
        <p:spPr>
          <a:xfrm>
            <a:off x="548640" y="5559552"/>
            <a:ext cx="2567863" cy="274320"/>
          </a:xfrm>
          <a:prstGeom prst="rect">
            <a:avLst/>
          </a:prstGeom>
          <a:noFill/>
        </p:spPr>
        <p:txBody>
          <a:bodyPr wrap="square" lIns="0" rIns="0" tIns="0" bIns="0" anchor="t">
            <a:spAutoFit/>
          </a:bodyPr>
          <a:lstStyle/>
          <a:p>
            <a:pPr algn="l">
              <a:spcAft>
                <a:spcPts val="0"/>
              </a:spcAft>
            </a:pPr>
            <a:r>
              <a:rPr sz="1200" b="0" i="0">
                <a:solidFill>
                  <a:srgbClr val="AEB8C6"/>
                </a:solidFill>
                <a:latin typeface="Calibri"/>
              </a:rPr>
              <a:t>B0  same quarter last year</a:t>
            </a:r>
          </a:p>
        </p:txBody>
      </p:sp>
      <p:sp>
        <p:nvSpPr>
          <p:cNvPr id="27" name="TextBox 26"/>
          <p:cNvSpPr txBox="1"/>
          <p:nvPr/>
        </p:nvSpPr>
        <p:spPr>
          <a:xfrm>
            <a:off x="548640" y="5806440"/>
            <a:ext cx="2567863" cy="32004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34,581k  ·  $182.56</a:t>
            </a:r>
          </a:p>
        </p:txBody>
      </p:sp>
      <p:sp>
        <p:nvSpPr>
          <p:cNvPr id="28" name="TextBox 27"/>
          <p:cNvSpPr txBox="1"/>
          <p:nvPr/>
        </p:nvSpPr>
        <p:spPr>
          <a:xfrm>
            <a:off x="548640" y="6153912"/>
            <a:ext cx="2567863" cy="274320"/>
          </a:xfrm>
          <a:prstGeom prst="rect">
            <a:avLst/>
          </a:prstGeom>
          <a:noFill/>
        </p:spPr>
        <p:txBody>
          <a:bodyPr wrap="square" lIns="0" rIns="0" tIns="0" bIns="0" anchor="t">
            <a:spAutoFit/>
          </a:bodyPr>
          <a:lstStyle/>
          <a:p>
            <a:pPr algn="l">
              <a:spcAft>
                <a:spcPts val="0"/>
              </a:spcAft>
            </a:pPr>
            <a:r>
              <a:rPr sz="1200" b="0" i="1">
                <a:solidFill>
                  <a:srgbClr val="E9A13B"/>
                </a:solidFill>
                <a:latin typeface="Calibri"/>
              </a:rPr>
              <a:t>[error vs actual]</a:t>
            </a:r>
          </a:p>
        </p:txBody>
      </p:sp>
      <p:sp>
        <p:nvSpPr>
          <p:cNvPr id="29" name="TextBox 28"/>
          <p:cNvSpPr txBox="1"/>
          <p:nvPr/>
        </p:nvSpPr>
        <p:spPr>
          <a:xfrm>
            <a:off x="3390823" y="5559552"/>
            <a:ext cx="2567863" cy="274320"/>
          </a:xfrm>
          <a:prstGeom prst="rect">
            <a:avLst/>
          </a:prstGeom>
          <a:noFill/>
        </p:spPr>
        <p:txBody>
          <a:bodyPr wrap="square" lIns="0" rIns="0" tIns="0" bIns="0" anchor="t">
            <a:spAutoFit/>
          </a:bodyPr>
          <a:lstStyle/>
          <a:p>
            <a:pPr algn="l">
              <a:spcAft>
                <a:spcPts val="0"/>
              </a:spcAft>
            </a:pPr>
            <a:r>
              <a:rPr sz="1200" b="0" i="0">
                <a:solidFill>
                  <a:srgbClr val="AEB8C6"/>
                </a:solidFill>
                <a:latin typeface="Calibri"/>
              </a:rPr>
              <a:t>B1  packet (reported Q2)</a:t>
            </a:r>
          </a:p>
        </p:txBody>
      </p:sp>
      <p:sp>
        <p:nvSpPr>
          <p:cNvPr id="30" name="TextBox 29"/>
          <p:cNvSpPr txBox="1"/>
          <p:nvPr/>
        </p:nvSpPr>
        <p:spPr>
          <a:xfrm>
            <a:off x="3390823" y="5806440"/>
            <a:ext cx="2567863" cy="32004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33,436k  ·  $220.67</a:t>
            </a:r>
          </a:p>
        </p:txBody>
      </p:sp>
      <p:sp>
        <p:nvSpPr>
          <p:cNvPr id="31" name="TextBox 30"/>
          <p:cNvSpPr txBox="1"/>
          <p:nvPr/>
        </p:nvSpPr>
        <p:spPr>
          <a:xfrm>
            <a:off x="3390823" y="6153912"/>
            <a:ext cx="2567863" cy="274320"/>
          </a:xfrm>
          <a:prstGeom prst="rect">
            <a:avLst/>
          </a:prstGeom>
          <a:noFill/>
        </p:spPr>
        <p:txBody>
          <a:bodyPr wrap="square" lIns="0" rIns="0" tIns="0" bIns="0" anchor="t">
            <a:spAutoFit/>
          </a:bodyPr>
          <a:lstStyle/>
          <a:p>
            <a:pPr algn="l">
              <a:spcAft>
                <a:spcPts val="0"/>
              </a:spcAft>
            </a:pPr>
            <a:r>
              <a:rPr sz="1200" b="0" i="1">
                <a:solidFill>
                  <a:srgbClr val="E9A13B"/>
                </a:solidFill>
                <a:latin typeface="Calibri"/>
              </a:rPr>
              <a:t>[error vs actual]</a:t>
            </a:r>
          </a:p>
        </p:txBody>
      </p:sp>
      <p:sp>
        <p:nvSpPr>
          <p:cNvPr id="32" name="TextBox 31"/>
          <p:cNvSpPr txBox="1"/>
          <p:nvPr/>
        </p:nvSpPr>
        <p:spPr>
          <a:xfrm>
            <a:off x="6233007" y="5559552"/>
            <a:ext cx="2567863" cy="274320"/>
          </a:xfrm>
          <a:prstGeom prst="rect">
            <a:avLst/>
          </a:prstGeom>
          <a:noFill/>
        </p:spPr>
        <p:txBody>
          <a:bodyPr wrap="square" lIns="0" rIns="0" tIns="0" bIns="0" anchor="t">
            <a:spAutoFit/>
          </a:bodyPr>
          <a:lstStyle/>
          <a:p>
            <a:pPr algn="l">
              <a:spcAft>
                <a:spcPts val="0"/>
              </a:spcAft>
            </a:pPr>
            <a:r>
              <a:rPr sz="1200" b="0" i="0">
                <a:solidFill>
                  <a:srgbClr val="AEB8C6"/>
                </a:solidFill>
                <a:latin typeface="Calibri"/>
              </a:rPr>
              <a:t>B1  rebuilt ex-breakage</a:t>
            </a:r>
          </a:p>
        </p:txBody>
      </p:sp>
      <p:sp>
        <p:nvSpPr>
          <p:cNvPr id="33" name="TextBox 32"/>
          <p:cNvSpPr txBox="1"/>
          <p:nvPr/>
        </p:nvSpPr>
        <p:spPr>
          <a:xfrm>
            <a:off x="6233007" y="5806440"/>
            <a:ext cx="2567863" cy="32004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33,436k  ·  $228.78</a:t>
            </a:r>
          </a:p>
        </p:txBody>
      </p:sp>
      <p:sp>
        <p:nvSpPr>
          <p:cNvPr id="34" name="TextBox 33"/>
          <p:cNvSpPr txBox="1"/>
          <p:nvPr/>
        </p:nvSpPr>
        <p:spPr>
          <a:xfrm>
            <a:off x="6233007" y="6153912"/>
            <a:ext cx="2567863" cy="274320"/>
          </a:xfrm>
          <a:prstGeom prst="rect">
            <a:avLst/>
          </a:prstGeom>
          <a:noFill/>
        </p:spPr>
        <p:txBody>
          <a:bodyPr wrap="square" lIns="0" rIns="0" tIns="0" bIns="0" anchor="t">
            <a:spAutoFit/>
          </a:bodyPr>
          <a:lstStyle/>
          <a:p>
            <a:pPr algn="l">
              <a:spcAft>
                <a:spcPts val="0"/>
              </a:spcAft>
            </a:pPr>
            <a:r>
              <a:rPr sz="1200" b="0" i="1">
                <a:solidFill>
                  <a:srgbClr val="E9A13B"/>
                </a:solidFill>
                <a:latin typeface="Calibri"/>
              </a:rPr>
              <a:t>[error vs actual]</a:t>
            </a:r>
          </a:p>
        </p:txBody>
      </p:sp>
      <p:sp>
        <p:nvSpPr>
          <p:cNvPr id="35" name="TextBox 34"/>
          <p:cNvSpPr txBox="1"/>
          <p:nvPr/>
        </p:nvSpPr>
        <p:spPr>
          <a:xfrm>
            <a:off x="9075191" y="5559552"/>
            <a:ext cx="2567863" cy="274320"/>
          </a:xfrm>
          <a:prstGeom prst="rect">
            <a:avLst/>
          </a:prstGeom>
          <a:noFill/>
        </p:spPr>
        <p:txBody>
          <a:bodyPr wrap="square" lIns="0" rIns="0" tIns="0" bIns="0" anchor="t">
            <a:spAutoFit/>
          </a:bodyPr>
          <a:lstStyle/>
          <a:p>
            <a:pPr algn="l">
              <a:spcAft>
                <a:spcPts val="0"/>
              </a:spcAft>
            </a:pPr>
            <a:r>
              <a:rPr sz="1200" b="0" i="0">
                <a:solidFill>
                  <a:srgbClr val="AEB8C6"/>
                </a:solidFill>
                <a:latin typeface="Calibri"/>
              </a:rPr>
              <a:t>Kalshi fare market, Oct 20</a:t>
            </a:r>
          </a:p>
        </p:txBody>
      </p:sp>
      <p:sp>
        <p:nvSpPr>
          <p:cNvPr id="36" name="TextBox 35"/>
          <p:cNvSpPr txBox="1"/>
          <p:nvPr/>
        </p:nvSpPr>
        <p:spPr>
          <a:xfrm>
            <a:off x="9075191" y="5806440"/>
            <a:ext cx="2567863" cy="32004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median ≈ $229.71</a:t>
            </a:r>
          </a:p>
        </p:txBody>
      </p:sp>
      <p:sp>
        <p:nvSpPr>
          <p:cNvPr id="37" name="TextBox 36"/>
          <p:cNvSpPr txBox="1"/>
          <p:nvPr/>
        </p:nvSpPr>
        <p:spPr>
          <a:xfrm>
            <a:off x="9075191" y="6153912"/>
            <a:ext cx="2567863" cy="274320"/>
          </a:xfrm>
          <a:prstGeom prst="rect">
            <a:avLst/>
          </a:prstGeom>
          <a:noFill/>
        </p:spPr>
        <p:txBody>
          <a:bodyPr wrap="square" lIns="0" rIns="0" tIns="0" bIns="0" anchor="t">
            <a:spAutoFit/>
          </a:bodyPr>
          <a:lstStyle/>
          <a:p>
            <a:pPr algn="l">
              <a:spcAft>
                <a:spcPts val="0"/>
              </a:spcAft>
            </a:pPr>
            <a:r>
              <a:rPr sz="1200" b="0" i="1">
                <a:solidFill>
                  <a:srgbClr val="E9A13B"/>
                </a:solidFill>
                <a:latin typeface="Calibri"/>
              </a:rPr>
              <a:t>[error vs actual]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731520"/>
          </a:xfrm>
        </p:spPr>
        <p:txBody>
          <a:bodyPr lIns="0" rIns="0" anchor="t"/>
          <a:lstStyle/>
          <a:p>
            <a:pPr algn="l"/>
            <a:r>
              <a:rPr sz="3600" b="1">
                <a:solidFill>
                  <a:srgbClr val="15202B"/>
                </a:solidFill>
                <a:latin typeface="Cambria"/>
              </a:rPr>
              <a:t>TSA counts boardings, not passengers</a:t>
            </a:r>
          </a:p>
        </p:txBody>
      </p:sp>
      <p:sp>
        <p:nvSpPr>
          <p:cNvPr id="3" name="Trip factor callout"/>
          <p:cNvSpPr/>
          <p:nvPr/>
        </p:nvSpPr>
        <p:spPr>
          <a:xfrm>
            <a:off x="548640" y="1371600"/>
            <a:ext cx="3749039" cy="489204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645920"/>
            <a:ext cx="3108959" cy="320040"/>
          </a:xfrm>
          <a:prstGeom prst="rect">
            <a:avLst/>
          </a:prstGeom>
          <a:noFill/>
        </p:spPr>
        <p:txBody>
          <a:bodyPr wrap="square" lIns="0" rIns="0" tIns="0" bIns="0" anchor="t">
            <a:spAutoFit/>
          </a:bodyPr>
          <a:lstStyle/>
          <a:p>
            <a:pPr algn="l">
              <a:spcAft>
                <a:spcPts val="0"/>
              </a:spcAft>
            </a:pPr>
            <a:r>
              <a:rPr sz="1200" b="1" i="0">
                <a:solidFill>
                  <a:srgbClr val="5B6573"/>
                </a:solidFill>
                <a:latin typeface="Calibri"/>
              </a:rPr>
              <a:t>Q2 2026, YEAR ON YEAR</a:t>
            </a:r>
          </a:p>
        </p:txBody>
      </p:sp>
      <p:sp>
        <p:nvSpPr>
          <p:cNvPr id="5" name="TextBox 4"/>
          <p:cNvSpPr txBox="1"/>
          <p:nvPr/>
        </p:nvSpPr>
        <p:spPr>
          <a:xfrm>
            <a:off x="868680" y="2011680"/>
            <a:ext cx="3108959" cy="731520"/>
          </a:xfrm>
          <a:prstGeom prst="rect">
            <a:avLst/>
          </a:prstGeom>
          <a:noFill/>
        </p:spPr>
        <p:txBody>
          <a:bodyPr wrap="square" lIns="0" rIns="0" tIns="0" bIns="0" anchor="t">
            <a:spAutoFit/>
          </a:bodyPr>
          <a:lstStyle/>
          <a:p>
            <a:pPr algn="l">
              <a:spcAft>
                <a:spcPts val="0"/>
              </a:spcAft>
            </a:pPr>
            <a:r>
              <a:rPr sz="4000" b="1" i="0">
                <a:solidFill>
                  <a:srgbClr val="1F3B73"/>
                </a:solidFill>
                <a:latin typeface="Cambria"/>
              </a:rPr>
              <a:t>+0.3%</a:t>
            </a:r>
            <a:r>
              <a:rPr sz="1800" b="0" i="0">
                <a:solidFill>
                  <a:srgbClr val="1B1F24"/>
                </a:solidFill>
                <a:latin typeface="Calibri"/>
              </a:rPr>
              <a:t>  enplaned</a:t>
            </a:r>
          </a:p>
        </p:txBody>
      </p:sp>
      <p:sp>
        <p:nvSpPr>
          <p:cNvPr id="6" name="TextBox 5"/>
          <p:cNvSpPr txBox="1"/>
          <p:nvPr/>
        </p:nvSpPr>
        <p:spPr>
          <a:xfrm>
            <a:off x="868680" y="2743200"/>
            <a:ext cx="3108959" cy="731520"/>
          </a:xfrm>
          <a:prstGeom prst="rect">
            <a:avLst/>
          </a:prstGeom>
          <a:noFill/>
        </p:spPr>
        <p:txBody>
          <a:bodyPr wrap="square" lIns="0" rIns="0" tIns="0" bIns="0" anchor="t">
            <a:spAutoFit/>
          </a:bodyPr>
          <a:lstStyle/>
          <a:p>
            <a:pPr algn="l">
              <a:spcAft>
                <a:spcPts val="0"/>
              </a:spcAft>
            </a:pPr>
            <a:r>
              <a:rPr sz="4000" b="1" i="0">
                <a:solidFill>
                  <a:srgbClr val="D1495B"/>
                </a:solidFill>
                <a:latin typeface="Cambria"/>
              </a:rPr>
              <a:t>−3.3%</a:t>
            </a:r>
            <a:r>
              <a:rPr sz="1800" b="0" i="0">
                <a:solidFill>
                  <a:srgbClr val="1B1F24"/>
                </a:solidFill>
                <a:latin typeface="Calibri"/>
              </a:rPr>
              <a:t>  revenue pax</a:t>
            </a:r>
          </a:p>
        </p:txBody>
      </p:sp>
      <p:sp>
        <p:nvSpPr>
          <p:cNvPr id="7" name="TextBox 6"/>
          <p:cNvSpPr txBox="1"/>
          <p:nvPr/>
        </p:nvSpPr>
        <p:spPr>
          <a:xfrm>
            <a:off x="868680" y="3703320"/>
            <a:ext cx="3108959" cy="2377440"/>
          </a:xfrm>
          <a:prstGeom prst="rect">
            <a:avLst/>
          </a:prstGeom>
          <a:noFill/>
        </p:spPr>
        <p:txBody>
          <a:bodyPr wrap="square" lIns="0" rIns="0" tIns="0" bIns="0" anchor="t">
            <a:spAutoFit/>
          </a:bodyPr>
          <a:lstStyle/>
          <a:p>
            <a:pPr algn="l">
              <a:spcAft>
                <a:spcPts val="800"/>
              </a:spcAft>
            </a:pPr>
            <a:r>
              <a:rPr sz="1400" b="0" i="0">
                <a:solidFill>
                  <a:srgbClr val="1B1F24"/>
                </a:solidFill>
                <a:latin typeface="Calibri"/>
              </a:rPr>
              <a:t>A checkpoint scan is a boarding. The target counts one-way paying trips. The bridge is the trip factor (enplaned ÷ revenue passengers), up 3.7% in a year as assigned seating pushed travellers onto connections.</a:t>
            </a:r>
          </a:p>
          <a:p>
            <a:pPr algn="l">
              <a:spcAft>
                <a:spcPts val="800"/>
              </a:spcAft>
            </a:pPr>
            <a:r>
              <a:rPr sz="1400" b="1" i="0">
                <a:solidFill>
                  <a:srgbClr val="1B1F24"/>
                </a:solidFill>
                <a:latin typeface="Calibri"/>
              </a:rPr>
              <a:t>No free source observes it. </a:t>
            </a:r>
            <a:r>
              <a:rPr sz="1400" b="0" i="0">
                <a:solidFill>
                  <a:srgbClr val="1B1F24"/>
                </a:solidFill>
                <a:latin typeface="Calibri"/>
              </a:rPr>
              <a:t>We extrapolate it from four post-break quarters, and it swings our answer by ~1,000k.</a:t>
            </a:r>
          </a:p>
        </p:txBody>
      </p:sp>
      <p:graphicFrame>
        <p:nvGraphicFramePr>
          <p:cNvPr id="8" name="Cleaning decisions"/>
          <p:cNvGraphicFramePr>
            <a:graphicFrameLocks noGrp="1"/>
          </p:cNvGraphicFramePr>
          <p:nvPr/>
        </p:nvGraphicFramePr>
        <p:xfrm>
          <a:off x="4663440" y="1371600"/>
          <a:ext cx="6979615" cy="4892040"/>
        </p:xfrm>
        <a:graphic>
          <a:graphicData uri="http://schemas.openxmlformats.org/drawingml/2006/table">
            <a:tbl>
              <a:tblPr firstRow="1" bandRow="1">
                <a:tableStyleId>{5C22544A-7EE6-4342-B048-85BDC9FD1C3A}</a:tableStyleId>
              </a:tblPr>
              <a:tblGrid>
                <a:gridCol w="1783080"/>
                <a:gridCol w="2788920"/>
                <a:gridCol w="2407615"/>
              </a:tblGrid>
              <a:tr h="698862">
                <a:tc>
                  <a:txBody>
                    <a:bodyPr wrap="square"/>
                    <a:lstStyle/>
                    <a:p>
                      <a:pPr algn="l"/>
                      <a:r>
                        <a:rPr sz="1300" b="1" i="0">
                          <a:solidFill>
                            <a:srgbClr val="FFFFFF"/>
                          </a:solidFill>
                          <a:latin typeface="Calibri"/>
                        </a:rPr>
                        <a:t>Source</a:t>
                      </a:r>
                    </a:p>
                  </a:txBody>
                  <a:tcPr marL="91440" marR="91440" marT="45720" marB="45720" anchor="ctr">
                    <a:solidFill>
                      <a:srgbClr val="1F3B73"/>
                    </a:solidFill>
                  </a:tcPr>
                </a:tc>
                <a:tc>
                  <a:txBody>
                    <a:bodyPr wrap="square"/>
                    <a:lstStyle/>
                    <a:p>
                      <a:pPr algn="l"/>
                      <a:r>
                        <a:rPr sz="1300" b="1" i="0">
                          <a:solidFill>
                            <a:srgbClr val="FFFFFF"/>
                          </a:solidFill>
                          <a:latin typeface="Calibri"/>
                        </a:rPr>
                        <a:t>Cleaning decision</a:t>
                      </a:r>
                    </a:p>
                  </a:txBody>
                  <a:tcPr marL="91440" marR="91440" marT="45720" marB="45720" anchor="ctr">
                    <a:solidFill>
                      <a:srgbClr val="1F3B73"/>
                    </a:solidFill>
                  </a:tcPr>
                </a:tc>
                <a:tc>
                  <a:txBody>
                    <a:bodyPr wrap="square"/>
                    <a:lstStyle/>
                    <a:p>
                      <a:pPr algn="l"/>
                      <a:r>
                        <a:rPr sz="1300" b="1" i="0">
                          <a:solidFill>
                            <a:srgbClr val="FFFFFF"/>
                          </a:solidFill>
                          <a:latin typeface="Calibri"/>
                        </a:rPr>
                        <a:t>Why</a:t>
                      </a:r>
                    </a:p>
                  </a:txBody>
                  <a:tcPr marL="91440" marR="91440" marT="45720" marB="45720" anchor="ctr">
                    <a:solidFill>
                      <a:srgbClr val="1F3B73"/>
                    </a:solidFill>
                  </a:tcPr>
                </a:tc>
              </a:tr>
              <a:tr h="698862">
                <a:tc>
                  <a:txBody>
                    <a:bodyPr wrap="square"/>
                    <a:lstStyle/>
                    <a:p>
                      <a:pPr algn="l"/>
                      <a:r>
                        <a:rPr sz="1300" b="1" i="0">
                          <a:solidFill>
                            <a:srgbClr val="1B1F24"/>
                          </a:solidFill>
                          <a:latin typeface="Calibri"/>
                        </a:rPr>
                        <a:t>TSA daily, 2,830 days</a:t>
                      </a:r>
                    </a:p>
                  </a:txBody>
                  <a:tcPr marL="91440" marR="91440" marT="45720" marB="45720" anchor="ctr">
                    <a:solidFill>
                      <a:srgbClr val="FFFFFF"/>
                    </a:solidFill>
                  </a:tcPr>
                </a:tc>
                <a:tc>
                  <a:txBody>
                    <a:bodyPr wrap="square"/>
                    <a:lstStyle/>
                    <a:p>
                      <a:pPr algn="l"/>
                      <a:r>
                        <a:rPr sz="1300" b="0" i="0">
                          <a:solidFill>
                            <a:srgbClr val="1B1F24"/>
                          </a:solidFill>
                          <a:latin typeface="Calibri"/>
                        </a:rPr>
                        <a:t>No day imputed. Both funding lapses flagged, neither repaired</a:t>
                      </a:r>
                    </a:p>
                  </a:txBody>
                  <a:tcPr marL="91440" marR="91440" marT="45720" marB="45720" anchor="ctr">
                    <a:solidFill>
                      <a:srgbClr val="FFFFFF"/>
                    </a:solidFill>
                  </a:tcPr>
                </a:tc>
                <a:tc>
                  <a:txBody>
                    <a:bodyPr wrap="square"/>
                    <a:lstStyle/>
                    <a:p>
                      <a:pPr algn="l"/>
                      <a:r>
                        <a:rPr sz="1300" b="0" i="0">
                          <a:solidFill>
                            <a:srgbClr val="1B1F24"/>
                          </a:solidFill>
                          <a:latin typeface="Calibri"/>
                        </a:rPr>
                        <a:t>No dip once trend is controlled; the packet's −6.7% is not in this file</a:t>
                      </a:r>
                    </a:p>
                  </a:txBody>
                  <a:tcPr marL="91440" marR="91440" marT="45720" marB="45720" anchor="ctr">
                    <a:solidFill>
                      <a:srgbClr val="FFFFFF"/>
                    </a:solidFill>
                  </a:tcPr>
                </a:tc>
              </a:tr>
              <a:tr h="698862">
                <a:tc>
                  <a:txBody>
                    <a:bodyPr wrap="square"/>
                    <a:lstStyle/>
                    <a:p>
                      <a:pPr algn="l"/>
                      <a:r>
                        <a:rPr sz="1300" b="1" i="0">
                          <a:solidFill>
                            <a:srgbClr val="1B1F24"/>
                          </a:solidFill>
                          <a:latin typeface="Calibri"/>
                        </a:rPr>
                        <a:t>BTS T-100, Southwest</a:t>
                      </a:r>
                    </a:p>
                  </a:txBody>
                  <a:tcPr marL="91440" marR="91440" marT="45720" marB="45720" anchor="ctr">
                    <a:solidFill>
                      <a:srgbClr val="EEF2F7"/>
                    </a:solidFill>
                  </a:tcPr>
                </a:tc>
                <a:tc>
                  <a:txBody>
                    <a:bodyPr wrap="square"/>
                    <a:lstStyle/>
                    <a:p>
                      <a:pPr algn="l"/>
                      <a:r>
                        <a:rPr sz="1300" b="0" i="0">
                          <a:solidFill>
                            <a:srgbClr val="1B1F24"/>
                          </a:solidFill>
                          <a:latin typeface="Calibri"/>
                        </a:rPr>
                        <a:t>July is a filing; Aug–Sep nowcast from TSA × share</a:t>
                      </a:r>
                    </a:p>
                  </a:txBody>
                  <a:tcPr marL="91440" marR="91440" marT="45720" marB="45720" anchor="ctr">
                    <a:solidFill>
                      <a:srgbClr val="EEF2F7"/>
                    </a:solidFill>
                  </a:tcPr>
                </a:tc>
                <a:tc>
                  <a:txBody>
                    <a:bodyPr wrap="square"/>
                    <a:lstStyle/>
                    <a:p>
                      <a:pPr algn="l"/>
                      <a:r>
                        <a:rPr sz="1300" b="0" i="0">
                          <a:solidFill>
                            <a:srgbClr val="1B1F24"/>
                          </a:solidFill>
                          <a:latin typeface="Calibri"/>
                        </a:rPr>
                        <a:t>BTS publishes ~3 months late</a:t>
                      </a:r>
                    </a:p>
                  </a:txBody>
                  <a:tcPr marL="91440" marR="91440" marT="45720" marB="45720" anchor="ctr">
                    <a:solidFill>
                      <a:srgbClr val="EEF2F7"/>
                    </a:solidFill>
                  </a:tcPr>
                </a:tc>
              </a:tr>
              <a:tr h="698862">
                <a:tc>
                  <a:txBody>
                    <a:bodyPr wrap="square"/>
                    <a:lstStyle/>
                    <a:p>
                      <a:pPr algn="l"/>
                      <a:r>
                        <a:rPr sz="1300" b="1" i="0">
                          <a:solidFill>
                            <a:srgbClr val="1B1F24"/>
                          </a:solidFill>
                          <a:latin typeface="Calibri"/>
                        </a:rPr>
                        <a:t>Southwest quarterly</a:t>
                      </a:r>
                    </a:p>
                  </a:txBody>
                  <a:tcPr marL="91440" marR="91440" marT="45720" marB="45720" anchor="ctr">
                    <a:solidFill>
                      <a:srgbClr val="FFFFFF"/>
                    </a:solidFill>
                  </a:tcPr>
                </a:tc>
                <a:tc>
                  <a:txBody>
                    <a:bodyPr wrap="square"/>
                    <a:lstStyle/>
                    <a:p>
                      <a:pPr algn="l"/>
                      <a:r>
                        <a:rPr sz="1300" b="0" i="0">
                          <a:solidFill>
                            <a:srgbClr val="1B1F24"/>
                          </a:solidFill>
                          <a:latin typeface="Calibri"/>
                        </a:rPr>
                        <a:t>Q2 2026 +$285M breakage added back</a:t>
                      </a:r>
                    </a:p>
                  </a:txBody>
                  <a:tcPr marL="91440" marR="91440" marT="45720" marB="45720" anchor="ctr">
                    <a:solidFill>
                      <a:srgbClr val="FFFFFF"/>
                    </a:solidFill>
                  </a:tcPr>
                </a:tc>
                <a:tc>
                  <a:txBody>
                    <a:bodyPr wrap="square"/>
                    <a:lstStyle/>
                    <a:p>
                      <a:pPr algn="l"/>
                      <a:r>
                        <a:rPr sz="1300" b="0" i="0">
                          <a:solidFill>
                            <a:srgbClr val="1B1F24"/>
                          </a:solidFill>
                          <a:latin typeface="Calibri"/>
                        </a:rPr>
                        <a:t>One-off: fare $225.61 → $233.90 underlying</a:t>
                      </a:r>
                    </a:p>
                  </a:txBody>
                  <a:tcPr marL="91440" marR="91440" marT="45720" marB="45720" anchor="ctr">
                    <a:solidFill>
                      <a:srgbClr val="FFFFFF"/>
                    </a:solidFill>
                  </a:tcPr>
                </a:tc>
              </a:tr>
              <a:tr h="698862">
                <a:tc>
                  <a:txBody>
                    <a:bodyPr wrap="square"/>
                    <a:lstStyle/>
                    <a:p>
                      <a:pPr algn="l"/>
                      <a:r>
                        <a:rPr sz="1300" b="1" i="0">
                          <a:solidFill>
                            <a:srgbClr val="1B1F24"/>
                          </a:solidFill>
                          <a:latin typeface="Calibri"/>
                        </a:rPr>
                        <a:t>BLS airfare CPI</a:t>
                      </a:r>
                    </a:p>
                  </a:txBody>
                  <a:tcPr marL="91440" marR="91440" marT="45720" marB="45720" anchor="ctr">
                    <a:solidFill>
                      <a:srgbClr val="EEF2F7"/>
                    </a:solidFill>
                  </a:tcPr>
                </a:tc>
                <a:tc>
                  <a:txBody>
                    <a:bodyPr wrap="square"/>
                    <a:lstStyle/>
                    <a:p>
                      <a:pPr algn="l"/>
                      <a:r>
                        <a:rPr sz="1300" b="0" i="0">
                          <a:solidFill>
                            <a:srgbClr val="1B1F24"/>
                          </a:solidFill>
                          <a:latin typeface="Calibri"/>
                        </a:rPr>
                        <a:t>Oct 2025 blank → interpolated</a:t>
                      </a:r>
                    </a:p>
                  </a:txBody>
                  <a:tcPr marL="91440" marR="91440" marT="45720" marB="45720" anchor="ctr">
                    <a:solidFill>
                      <a:srgbClr val="EEF2F7"/>
                    </a:solidFill>
                  </a:tcPr>
                </a:tc>
                <a:tc>
                  <a:txBody>
                    <a:bodyPr wrap="square"/>
                    <a:lstStyle/>
                    <a:p>
                      <a:pPr algn="l"/>
                      <a:r>
                        <a:rPr sz="1300" b="0" i="0">
                          <a:solidFill>
                            <a:srgbClr val="1B1F24"/>
                          </a:solidFill>
                          <a:latin typeface="Calibri"/>
                        </a:rPr>
                        <a:t>Shutdown gap; touches Q4 2025 only</a:t>
                      </a:r>
                    </a:p>
                  </a:txBody>
                  <a:tcPr marL="91440" marR="91440" marT="45720" marB="45720" anchor="ctr">
                    <a:solidFill>
                      <a:srgbClr val="EEF2F7"/>
                    </a:solidFill>
                  </a:tcPr>
                </a:tc>
              </a:tr>
              <a:tr h="698862">
                <a:tc>
                  <a:txBody>
                    <a:bodyPr wrap="square"/>
                    <a:lstStyle/>
                    <a:p>
                      <a:pPr algn="l"/>
                      <a:r>
                        <a:rPr sz="1300" b="1" i="0">
                          <a:solidFill>
                            <a:srgbClr val="1B1F24"/>
                          </a:solidFill>
                          <a:latin typeface="Calibri"/>
                        </a:rPr>
                        <a:t>EIA jet fuel spot</a:t>
                      </a:r>
                    </a:p>
                  </a:txBody>
                  <a:tcPr marL="91440" marR="91440" marT="45720" marB="45720" anchor="ctr">
                    <a:solidFill>
                      <a:srgbClr val="FFFFFF"/>
                    </a:solidFill>
                  </a:tcPr>
                </a:tc>
                <a:tc>
                  <a:txBody>
                    <a:bodyPr wrap="square"/>
                    <a:lstStyle/>
                    <a:p>
                      <a:pPr algn="l"/>
                      <a:r>
                        <a:rPr sz="1300" b="0" i="0">
                          <a:solidFill>
                            <a:srgbClr val="1B1F24"/>
                          </a:solidFill>
                          <a:latin typeface="Calibri"/>
                        </a:rPr>
                        <a:t>87 holiday blanks dropped; add Southwest's premium over spot</a:t>
                      </a:r>
                    </a:p>
                  </a:txBody>
                  <a:tcPr marL="91440" marR="91440" marT="45720" marB="45720" anchor="ctr">
                    <a:solidFill>
                      <a:srgbClr val="FFFFFF"/>
                    </a:solidFill>
                  </a:tcPr>
                </a:tc>
                <a:tc>
                  <a:txBody>
                    <a:bodyPr wrap="square"/>
                    <a:lstStyle/>
                    <a:p>
                      <a:pPr algn="l"/>
                      <a:r>
                        <a:rPr sz="1300" b="0" i="0">
                          <a:solidFill>
                            <a:srgbClr val="1B1F24"/>
                          </a:solidFill>
                          <a:latin typeface="Calibri"/>
                        </a:rPr>
                        <a:t>Wholesale is ~30¢ below what Southwest pays</a:t>
                      </a:r>
                    </a:p>
                  </a:txBody>
                  <a:tcPr marL="91440" marR="91440" marT="45720" marB="45720" anchor="ctr">
                    <a:solidFill>
                      <a:srgbClr val="FFFFFF"/>
                    </a:solidFill>
                  </a:tcPr>
                </a:tc>
              </a:tr>
              <a:tr h="698868">
                <a:tc>
                  <a:txBody>
                    <a:bodyPr wrap="square"/>
                    <a:lstStyle/>
                    <a:p>
                      <a:pPr algn="l"/>
                      <a:r>
                        <a:rPr sz="1300" b="1" i="0">
                          <a:solidFill>
                            <a:srgbClr val="1B1F24"/>
                          </a:solidFill>
                          <a:latin typeface="Calibri"/>
                        </a:rPr>
                        <a:t>Google Trends</a:t>
                      </a:r>
                    </a:p>
                  </a:txBody>
                  <a:tcPr marL="91440" marR="91440" marT="45720" marB="45720" anchor="ctr">
                    <a:solidFill>
                      <a:srgbClr val="EEF2F7"/>
                    </a:solidFill>
                  </a:tcPr>
                </a:tc>
                <a:tc>
                  <a:txBody>
                    <a:bodyPr wrap="square"/>
                    <a:lstStyle/>
                    <a:p>
                      <a:pPr algn="l"/>
                      <a:r>
                        <a:rPr sz="1300" b="0" i="0">
                          <a:solidFill>
                            <a:srgbClr val="1B1F24"/>
                          </a:solidFill>
                          <a:latin typeface="Calibri"/>
                        </a:rPr>
                        <a:t>Not used</a:t>
                      </a:r>
                    </a:p>
                  </a:txBody>
                  <a:tcPr marL="91440" marR="91440" marT="45720" marB="45720" anchor="ctr">
                    <a:solidFill>
                      <a:srgbClr val="EEF2F7"/>
                    </a:solidFill>
                  </a:tcPr>
                </a:tc>
                <a:tc>
                  <a:txBody>
                    <a:bodyPr wrap="square"/>
                    <a:lstStyle/>
                    <a:p>
                      <a:pPr algn="l"/>
                      <a:r>
                        <a:rPr sz="1300" b="0" i="0">
                          <a:solidFill>
                            <a:srgbClr val="1B1F24"/>
                          </a:solidFill>
                          <a:latin typeface="Calibri"/>
                        </a:rPr>
                        <a:t>Rescaled on every pull: no stable history to backtest</a:t>
                      </a:r>
                    </a:p>
                  </a:txBody>
                  <a:tcPr marL="91440" marR="91440" marT="45720" marB="45720" anchor="ctr">
                    <a:solidFill>
                      <a:srgbClr val="EEF2F7"/>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731520"/>
          </a:xfrm>
        </p:spPr>
        <p:txBody>
          <a:bodyPr lIns="0" rIns="0" anchor="t"/>
          <a:lstStyle/>
          <a:p>
            <a:pPr algn="l"/>
            <a:r>
              <a:rPr sz="3600" b="1">
                <a:solidFill>
                  <a:srgbClr val="15202B"/>
                </a:solidFill>
                <a:latin typeface="Cambria"/>
              </a:rPr>
              <a:t>The split says yield, not volume</a:t>
            </a:r>
          </a:p>
        </p:txBody>
      </p:sp>
      <p:sp>
        <p:nvSpPr>
          <p:cNvPr id="3" name="Oval 2"/>
          <p:cNvSpPr/>
          <p:nvPr/>
        </p:nvSpPr>
        <p:spPr>
          <a:xfrm>
            <a:off x="548640" y="1417320"/>
            <a:ext cx="502920" cy="502920"/>
          </a:xfrm>
          <a:prstGeom prst="ellipse">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4" name="TextBox 3"/>
          <p:cNvSpPr txBox="1"/>
          <p:nvPr/>
        </p:nvSpPr>
        <p:spPr>
          <a:xfrm>
            <a:off x="1280160" y="1399032"/>
            <a:ext cx="3200400" cy="365760"/>
          </a:xfrm>
          <a:prstGeom prst="rect">
            <a:avLst/>
          </a:prstGeom>
          <a:noFill/>
        </p:spPr>
        <p:txBody>
          <a:bodyPr wrap="square" lIns="0" rIns="0" tIns="0" bIns="0" anchor="t">
            <a:spAutoFit/>
          </a:bodyPr>
          <a:lstStyle/>
          <a:p>
            <a:pPr algn="l">
              <a:spcAft>
                <a:spcPts val="0"/>
              </a:spcAft>
            </a:pPr>
            <a:r>
              <a:rPr sz="2000" b="1" i="0">
                <a:solidFill>
                  <a:srgbClr val="15202B"/>
                </a:solidFill>
                <a:latin typeface="Cambria"/>
              </a:rPr>
              <a:t>Passengers</a:t>
            </a:r>
            <a:r>
              <a:rPr sz="1800" b="1" i="0">
                <a:solidFill>
                  <a:srgbClr val="E9A13B"/>
                </a:solidFill>
                <a:latin typeface="Calibri"/>
              </a:rPr>
              <a:t>   32,912k</a:t>
            </a:r>
          </a:p>
        </p:txBody>
      </p:sp>
      <p:sp>
        <p:nvSpPr>
          <p:cNvPr id="5" name="TextBox 4"/>
          <p:cNvSpPr txBox="1"/>
          <p:nvPr/>
        </p:nvSpPr>
        <p:spPr>
          <a:xfrm>
            <a:off x="1280160" y="1828800"/>
            <a:ext cx="3200400" cy="914400"/>
          </a:xfrm>
          <a:prstGeom prst="rect">
            <a:avLst/>
          </a:prstGeom>
          <a:noFill/>
        </p:spPr>
        <p:txBody>
          <a:bodyPr wrap="square" lIns="0" rIns="0" tIns="0" bIns="0" anchor="t">
            <a:spAutoFit/>
          </a:bodyPr>
          <a:lstStyle/>
          <a:p>
            <a:pPr algn="l">
              <a:spcAft>
                <a:spcPts val="0"/>
              </a:spcAft>
            </a:pPr>
            <a:r>
              <a:rPr sz="1400" b="0" i="0">
                <a:solidFill>
                  <a:srgbClr val="1B1F24"/>
                </a:solidFill>
                <a:latin typeface="Calibri"/>
              </a:rPr>
              <a:t>TSA × Southwest share × uplift ÷ trip factor, blended 65/35 with ASM × load factor ÷ haul</a:t>
            </a:r>
          </a:p>
        </p:txBody>
      </p:sp>
      <p:sp>
        <p:nvSpPr>
          <p:cNvPr id="6" name="Oval 5"/>
          <p:cNvSpPr/>
          <p:nvPr/>
        </p:nvSpPr>
        <p:spPr>
          <a:xfrm>
            <a:off x="548640" y="2926080"/>
            <a:ext cx="502920" cy="502920"/>
          </a:xfrm>
          <a:prstGeom prst="ellipse">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7" name="TextBox 6"/>
          <p:cNvSpPr txBox="1"/>
          <p:nvPr/>
        </p:nvSpPr>
        <p:spPr>
          <a:xfrm>
            <a:off x="1280160" y="2907792"/>
            <a:ext cx="3200400" cy="365760"/>
          </a:xfrm>
          <a:prstGeom prst="rect">
            <a:avLst/>
          </a:prstGeom>
          <a:noFill/>
        </p:spPr>
        <p:txBody>
          <a:bodyPr wrap="square" lIns="0" rIns="0" tIns="0" bIns="0" anchor="t">
            <a:spAutoFit/>
          </a:bodyPr>
          <a:lstStyle/>
          <a:p>
            <a:pPr algn="l">
              <a:spcAft>
                <a:spcPts val="0"/>
              </a:spcAft>
            </a:pPr>
            <a:r>
              <a:rPr sz="2000" b="1" i="0">
                <a:solidFill>
                  <a:srgbClr val="15202B"/>
                </a:solidFill>
                <a:latin typeface="Cambria"/>
              </a:rPr>
              <a:t>Fare</a:t>
            </a:r>
            <a:r>
              <a:rPr sz="1800" b="1" i="0">
                <a:solidFill>
                  <a:srgbClr val="E9A13B"/>
                </a:solidFill>
                <a:latin typeface="Calibri"/>
              </a:rPr>
              <a:t>   $229.34</a:t>
            </a:r>
          </a:p>
        </p:txBody>
      </p:sp>
      <p:sp>
        <p:nvSpPr>
          <p:cNvPr id="8" name="TextBox 7"/>
          <p:cNvSpPr txBox="1"/>
          <p:nvPr/>
        </p:nvSpPr>
        <p:spPr>
          <a:xfrm>
            <a:off x="1280160" y="3337560"/>
            <a:ext cx="3200400" cy="914400"/>
          </a:xfrm>
          <a:prstGeom prst="rect">
            <a:avLst/>
          </a:prstGeom>
          <a:noFill/>
        </p:spPr>
        <p:txBody>
          <a:bodyPr wrap="square" lIns="0" rIns="0" tIns="0" bIns="0" anchor="t">
            <a:spAutoFit/>
          </a:bodyPr>
          <a:lstStyle/>
          <a:p>
            <a:pPr algn="l">
              <a:spcAft>
                <a:spcPts val="0"/>
              </a:spcAft>
            </a:pPr>
            <a:r>
              <a:rPr sz="1400" b="0" i="0">
                <a:solidFill>
                  <a:srgbClr val="1B1F24"/>
                </a:solidFill>
                <a:latin typeface="Calibri"/>
              </a:rPr>
              <a:t>Blend of an industry anchor (BLS CPI), a seasonal step and fuel pass-through</a:t>
            </a:r>
          </a:p>
        </p:txBody>
      </p:sp>
      <p:sp>
        <p:nvSpPr>
          <p:cNvPr id="9" name="Oval 8"/>
          <p:cNvSpPr/>
          <p:nvPr/>
        </p:nvSpPr>
        <p:spPr>
          <a:xfrm>
            <a:off x="548640" y="4434840"/>
            <a:ext cx="502920" cy="502920"/>
          </a:xfrm>
          <a:prstGeom prst="ellipse">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0" name="TextBox 9"/>
          <p:cNvSpPr txBox="1"/>
          <p:nvPr/>
        </p:nvSpPr>
        <p:spPr>
          <a:xfrm>
            <a:off x="1280160" y="4416552"/>
            <a:ext cx="3200400" cy="365760"/>
          </a:xfrm>
          <a:prstGeom prst="rect">
            <a:avLst/>
          </a:prstGeom>
          <a:noFill/>
        </p:spPr>
        <p:txBody>
          <a:bodyPr wrap="square" lIns="0" rIns="0" tIns="0" bIns="0" anchor="t">
            <a:spAutoFit/>
          </a:bodyPr>
          <a:lstStyle/>
          <a:p>
            <a:pPr algn="l">
              <a:spcAft>
                <a:spcPts val="0"/>
              </a:spcAft>
            </a:pPr>
            <a:r>
              <a:rPr sz="2000" b="1" i="0">
                <a:solidFill>
                  <a:srgbClr val="15202B"/>
                </a:solidFill>
                <a:latin typeface="Cambria"/>
              </a:rPr>
              <a:t>Revenue</a:t>
            </a:r>
            <a:r>
              <a:rPr sz="1800" b="1" i="0">
                <a:solidFill>
                  <a:srgbClr val="E9A13B"/>
                </a:solidFill>
                <a:latin typeface="Calibri"/>
              </a:rPr>
              <a:t>   $7.55bn</a:t>
            </a:r>
          </a:p>
        </p:txBody>
      </p:sp>
      <p:sp>
        <p:nvSpPr>
          <p:cNvPr id="11" name="TextBox 10"/>
          <p:cNvSpPr txBox="1"/>
          <p:nvPr/>
        </p:nvSpPr>
        <p:spPr>
          <a:xfrm>
            <a:off x="1280160" y="4846320"/>
            <a:ext cx="3200400" cy="914400"/>
          </a:xfrm>
          <a:prstGeom prst="rect">
            <a:avLst/>
          </a:prstGeom>
          <a:noFill/>
        </p:spPr>
        <p:txBody>
          <a:bodyPr wrap="square" lIns="0" rIns="0" tIns="0" bIns="0" anchor="t">
            <a:spAutoFit/>
          </a:bodyPr>
          <a:lstStyle/>
          <a:p>
            <a:pPr algn="l">
              <a:spcAft>
                <a:spcPts val="0"/>
              </a:spcAft>
            </a:pPr>
            <a:r>
              <a:rPr sz="1400" b="0" i="0">
                <a:solidFill>
                  <a:srgbClr val="1B1F24"/>
                </a:solidFill>
                <a:latin typeface="Calibri"/>
              </a:rPr>
              <a:t>Passengers × fare, with a −0.4 error correlation, checked against guidance</a:t>
            </a:r>
          </a:p>
        </p:txBody>
      </p:sp>
      <p:graphicFrame>
        <p:nvGraphicFramePr>
          <p:cNvPr id="12" name="Iso-revenue chart"/>
          <p:cNvGraphicFramePr>
            <a:graphicFrameLocks noGrp="1"/>
          </p:cNvGraphicFramePr>
          <p:nvPr/>
        </p:nvGraphicFramePr>
        <p:xfrm>
          <a:off x="4709159" y="1280160"/>
          <a:ext cx="6933895" cy="4526280"/>
        </p:xfrm>
        <a:graphic>
          <a:graphicData uri="http://schemas.openxmlformats.org/drawingml/2006/chart">
            <c:chart xmlns:c="http://schemas.openxmlformats.org/drawingml/2006/chart" r:id="rId2"/>
          </a:graphicData>
        </a:graphic>
      </p:graphicFrame>
      <p:sp>
        <p:nvSpPr>
          <p:cNvPr id="13" name="TextBox 12"/>
          <p:cNvSpPr txBox="1"/>
          <p:nvPr/>
        </p:nvSpPr>
        <p:spPr>
          <a:xfrm>
            <a:off x="4709159" y="5897880"/>
            <a:ext cx="6933895" cy="548640"/>
          </a:xfrm>
          <a:prstGeom prst="rect">
            <a:avLst/>
          </a:prstGeom>
          <a:noFill/>
        </p:spPr>
        <p:txBody>
          <a:bodyPr wrap="square" lIns="0" rIns="0" tIns="0" bIns="0" anchor="t">
            <a:spAutoFit/>
          </a:bodyPr>
          <a:lstStyle/>
          <a:p>
            <a:pPr algn="l">
              <a:spcAft>
                <a:spcPts val="0"/>
              </a:spcAft>
            </a:pPr>
            <a:r>
              <a:rPr sz="1200" b="0" i="0">
                <a:solidFill>
                  <a:srgbClr val="5B6573"/>
                </a:solidFill>
                <a:latin typeface="Calibri"/>
              </a:rPr>
              <a:t>Teal lines: passenger revenue implied by guidance, $7.39bn–$7.60bn at a 91.5% passenger share. Both naive baselines miss it, on opposite sides. </a:t>
            </a:r>
            <a:r>
              <a:rPr sz="1200" b="0" i="1">
                <a:solidFill>
                  <a:srgbClr val="A15C00"/>
                </a:solidFill>
                <a:latin typeface="Calibri"/>
              </a:rPr>
              <a:t>[the actual is plotted here after the print]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731520"/>
          </a:xfrm>
        </p:spPr>
        <p:txBody>
          <a:bodyPr lIns="0" rIns="0" anchor="t"/>
          <a:lstStyle/>
          <a:p>
            <a:pPr algn="l"/>
            <a:r>
              <a:rPr sz="3600" b="1">
                <a:solidFill>
                  <a:srgbClr val="15202B"/>
                </a:solidFill>
                <a:latin typeface="Cambria"/>
              </a:rPr>
              <a:t>Passengers beat naive; fares don't yet</a:t>
            </a:r>
          </a:p>
        </p:txBody>
      </p:sp>
      <p:graphicFrame>
        <p:nvGraphicFramePr>
          <p:cNvPr id="3" name="Backtest MAPE 2023–2024, pre fee change"/>
          <p:cNvGraphicFramePr>
            <a:graphicFrameLocks noGrp="1"/>
          </p:cNvGraphicFramePr>
          <p:nvPr/>
        </p:nvGraphicFramePr>
        <p:xfrm>
          <a:off x="548640" y="1325880"/>
          <a:ext cx="3657600" cy="4206240"/>
        </p:xfrm>
        <a:graphic>
          <a:graphicData uri="http://schemas.openxmlformats.org/drawingml/2006/chart">
            <c:chart xmlns:c="http://schemas.openxmlformats.org/drawingml/2006/chart" r:id="rId2"/>
          </a:graphicData>
        </a:graphic>
      </p:graphicFrame>
      <p:graphicFrame>
        <p:nvGraphicFramePr>
          <p:cNvPr id="4" name="Backtest MAPE 2025–2026, fee + model change"/>
          <p:cNvGraphicFramePr>
            <a:graphicFrameLocks noGrp="1"/>
          </p:cNvGraphicFramePr>
          <p:nvPr/>
        </p:nvGraphicFramePr>
        <p:xfrm>
          <a:off x="4480559" y="1325880"/>
          <a:ext cx="3657600" cy="4206240"/>
        </p:xfrm>
        <a:graphic>
          <a:graphicData uri="http://schemas.openxmlformats.org/drawingml/2006/chart">
            <c:chart xmlns:c="http://schemas.openxmlformats.org/drawingml/2006/chart" r:id="rId3"/>
          </a:graphicData>
        </a:graphic>
      </p:graphicFrame>
      <p:sp>
        <p:nvSpPr>
          <p:cNvPr id="5" name="Oval 4"/>
          <p:cNvSpPr/>
          <p:nvPr/>
        </p:nvSpPr>
        <p:spPr>
          <a:xfrm>
            <a:off x="8549640" y="1463040"/>
            <a:ext cx="292608" cy="292608"/>
          </a:xfrm>
          <a:prstGeom prst="ellipse">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6" name="TextBox 5"/>
          <p:cNvSpPr txBox="1"/>
          <p:nvPr/>
        </p:nvSpPr>
        <p:spPr>
          <a:xfrm>
            <a:off x="9006840" y="1417320"/>
            <a:ext cx="2636215" cy="365760"/>
          </a:xfrm>
          <a:prstGeom prst="rect">
            <a:avLst/>
          </a:prstGeom>
          <a:noFill/>
        </p:spPr>
        <p:txBody>
          <a:bodyPr wrap="square" lIns="0" rIns="0" tIns="0" bIns="0" anchor="t">
            <a:spAutoFit/>
          </a:bodyPr>
          <a:lstStyle/>
          <a:p>
            <a:pPr algn="l">
              <a:spcAft>
                <a:spcPts val="0"/>
              </a:spcAft>
            </a:pPr>
            <a:r>
              <a:rPr sz="1600" b="1" i="0">
                <a:solidFill>
                  <a:srgbClr val="15202B"/>
                </a:solidFill>
                <a:latin typeface="Calibri"/>
              </a:rPr>
              <a:t>Passengers: an edge</a:t>
            </a:r>
          </a:p>
        </p:txBody>
      </p:sp>
      <p:sp>
        <p:nvSpPr>
          <p:cNvPr id="7" name="TextBox 6"/>
          <p:cNvSpPr txBox="1"/>
          <p:nvPr/>
        </p:nvSpPr>
        <p:spPr>
          <a:xfrm>
            <a:off x="9006840" y="1783080"/>
            <a:ext cx="2636215" cy="914400"/>
          </a:xfrm>
          <a:prstGeom prst="rect">
            <a:avLst/>
          </a:prstGeom>
          <a:noFill/>
        </p:spPr>
        <p:txBody>
          <a:bodyPr wrap="square" lIns="0" rIns="0" tIns="0" bIns="0" anchor="t">
            <a:spAutoFit/>
          </a:bodyPr>
          <a:lstStyle/>
          <a:p>
            <a:pPr algn="l">
              <a:spcAft>
                <a:spcPts val="0"/>
              </a:spcAft>
            </a:pPr>
            <a:r>
              <a:rPr sz="1400" b="0" i="0">
                <a:solidFill>
                  <a:srgbClr val="1B1F24"/>
                </a:solidFill>
                <a:latin typeface="Calibri"/>
              </a:rPr>
              <a:t>Beats B1 in 16/18 quarters. Current-era p = 0.05 (blend).</a:t>
            </a:r>
          </a:p>
        </p:txBody>
      </p:sp>
      <p:sp>
        <p:nvSpPr>
          <p:cNvPr id="8" name="Oval 7"/>
          <p:cNvSpPr/>
          <p:nvPr/>
        </p:nvSpPr>
        <p:spPr>
          <a:xfrm>
            <a:off x="8549640" y="2834639"/>
            <a:ext cx="292608" cy="292608"/>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9" name="TextBox 8"/>
          <p:cNvSpPr txBox="1"/>
          <p:nvPr/>
        </p:nvSpPr>
        <p:spPr>
          <a:xfrm>
            <a:off x="9006840" y="2788920"/>
            <a:ext cx="2636215" cy="365760"/>
          </a:xfrm>
          <a:prstGeom prst="rect">
            <a:avLst/>
          </a:prstGeom>
          <a:noFill/>
        </p:spPr>
        <p:txBody>
          <a:bodyPr wrap="square" lIns="0" rIns="0" tIns="0" bIns="0" anchor="t">
            <a:spAutoFit/>
          </a:bodyPr>
          <a:lstStyle/>
          <a:p>
            <a:pPr algn="l">
              <a:spcAft>
                <a:spcPts val="0"/>
              </a:spcAft>
            </a:pPr>
            <a:r>
              <a:rPr sz="1600" b="1" i="0">
                <a:solidFill>
                  <a:srgbClr val="15202B"/>
                </a:solidFill>
                <a:latin typeface="Calibri"/>
              </a:rPr>
              <a:t>Fare: no edge yet</a:t>
            </a:r>
          </a:p>
        </p:txBody>
      </p:sp>
      <p:sp>
        <p:nvSpPr>
          <p:cNvPr id="10" name="TextBox 9"/>
          <p:cNvSpPr txBox="1"/>
          <p:nvPr/>
        </p:nvSpPr>
        <p:spPr>
          <a:xfrm>
            <a:off x="9006840" y="3154679"/>
            <a:ext cx="2636215" cy="914400"/>
          </a:xfrm>
          <a:prstGeom prst="rect">
            <a:avLst/>
          </a:prstGeom>
          <a:noFill/>
        </p:spPr>
        <p:txBody>
          <a:bodyPr wrap="square" lIns="0" rIns="0" tIns="0" bIns="0" anchor="t">
            <a:spAutoFit/>
          </a:bodyPr>
          <a:lstStyle/>
          <a:p>
            <a:pPr algn="l">
              <a:spcAft>
                <a:spcPts val="0"/>
              </a:spcAft>
            </a:pPr>
            <a:r>
              <a:rPr sz="1400" b="0" i="0">
                <a:solidFill>
                  <a:srgbClr val="1B1F24"/>
                </a:solidFill>
                <a:latin typeface="Calibri"/>
              </a:rPr>
              <a:t>B1 wins 2023–24. Current-era gap 0.5 pt, p = 0.44.</a:t>
            </a:r>
          </a:p>
        </p:txBody>
      </p:sp>
      <p:sp>
        <p:nvSpPr>
          <p:cNvPr id="11" name="Oval 10"/>
          <p:cNvSpPr/>
          <p:nvPr/>
        </p:nvSpPr>
        <p:spPr>
          <a:xfrm>
            <a:off x="8549640" y="4206240"/>
            <a:ext cx="292608" cy="292608"/>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2" name="TextBox 11"/>
          <p:cNvSpPr txBox="1"/>
          <p:nvPr/>
        </p:nvSpPr>
        <p:spPr>
          <a:xfrm>
            <a:off x="9006840" y="4160520"/>
            <a:ext cx="2636215" cy="365760"/>
          </a:xfrm>
          <a:prstGeom prst="rect">
            <a:avLst/>
          </a:prstGeom>
          <a:noFill/>
        </p:spPr>
        <p:txBody>
          <a:bodyPr wrap="square" lIns="0" rIns="0" tIns="0" bIns="0" anchor="t">
            <a:spAutoFit/>
          </a:bodyPr>
          <a:lstStyle/>
          <a:p>
            <a:pPr algn="l">
              <a:spcAft>
                <a:spcPts val="0"/>
              </a:spcAft>
            </a:pPr>
            <a:r>
              <a:rPr sz="1600" b="1" i="0">
                <a:solidFill>
                  <a:srgbClr val="15202B"/>
                </a:solidFill>
                <a:latin typeface="Calibri"/>
              </a:rPr>
              <a:t>Revenue: not proven</a:t>
            </a:r>
          </a:p>
        </p:txBody>
      </p:sp>
      <p:sp>
        <p:nvSpPr>
          <p:cNvPr id="13" name="TextBox 12"/>
          <p:cNvSpPr txBox="1"/>
          <p:nvPr/>
        </p:nvSpPr>
        <p:spPr>
          <a:xfrm>
            <a:off x="9006840" y="4526280"/>
            <a:ext cx="2636215" cy="914400"/>
          </a:xfrm>
          <a:prstGeom prst="rect">
            <a:avLst/>
          </a:prstGeom>
          <a:noFill/>
        </p:spPr>
        <p:txBody>
          <a:bodyPr wrap="square" lIns="0" rIns="0" tIns="0" bIns="0" anchor="t">
            <a:spAutoFit/>
          </a:bodyPr>
          <a:lstStyle/>
          <a:p>
            <a:pPr algn="l">
              <a:spcAft>
                <a:spcPts val="0"/>
              </a:spcAft>
            </a:pPr>
            <a:r>
              <a:rPr sz="1400" b="0" i="0">
                <a:solidFill>
                  <a:srgbClr val="1B1F24"/>
                </a:solidFill>
                <a:latin typeface="Calibri"/>
              </a:rPr>
              <a:t>The client's number: p = 0.53. Sell the split, not the point.</a:t>
            </a:r>
          </a:p>
        </p:txBody>
      </p:sp>
      <p:sp>
        <p:nvSpPr>
          <p:cNvPr id="14" name="TextBox 13"/>
          <p:cNvSpPr txBox="1"/>
          <p:nvPr/>
        </p:nvSpPr>
        <p:spPr>
          <a:xfrm>
            <a:off x="548640" y="5760720"/>
            <a:ext cx="11094415" cy="685800"/>
          </a:xfrm>
          <a:prstGeom prst="rect">
            <a:avLst/>
          </a:prstGeom>
          <a:noFill/>
        </p:spPr>
        <p:txBody>
          <a:bodyPr wrap="square" lIns="0" rIns="0" tIns="0" bIns="0" anchor="t">
            <a:spAutoFit/>
          </a:bodyPr>
          <a:lstStyle/>
          <a:p>
            <a:pPr algn="l">
              <a:spcAft>
                <a:spcPts val="0"/>
              </a:spcAft>
            </a:pPr>
            <a:r>
              <a:rPr sz="1200" b="0" i="0">
                <a:solidFill>
                  <a:srgbClr val="5B6573"/>
                </a:solidFill>
                <a:latin typeface="Calibri"/>
              </a:rPr>
              <a:t>MAPE, vintage-correct backtest: every parameter re-estimated from what was public at the time. Our method = TSA chain (passengers), out-of-sample price blend (fare), their product (revenue). 2022 is reported separately in Evaluation/README because COVID bases flatter every method. p = Diebold-Mariano vs B1, HLN small-sample correction, n =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202B"/>
        </a:solidFill>
        <a:effectLst/>
      </p:bgPr>
    </p:bg>
    <p:spTree>
      <p:nvGrpSpPr>
        <p:cNvPr id="1" name=""/>
        <p:cNvGrpSpPr/>
        <p:nvPr/>
      </p:nvGrpSpPr>
      <p:grpSpPr/>
      <p:sp>
        <p:nvSpPr>
          <p:cNvPr id="2" name="Title 1"/>
          <p:cNvSpPr>
            <a:spLocks noGrp="1"/>
          </p:cNvSpPr>
          <p:nvPr>
            <p:ph type="title"/>
          </p:nvPr>
        </p:nvSpPr>
        <p:spPr>
          <a:xfrm>
            <a:off x="548640" y="384048"/>
            <a:ext cx="11094415" cy="731520"/>
          </a:xfrm>
        </p:spPr>
        <p:txBody>
          <a:bodyPr lIns="0" rIns="0" anchor="t"/>
          <a:lstStyle/>
          <a:p>
            <a:pPr algn="l"/>
            <a:r>
              <a:rPr sz="3600" b="1">
                <a:solidFill>
                  <a:srgbClr val="FFFFFF"/>
                </a:solidFill>
                <a:latin typeface="Cambria"/>
              </a:rPr>
              <a:t>What we got wrong, and why</a:t>
            </a:r>
          </a:p>
        </p:txBody>
      </p:sp>
      <p:sp>
        <p:nvSpPr>
          <p:cNvPr id="3" name="TextBox 2"/>
          <p:cNvSpPr txBox="1"/>
          <p:nvPr/>
        </p:nvSpPr>
        <p:spPr>
          <a:xfrm>
            <a:off x="548640" y="1188720"/>
            <a:ext cx="6720840" cy="274320"/>
          </a:xfrm>
          <a:prstGeom prst="rect">
            <a:avLst/>
          </a:prstGeom>
          <a:noFill/>
        </p:spPr>
        <p:txBody>
          <a:bodyPr wrap="square" lIns="0" rIns="0" tIns="0" bIns="0" anchor="t">
            <a:spAutoFit/>
          </a:bodyPr>
          <a:lstStyle/>
          <a:p>
            <a:pPr algn="l">
              <a:spcAft>
                <a:spcPts val="0"/>
              </a:spcAft>
            </a:pPr>
            <a:r>
              <a:rPr sz="1200" b="1" i="0">
                <a:solidFill>
                  <a:srgbClr val="AEB8C6"/>
                </a:solidFill>
                <a:latin typeface="Calibri"/>
              </a:rPr>
              <a:t>SCORECARD</a:t>
            </a:r>
          </a:p>
        </p:txBody>
      </p:sp>
      <p:graphicFrame>
        <p:nvGraphicFramePr>
          <p:cNvPr id="4" name="Scorecard"/>
          <p:cNvGraphicFramePr>
            <a:graphicFrameLocks noGrp="1"/>
          </p:cNvGraphicFramePr>
          <p:nvPr/>
        </p:nvGraphicFramePr>
        <p:xfrm>
          <a:off x="548640" y="1508760"/>
          <a:ext cx="6720840" cy="1463040"/>
        </p:xfrm>
        <a:graphic>
          <a:graphicData uri="http://schemas.openxmlformats.org/drawingml/2006/table">
            <a:tbl>
              <a:tblPr firstRow="1" bandRow="1">
                <a:tableStyleId>{5C22544A-7EE6-4342-B048-85BDC9FD1C3A}</a:tableStyleId>
              </a:tblPr>
              <a:tblGrid>
                <a:gridCol w="1965960"/>
                <a:gridCol w="1188720"/>
                <a:gridCol w="1188720"/>
                <a:gridCol w="1188720"/>
                <a:gridCol w="1188720"/>
              </a:tblGrid>
              <a:tr h="365760">
                <a:tc>
                  <a:txBody>
                    <a:bodyPr wrap="square"/>
                    <a:lstStyle/>
                    <a:p>
                      <a:pPr algn="l"/>
                      <a:r>
                        <a:rPr sz="1300" b="1" i="0">
                          <a:solidFill>
                            <a:srgbClr val="FFFFFF"/>
                          </a:solidFill>
                          <a:latin typeface="Calibri"/>
                        </a:rPr>
                        <a:t/>
                      </a:r>
                    </a:p>
                  </a:txBody>
                  <a:tcPr marL="91440" marR="91440" marT="45720" marB="45720" anchor="ctr">
                    <a:solidFill>
                      <a:srgbClr val="1F3B73"/>
                    </a:solidFill>
                  </a:tcPr>
                </a:tc>
                <a:tc>
                  <a:txBody>
                    <a:bodyPr wrap="square"/>
                    <a:lstStyle/>
                    <a:p>
                      <a:pPr algn="l"/>
                      <a:r>
                        <a:rPr sz="1300" b="1" i="0">
                          <a:solidFill>
                            <a:srgbClr val="FFFFFF"/>
                          </a:solidFill>
                          <a:latin typeface="Calibri"/>
                        </a:rPr>
                        <a:t>Forecast</a:t>
                      </a:r>
                    </a:p>
                  </a:txBody>
                  <a:tcPr marL="91440" marR="91440" marT="45720" marB="45720" anchor="ctr">
                    <a:solidFill>
                      <a:srgbClr val="1F3B73"/>
                    </a:solidFill>
                  </a:tcPr>
                </a:tc>
                <a:tc>
                  <a:txBody>
                    <a:bodyPr wrap="square"/>
                    <a:lstStyle/>
                    <a:p>
                      <a:pPr algn="l"/>
                      <a:r>
                        <a:rPr sz="1300" b="1" i="0">
                          <a:solidFill>
                            <a:srgbClr val="FFFFFF"/>
                          </a:solidFill>
                          <a:latin typeface="Calibri"/>
                        </a:rPr>
                        <a:t>Actual</a:t>
                      </a:r>
                    </a:p>
                  </a:txBody>
                  <a:tcPr marL="91440" marR="91440" marT="45720" marB="45720" anchor="ctr">
                    <a:solidFill>
                      <a:srgbClr val="1F3B73"/>
                    </a:solidFill>
                  </a:tcPr>
                </a:tc>
                <a:tc>
                  <a:txBody>
                    <a:bodyPr wrap="square"/>
                    <a:lstStyle/>
                    <a:p>
                      <a:pPr algn="l"/>
                      <a:r>
                        <a:rPr sz="1300" b="1" i="0">
                          <a:solidFill>
                            <a:srgbClr val="FFFFFF"/>
                          </a:solidFill>
                          <a:latin typeface="Calibri"/>
                        </a:rPr>
                        <a:t>Error, in 80%?</a:t>
                      </a:r>
                    </a:p>
                  </a:txBody>
                  <a:tcPr marL="91440" marR="91440" marT="45720" marB="45720" anchor="ctr">
                    <a:solidFill>
                      <a:srgbClr val="1F3B73"/>
                    </a:solidFill>
                  </a:tcPr>
                </a:tc>
                <a:tc>
                  <a:txBody>
                    <a:bodyPr wrap="square"/>
                    <a:lstStyle/>
                    <a:p>
                      <a:pPr algn="l"/>
                      <a:r>
                        <a:rPr sz="1300" b="1" i="0">
                          <a:solidFill>
                            <a:srgbClr val="FFFFFF"/>
                          </a:solidFill>
                          <a:latin typeface="Calibri"/>
                        </a:rPr>
                        <a:t>B1 error</a:t>
                      </a:r>
                    </a:p>
                  </a:txBody>
                  <a:tcPr marL="91440" marR="91440" marT="45720" marB="45720" anchor="ctr">
                    <a:solidFill>
                      <a:srgbClr val="1F3B73"/>
                    </a:solidFill>
                  </a:tcPr>
                </a:tc>
              </a:tr>
              <a:tr h="365760">
                <a:tc>
                  <a:txBody>
                    <a:bodyPr wrap="square"/>
                    <a:lstStyle/>
                    <a:p>
                      <a:pPr algn="l"/>
                      <a:r>
                        <a:rPr sz="1400" b="1" i="0">
                          <a:solidFill>
                            <a:srgbClr val="FFFFFF"/>
                          </a:solidFill>
                          <a:latin typeface="Calibri"/>
                        </a:rPr>
                        <a:t>Revenue passengers</a:t>
                      </a:r>
                    </a:p>
                  </a:txBody>
                  <a:tcPr marL="91440" marR="91440" marT="45720" marB="45720" anchor="ctr">
                    <a:solidFill>
                      <a:srgbClr val="22324A"/>
                    </a:solidFill>
                  </a:tcPr>
                </a:tc>
                <a:tc>
                  <a:txBody>
                    <a:bodyPr wrap="square"/>
                    <a:lstStyle/>
                    <a:p>
                      <a:pPr algn="l"/>
                      <a:r>
                        <a:rPr sz="1400" b="0" i="0">
                          <a:solidFill>
                            <a:srgbClr val="FFFFFF"/>
                          </a:solidFill>
                          <a:latin typeface="Calibri"/>
                        </a:rPr>
                        <a:t>32,912k</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r>
              <a:tr h="365760">
                <a:tc>
                  <a:txBody>
                    <a:bodyPr wrap="square"/>
                    <a:lstStyle/>
                    <a:p>
                      <a:pPr algn="l"/>
                      <a:r>
                        <a:rPr sz="1400" b="1" i="0">
                          <a:solidFill>
                            <a:srgbClr val="FFFFFF"/>
                          </a:solidFill>
                          <a:latin typeface="Calibri"/>
                        </a:rPr>
                        <a:t>Average fare</a:t>
                      </a:r>
                    </a:p>
                  </a:txBody>
                  <a:tcPr marL="91440" marR="91440" marT="45720" marB="45720" anchor="ctr">
                    <a:solidFill>
                      <a:srgbClr val="22324A"/>
                    </a:solidFill>
                  </a:tcPr>
                </a:tc>
                <a:tc>
                  <a:txBody>
                    <a:bodyPr wrap="square"/>
                    <a:lstStyle/>
                    <a:p>
                      <a:pPr algn="l"/>
                      <a:r>
                        <a:rPr sz="1400" b="0" i="0">
                          <a:solidFill>
                            <a:srgbClr val="FFFFFF"/>
                          </a:solidFill>
                          <a:latin typeface="Calibri"/>
                        </a:rPr>
                        <a:t>$229.34</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r>
              <a:tr h="365760">
                <a:tc>
                  <a:txBody>
                    <a:bodyPr wrap="square"/>
                    <a:lstStyle/>
                    <a:p>
                      <a:pPr algn="l"/>
                      <a:r>
                        <a:rPr sz="1400" b="1" i="0">
                          <a:solidFill>
                            <a:srgbClr val="FFFFFF"/>
                          </a:solidFill>
                          <a:latin typeface="Calibri"/>
                        </a:rPr>
                        <a:t>Passenger revenue</a:t>
                      </a:r>
                    </a:p>
                  </a:txBody>
                  <a:tcPr marL="91440" marR="91440" marT="45720" marB="45720" anchor="ctr">
                    <a:solidFill>
                      <a:srgbClr val="22324A"/>
                    </a:solidFill>
                  </a:tcPr>
                </a:tc>
                <a:tc>
                  <a:txBody>
                    <a:bodyPr wrap="square"/>
                    <a:lstStyle/>
                    <a:p>
                      <a:pPr algn="l"/>
                      <a:r>
                        <a:rPr sz="1400" b="0" i="0">
                          <a:solidFill>
                            <a:srgbClr val="FFFFFF"/>
                          </a:solidFill>
                          <a:latin typeface="Calibri"/>
                        </a:rPr>
                        <a:t>$7.55bn</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c>
                  <a:txBody>
                    <a:bodyPr wrap="square"/>
                    <a:lstStyle/>
                    <a:p>
                      <a:pPr algn="l"/>
                      <a:r>
                        <a:rPr sz="1400" b="0" i="1">
                          <a:solidFill>
                            <a:srgbClr val="E9A13B"/>
                          </a:solidFill>
                          <a:latin typeface="Calibri"/>
                        </a:rPr>
                        <a:t>[—]</a:t>
                      </a:r>
                    </a:p>
                  </a:txBody>
                  <a:tcPr marL="91440" marR="91440" marT="45720" marB="45720" anchor="ctr">
                    <a:solidFill>
                      <a:srgbClr val="22324A"/>
                    </a:solidFill>
                  </a:tcPr>
                </a:tc>
              </a:tr>
            </a:tbl>
          </a:graphicData>
        </a:graphic>
      </p:graphicFrame>
      <p:sp>
        <p:nvSpPr>
          <p:cNvPr id="5" name="TextBox 4"/>
          <p:cNvSpPr txBox="1"/>
          <p:nvPr/>
        </p:nvSpPr>
        <p:spPr>
          <a:xfrm>
            <a:off x="548640" y="3200400"/>
            <a:ext cx="6720840" cy="274320"/>
          </a:xfrm>
          <a:prstGeom prst="rect">
            <a:avLst/>
          </a:prstGeom>
          <a:noFill/>
        </p:spPr>
        <p:txBody>
          <a:bodyPr wrap="square" lIns="0" rIns="0" tIns="0" bIns="0" anchor="t">
            <a:spAutoFit/>
          </a:bodyPr>
          <a:lstStyle/>
          <a:p>
            <a:pPr algn="l">
              <a:spcAft>
                <a:spcPts val="0"/>
              </a:spcAft>
            </a:pPr>
            <a:r>
              <a:rPr sz="1200" b="1" i="0">
                <a:solidFill>
                  <a:srgbClr val="AEB8C6"/>
                </a:solidFill>
                <a:latin typeface="Calibri"/>
              </a:rPr>
              <a:t>WHY  ·  THE FOUR RISKS WE REGISTERED BEFORE THE PRINT</a:t>
            </a:r>
          </a:p>
        </p:txBody>
      </p:sp>
      <p:graphicFrame>
        <p:nvGraphicFramePr>
          <p:cNvPr id="6" name="Risk ledger"/>
          <p:cNvGraphicFramePr>
            <a:graphicFrameLocks noGrp="1"/>
          </p:cNvGraphicFramePr>
          <p:nvPr/>
        </p:nvGraphicFramePr>
        <p:xfrm>
          <a:off x="548640" y="3520440"/>
          <a:ext cx="6720840" cy="1737360"/>
        </p:xfrm>
        <a:graphic>
          <a:graphicData uri="http://schemas.openxmlformats.org/drawingml/2006/table">
            <a:tbl>
              <a:tblPr firstRow="1" bandRow="1">
                <a:tableStyleId>{5C22544A-7EE6-4342-B048-85BDC9FD1C3A}</a:tableStyleId>
              </a:tblPr>
              <a:tblGrid>
                <a:gridCol w="2240280"/>
                <a:gridCol w="2240280"/>
                <a:gridCol w="2240280"/>
              </a:tblGrid>
              <a:tr h="347472">
                <a:tc>
                  <a:txBody>
                    <a:bodyPr wrap="square"/>
                    <a:lstStyle/>
                    <a:p>
                      <a:pPr algn="l"/>
                      <a:r>
                        <a:rPr sz="1300" b="1" i="0">
                          <a:solidFill>
                            <a:srgbClr val="FFFFFF"/>
                          </a:solidFill>
                          <a:latin typeface="Calibri"/>
                        </a:rPr>
                        <a:t>Risk</a:t>
                      </a:r>
                    </a:p>
                  </a:txBody>
                  <a:tcPr marL="91440" marR="91440" marT="45720" marB="45720" anchor="ctr">
                    <a:solidFill>
                      <a:srgbClr val="1F3B73"/>
                    </a:solidFill>
                  </a:tcPr>
                </a:tc>
                <a:tc>
                  <a:txBody>
                    <a:bodyPr wrap="square"/>
                    <a:lstStyle/>
                    <a:p>
                      <a:pPr algn="l"/>
                      <a:r>
                        <a:rPr sz="1300" b="1" i="0">
                          <a:solidFill>
                            <a:srgbClr val="FFFFFF"/>
                          </a:solidFill>
                          <a:latin typeface="Calibri"/>
                        </a:rPr>
                        <a:t>We assumed</a:t>
                      </a:r>
                    </a:p>
                  </a:txBody>
                  <a:tcPr marL="91440" marR="91440" marT="45720" marB="45720" anchor="ctr">
                    <a:solidFill>
                      <a:srgbClr val="1F3B73"/>
                    </a:solidFill>
                  </a:tcPr>
                </a:tc>
                <a:tc>
                  <a:txBody>
                    <a:bodyPr wrap="square"/>
                    <a:lstStyle/>
                    <a:p>
                      <a:pPr algn="l"/>
                      <a:r>
                        <a:rPr sz="1300" b="1" i="0">
                          <a:solidFill>
                            <a:srgbClr val="FFFFFF"/>
                          </a:solidFill>
                          <a:latin typeface="Calibri"/>
                        </a:rPr>
                        <a:t>What happened</a:t>
                      </a:r>
                    </a:p>
                  </a:txBody>
                  <a:tcPr marL="91440" marR="91440" marT="45720" marB="45720" anchor="ctr">
                    <a:solidFill>
                      <a:srgbClr val="1F3B73"/>
                    </a:solidFill>
                  </a:tcPr>
                </a:tc>
              </a:tr>
              <a:tr h="347472">
                <a:tc>
                  <a:txBody>
                    <a:bodyPr wrap="square"/>
                    <a:lstStyle/>
                    <a:p>
                      <a:pPr algn="l"/>
                      <a:r>
                        <a:rPr sz="1400" b="1" i="0">
                          <a:solidFill>
                            <a:srgbClr val="D1495B"/>
                          </a:solidFill>
                          <a:latin typeface="Calibri"/>
                        </a:rPr>
                        <a:t>1  </a:t>
                      </a:r>
                      <a:r>
                        <a:rPr sz="1400" b="1" i="0">
                          <a:solidFill>
                            <a:srgbClr val="FFFFFF"/>
                          </a:solidFill>
                          <a:latin typeface="Calibri"/>
                        </a:rPr>
                        <a:t>Trip factor</a:t>
                      </a:r>
                    </a:p>
                  </a:txBody>
                  <a:tcPr marL="91440" marR="91440" marT="45720" marB="45720" anchor="ctr">
                    <a:solidFill>
                      <a:srgbClr val="22324A"/>
                    </a:solidFill>
                  </a:tcPr>
                </a:tc>
                <a:tc>
                  <a:txBody>
                    <a:bodyPr wrap="square"/>
                    <a:lstStyle/>
                    <a:p>
                      <a:pPr algn="l"/>
                      <a:r>
                        <a:rPr sz="1400" b="0" i="0">
                          <a:solidFill>
                            <a:srgbClr val="FFFFFF"/>
                          </a:solidFill>
                          <a:latin typeface="Calibri"/>
                        </a:rPr>
                        <a:t>1.3098 (+3.4% YoY)</a:t>
                      </a:r>
                    </a:p>
                  </a:txBody>
                  <a:tcPr marL="91440" marR="91440" marT="45720" marB="45720" anchor="ctr">
                    <a:solidFill>
                      <a:srgbClr val="22324A"/>
                    </a:solidFill>
                  </a:tcPr>
                </a:tc>
                <a:tc>
                  <a:txBody>
                    <a:bodyPr wrap="square"/>
                    <a:lstStyle/>
                    <a:p>
                      <a:pPr algn="l"/>
                      <a:r>
                        <a:rPr sz="1400" b="0" i="1">
                          <a:solidFill>
                            <a:srgbClr val="E9A13B"/>
                          </a:solidFill>
                          <a:latin typeface="Calibri"/>
                        </a:rPr>
                        <a:t>[after the print]</a:t>
                      </a:r>
                    </a:p>
                  </a:txBody>
                  <a:tcPr marL="91440" marR="91440" marT="45720" marB="45720" anchor="ctr">
                    <a:solidFill>
                      <a:srgbClr val="22324A"/>
                    </a:solidFill>
                  </a:tcPr>
                </a:tc>
              </a:tr>
              <a:tr h="347472">
                <a:tc>
                  <a:txBody>
                    <a:bodyPr wrap="square"/>
                    <a:lstStyle/>
                    <a:p>
                      <a:pPr algn="l"/>
                      <a:r>
                        <a:rPr sz="1400" b="1" i="0">
                          <a:solidFill>
                            <a:srgbClr val="D1495B"/>
                          </a:solidFill>
                          <a:latin typeface="Calibri"/>
                        </a:rPr>
                        <a:t>2  </a:t>
                      </a:r>
                      <a:r>
                        <a:rPr sz="1400" b="1" i="0">
                          <a:solidFill>
                            <a:srgbClr val="FFFFFF"/>
                          </a:solidFill>
                          <a:latin typeface="Calibri"/>
                        </a:rPr>
                        <a:t>A one-off in the print</a:t>
                      </a:r>
                    </a:p>
                  </a:txBody>
                  <a:tcPr marL="91440" marR="91440" marT="45720" marB="45720" anchor="ctr">
                    <a:solidFill>
                      <a:srgbClr val="22324A"/>
                    </a:solidFill>
                  </a:tcPr>
                </a:tc>
                <a:tc>
                  <a:txBody>
                    <a:bodyPr wrap="square"/>
                    <a:lstStyle/>
                    <a:p>
                      <a:pPr algn="l"/>
                      <a:r>
                        <a:rPr sz="1400" b="0" i="0">
                          <a:solidFill>
                            <a:srgbClr val="FFFFFF"/>
                          </a:solidFill>
                          <a:latin typeface="Calibri"/>
                        </a:rPr>
                        <a:t>none in Q3</a:t>
                      </a:r>
                    </a:p>
                  </a:txBody>
                  <a:tcPr marL="91440" marR="91440" marT="45720" marB="45720" anchor="ctr">
                    <a:solidFill>
                      <a:srgbClr val="22324A"/>
                    </a:solidFill>
                  </a:tcPr>
                </a:tc>
                <a:tc>
                  <a:txBody>
                    <a:bodyPr wrap="square"/>
                    <a:lstStyle/>
                    <a:p>
                      <a:pPr algn="l"/>
                      <a:r>
                        <a:rPr sz="1400" b="0" i="1">
                          <a:solidFill>
                            <a:srgbClr val="E9A13B"/>
                          </a:solidFill>
                          <a:latin typeface="Calibri"/>
                        </a:rPr>
                        <a:t>[after the print]</a:t>
                      </a:r>
                    </a:p>
                  </a:txBody>
                  <a:tcPr marL="91440" marR="91440" marT="45720" marB="45720" anchor="ctr">
                    <a:solidFill>
                      <a:srgbClr val="22324A"/>
                    </a:solidFill>
                  </a:tcPr>
                </a:tc>
              </a:tr>
              <a:tr h="347472">
                <a:tc>
                  <a:txBody>
                    <a:bodyPr wrap="square"/>
                    <a:lstStyle/>
                    <a:p>
                      <a:pPr algn="l"/>
                      <a:r>
                        <a:rPr sz="1400" b="1" i="0">
                          <a:solidFill>
                            <a:srgbClr val="D1495B"/>
                          </a:solidFill>
                          <a:latin typeface="Calibri"/>
                        </a:rPr>
                        <a:t>3  </a:t>
                      </a:r>
                      <a:r>
                        <a:rPr sz="1400" b="1" i="0">
                          <a:solidFill>
                            <a:srgbClr val="FFFFFF"/>
                          </a:solidFill>
                          <a:latin typeface="Calibri"/>
                        </a:rPr>
                        <a:t>Capacity below guide</a:t>
                      </a:r>
                    </a:p>
                  </a:txBody>
                  <a:tcPr marL="91440" marR="91440" marT="45720" marB="45720" anchor="ctr">
                    <a:solidFill>
                      <a:srgbClr val="22324A"/>
                    </a:solidFill>
                  </a:tcPr>
                </a:tc>
                <a:tc>
                  <a:txBody>
                    <a:bodyPr wrap="square"/>
                    <a:lstStyle/>
                    <a:p>
                      <a:pPr algn="l"/>
                      <a:r>
                        <a:rPr sz="1400" b="0" i="0">
                          <a:solidFill>
                            <a:srgbClr val="FFFFFF"/>
                          </a:solidFill>
                          <a:latin typeface="Calibri"/>
                        </a:rPr>
                        <a:t>ASMs −1% to flat</a:t>
                      </a:r>
                    </a:p>
                  </a:txBody>
                  <a:tcPr marL="91440" marR="91440" marT="45720" marB="45720" anchor="ctr">
                    <a:solidFill>
                      <a:srgbClr val="22324A"/>
                    </a:solidFill>
                  </a:tcPr>
                </a:tc>
                <a:tc>
                  <a:txBody>
                    <a:bodyPr wrap="square"/>
                    <a:lstStyle/>
                    <a:p>
                      <a:pPr algn="l"/>
                      <a:r>
                        <a:rPr sz="1400" b="0" i="1">
                          <a:solidFill>
                            <a:srgbClr val="E9A13B"/>
                          </a:solidFill>
                          <a:latin typeface="Calibri"/>
                        </a:rPr>
                        <a:t>[after the print]</a:t>
                      </a:r>
                    </a:p>
                  </a:txBody>
                  <a:tcPr marL="91440" marR="91440" marT="45720" marB="45720" anchor="ctr">
                    <a:solidFill>
                      <a:srgbClr val="22324A"/>
                    </a:solidFill>
                  </a:tcPr>
                </a:tc>
              </a:tr>
              <a:tr h="347472">
                <a:tc>
                  <a:txBody>
                    <a:bodyPr wrap="square"/>
                    <a:lstStyle/>
                    <a:p>
                      <a:pPr algn="l"/>
                      <a:r>
                        <a:rPr sz="1400" b="1" i="0">
                          <a:solidFill>
                            <a:srgbClr val="D1495B"/>
                          </a:solidFill>
                          <a:latin typeface="Calibri"/>
                        </a:rPr>
                        <a:t>4  </a:t>
                      </a:r>
                      <a:r>
                        <a:rPr sz="1400" b="1" i="0">
                          <a:solidFill>
                            <a:srgbClr val="FFFFFF"/>
                          </a:solidFill>
                          <a:latin typeface="Calibri"/>
                        </a:rPr>
                        <a:t>Naive regression lower</a:t>
                      </a:r>
                    </a:p>
                  </a:txBody>
                  <a:tcPr marL="91440" marR="91440" marT="45720" marB="45720" anchor="ctr">
                    <a:solidFill>
                      <a:srgbClr val="22324A"/>
                    </a:solidFill>
                  </a:tcPr>
                </a:tc>
                <a:tc>
                  <a:txBody>
                    <a:bodyPr wrap="square"/>
                    <a:lstStyle/>
                    <a:p>
                      <a:pPr algn="l"/>
                      <a:r>
                        <a:rPr sz="1400" b="0" i="0">
                          <a:solidFill>
                            <a:srgbClr val="FFFFFF"/>
                          </a:solidFill>
                          <a:latin typeface="Calibri"/>
                        </a:rPr>
                        <a:t>32,097k vs our 32,912k</a:t>
                      </a:r>
                    </a:p>
                  </a:txBody>
                  <a:tcPr marL="91440" marR="91440" marT="45720" marB="45720" anchor="ctr">
                    <a:solidFill>
                      <a:srgbClr val="22324A"/>
                    </a:solidFill>
                  </a:tcPr>
                </a:tc>
                <a:tc>
                  <a:txBody>
                    <a:bodyPr wrap="square"/>
                    <a:lstStyle/>
                    <a:p>
                      <a:pPr algn="l"/>
                      <a:r>
                        <a:rPr sz="1400" b="0" i="1">
                          <a:solidFill>
                            <a:srgbClr val="E9A13B"/>
                          </a:solidFill>
                          <a:latin typeface="Calibri"/>
                        </a:rPr>
                        <a:t>[after the print]</a:t>
                      </a:r>
                    </a:p>
                  </a:txBody>
                  <a:tcPr marL="91440" marR="91440" marT="45720" marB="45720" anchor="ctr">
                    <a:solidFill>
                      <a:srgbClr val="22324A"/>
                    </a:solidFill>
                  </a:tcPr>
                </a:tc>
              </a:tr>
            </a:tbl>
          </a:graphicData>
        </a:graphic>
      </p:graphicFrame>
      <p:sp>
        <p:nvSpPr>
          <p:cNvPr id="7" name="TextBox 6"/>
          <p:cNvSpPr txBox="1"/>
          <p:nvPr/>
        </p:nvSpPr>
        <p:spPr>
          <a:xfrm>
            <a:off x="548640" y="5440680"/>
            <a:ext cx="6720840" cy="320040"/>
          </a:xfrm>
          <a:prstGeom prst="rect">
            <a:avLst/>
          </a:prstGeom>
          <a:noFill/>
        </p:spPr>
        <p:txBody>
          <a:bodyPr wrap="square" lIns="0" rIns="0" tIns="0" bIns="0" anchor="t">
            <a:spAutoFit/>
          </a:bodyPr>
          <a:lstStyle/>
          <a:p>
            <a:pPr algn="l">
              <a:spcAft>
                <a:spcPts val="0"/>
              </a:spcAft>
            </a:pPr>
            <a:r>
              <a:rPr sz="1400" b="1" i="0">
                <a:solidFill>
                  <a:srgbClr val="FFFFFF"/>
                </a:solidFill>
                <a:latin typeface="Calibri"/>
              </a:rPr>
              <a:t>Passenger miss  </a:t>
            </a:r>
            <a:r>
              <a:rPr sz="1400" b="0" i="1">
                <a:solidFill>
                  <a:srgbClr val="E9A13B"/>
                </a:solidFill>
                <a:latin typeface="Calibri"/>
              </a:rPr>
              <a:t>[total]</a:t>
            </a:r>
            <a:r>
              <a:rPr sz="1400" b="0" i="0">
                <a:solidFill>
                  <a:srgbClr val="D5DCE6"/>
                </a:solidFill>
                <a:latin typeface="Calibri"/>
              </a:rPr>
              <a:t> = boardings </a:t>
            </a:r>
            <a:r>
              <a:rPr sz="1400" b="0" i="1">
                <a:solidFill>
                  <a:srgbClr val="E9A13B"/>
                </a:solidFill>
                <a:latin typeface="Calibri"/>
              </a:rPr>
              <a:t>[TSA chain]</a:t>
            </a:r>
            <a:r>
              <a:rPr sz="1400" b="0" i="0">
                <a:solidFill>
                  <a:srgbClr val="D5DCE6"/>
                </a:solidFill>
                <a:latin typeface="Calibri"/>
              </a:rPr>
              <a:t> + trip factor </a:t>
            </a:r>
            <a:r>
              <a:rPr sz="1400" b="0" i="1">
                <a:solidFill>
                  <a:srgbClr val="E9A13B"/>
                </a:solidFill>
                <a:latin typeface="Calibri"/>
              </a:rPr>
              <a:t>[the bridge]</a:t>
            </a:r>
          </a:p>
        </p:txBody>
      </p:sp>
      <p:sp>
        <p:nvSpPr>
          <p:cNvPr id="8" name="TextBox 7"/>
          <p:cNvSpPr txBox="1"/>
          <p:nvPr/>
        </p:nvSpPr>
        <p:spPr>
          <a:xfrm>
            <a:off x="548640" y="5806440"/>
            <a:ext cx="6720840" cy="548640"/>
          </a:xfrm>
          <a:prstGeom prst="rect">
            <a:avLst/>
          </a:prstGeom>
          <a:noFill/>
        </p:spPr>
        <p:txBody>
          <a:bodyPr wrap="square" lIns="0" rIns="0" tIns="0" bIns="0" anchor="t">
            <a:spAutoFit/>
          </a:bodyPr>
          <a:lstStyle/>
          <a:p>
            <a:pPr algn="l">
              <a:spcAft>
                <a:spcPts val="0"/>
              </a:spcAft>
            </a:pPr>
            <a:r>
              <a:rPr sz="1400" b="1" i="0">
                <a:solidFill>
                  <a:srgbClr val="FFFFFF"/>
                </a:solidFill>
                <a:latin typeface="Calibri"/>
              </a:rPr>
              <a:t>Why  </a:t>
            </a:r>
            <a:r>
              <a:rPr sz="1400" b="0" i="1">
                <a:solidFill>
                  <a:srgbClr val="E9A13B"/>
                </a:solidFill>
                <a:latin typeface="Calibri"/>
              </a:rPr>
              <a:t>[one sentence: which risk hit, and what it means for the Flag]</a:t>
            </a:r>
          </a:p>
        </p:txBody>
      </p:sp>
      <p:sp>
        <p:nvSpPr>
          <p:cNvPr id="9" name="PoV card"/>
          <p:cNvSpPr/>
          <p:nvPr/>
        </p:nvSpPr>
        <p:spPr>
          <a:xfrm>
            <a:off x="7680959" y="1188720"/>
            <a:ext cx="3962095" cy="5166360"/>
          </a:xfrm>
          <a:prstGeom prst="roundRect">
            <a:avLst>
              <a:gd name="adj" fmla="val 6000"/>
            </a:avLst>
          </a:prstGeom>
          <a:solidFill>
            <a:srgbClr val="223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0999" y="1417320"/>
            <a:ext cx="3322015" cy="274320"/>
          </a:xfrm>
          <a:prstGeom prst="rect">
            <a:avLst/>
          </a:prstGeom>
          <a:noFill/>
        </p:spPr>
        <p:txBody>
          <a:bodyPr wrap="square" lIns="0" rIns="0" tIns="0" bIns="0" anchor="t">
            <a:spAutoFit/>
          </a:bodyPr>
          <a:lstStyle/>
          <a:p>
            <a:pPr algn="l">
              <a:spcAft>
                <a:spcPts val="0"/>
              </a:spcAft>
            </a:pPr>
            <a:r>
              <a:rPr sz="1200" b="1" i="0">
                <a:solidFill>
                  <a:srgbClr val="E9A13B"/>
                </a:solidFill>
                <a:latin typeface="Calibri"/>
              </a:rPr>
              <a:t>OUR POV  ·  TEAM FLAG</a:t>
            </a:r>
          </a:p>
        </p:txBody>
      </p:sp>
      <p:sp>
        <p:nvSpPr>
          <p:cNvPr id="11" name="TextBox 10"/>
          <p:cNvSpPr txBox="1"/>
          <p:nvPr/>
        </p:nvSpPr>
        <p:spPr>
          <a:xfrm>
            <a:off x="8000999" y="1737360"/>
            <a:ext cx="3322015" cy="109728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Sell the passenger nowcast and the fare attribution, with a regime flag. Don't sell the revenue point as beating naive.</a:t>
            </a:r>
          </a:p>
        </p:txBody>
      </p:sp>
      <p:sp>
        <p:nvSpPr>
          <p:cNvPr id="12" name="TextBox 11"/>
          <p:cNvSpPr txBox="1"/>
          <p:nvPr/>
        </p:nvSpPr>
        <p:spPr>
          <a:xfrm>
            <a:off x="8000999" y="2926080"/>
            <a:ext cx="3322015" cy="274320"/>
          </a:xfrm>
          <a:prstGeom prst="rect">
            <a:avLst/>
          </a:prstGeom>
          <a:noFill/>
        </p:spPr>
        <p:txBody>
          <a:bodyPr wrap="square" lIns="0" rIns="0" tIns="0" bIns="0" anchor="t">
            <a:spAutoFit/>
          </a:bodyPr>
          <a:lstStyle/>
          <a:p>
            <a:pPr algn="l">
              <a:spcAft>
                <a:spcPts val="0"/>
              </a:spcAft>
            </a:pPr>
            <a:r>
              <a:rPr sz="1200" b="1" i="0">
                <a:solidFill>
                  <a:srgbClr val="AEB8C6"/>
                </a:solidFill>
                <a:latin typeface="Calibri"/>
              </a:rPr>
              <a:t>DOWNGRADE TRIGGERS AFTER Q3</a:t>
            </a:r>
          </a:p>
        </p:txBody>
      </p:sp>
      <p:sp>
        <p:nvSpPr>
          <p:cNvPr id="13" name="TextBox 12"/>
          <p:cNvSpPr txBox="1"/>
          <p:nvPr/>
        </p:nvSpPr>
        <p:spPr>
          <a:xfrm>
            <a:off x="8000999" y="3291840"/>
            <a:ext cx="1996135" cy="548640"/>
          </a:xfrm>
          <a:prstGeom prst="rect">
            <a:avLst/>
          </a:prstGeom>
          <a:noFill/>
        </p:spPr>
        <p:txBody>
          <a:bodyPr wrap="square" lIns="0" rIns="0" tIns="0" bIns="0" anchor="t">
            <a:spAutoFit/>
          </a:bodyPr>
          <a:lstStyle/>
          <a:p>
            <a:pPr algn="l">
              <a:spcAft>
                <a:spcPts val="0"/>
              </a:spcAft>
            </a:pPr>
            <a:r>
              <a:rPr sz="1400" b="0" i="0">
                <a:solidFill>
                  <a:srgbClr val="D5DCE6"/>
                </a:solidFill>
                <a:latin typeface="Calibri"/>
              </a:rPr>
              <a:t>Trip factor &gt;1.5 pt off forecast</a:t>
            </a:r>
          </a:p>
        </p:txBody>
      </p:sp>
      <p:sp>
        <p:nvSpPr>
          <p:cNvPr id="14" name="TextBox 13"/>
          <p:cNvSpPr txBox="1"/>
          <p:nvPr/>
        </p:nvSpPr>
        <p:spPr>
          <a:xfrm>
            <a:off x="10042855" y="3291840"/>
            <a:ext cx="1325880" cy="548640"/>
          </a:xfrm>
          <a:prstGeom prst="rect">
            <a:avLst/>
          </a:prstGeom>
          <a:noFill/>
        </p:spPr>
        <p:txBody>
          <a:bodyPr wrap="square" lIns="0" rIns="0" tIns="0" bIns="0" anchor="t">
            <a:spAutoFit/>
          </a:bodyPr>
          <a:lstStyle/>
          <a:p>
            <a:pPr algn="r">
              <a:spcAft>
                <a:spcPts val="0"/>
              </a:spcAft>
            </a:pPr>
            <a:r>
              <a:rPr sz="1300" b="0" i="1">
                <a:solidFill>
                  <a:srgbClr val="E9A13B"/>
                </a:solidFill>
                <a:latin typeface="Calibri"/>
              </a:rPr>
              <a:t>[after the print]</a:t>
            </a:r>
          </a:p>
        </p:txBody>
      </p:sp>
      <p:sp>
        <p:nvSpPr>
          <p:cNvPr id="15" name="TextBox 14"/>
          <p:cNvSpPr txBox="1"/>
          <p:nvPr/>
        </p:nvSpPr>
        <p:spPr>
          <a:xfrm>
            <a:off x="8000999" y="3858768"/>
            <a:ext cx="1996135" cy="548640"/>
          </a:xfrm>
          <a:prstGeom prst="rect">
            <a:avLst/>
          </a:prstGeom>
          <a:noFill/>
        </p:spPr>
        <p:txBody>
          <a:bodyPr wrap="square" lIns="0" rIns="0" tIns="0" bIns="0" anchor="t">
            <a:spAutoFit/>
          </a:bodyPr>
          <a:lstStyle/>
          <a:p>
            <a:pPr algn="l">
              <a:spcAft>
                <a:spcPts val="0"/>
              </a:spcAft>
            </a:pPr>
            <a:r>
              <a:rPr sz="1400" b="0" i="0">
                <a:solidFill>
                  <a:srgbClr val="D5DCE6"/>
                </a:solidFill>
                <a:latin typeface="Calibri"/>
              </a:rPr>
              <a:t>TSA chain loses to B1</a:t>
            </a:r>
          </a:p>
        </p:txBody>
      </p:sp>
      <p:sp>
        <p:nvSpPr>
          <p:cNvPr id="16" name="TextBox 15"/>
          <p:cNvSpPr txBox="1"/>
          <p:nvPr/>
        </p:nvSpPr>
        <p:spPr>
          <a:xfrm>
            <a:off x="10042855" y="3858768"/>
            <a:ext cx="1325880" cy="548640"/>
          </a:xfrm>
          <a:prstGeom prst="rect">
            <a:avLst/>
          </a:prstGeom>
          <a:noFill/>
        </p:spPr>
        <p:txBody>
          <a:bodyPr wrap="square" lIns="0" rIns="0" tIns="0" bIns="0" anchor="t">
            <a:spAutoFit/>
          </a:bodyPr>
          <a:lstStyle/>
          <a:p>
            <a:pPr algn="r">
              <a:spcAft>
                <a:spcPts val="0"/>
              </a:spcAft>
            </a:pPr>
            <a:r>
              <a:rPr sz="1300" b="0" i="1">
                <a:solidFill>
                  <a:srgbClr val="E9A13B"/>
                </a:solidFill>
                <a:latin typeface="Calibri"/>
              </a:rPr>
              <a:t>[after the print]</a:t>
            </a:r>
          </a:p>
        </p:txBody>
      </p:sp>
      <p:sp>
        <p:nvSpPr>
          <p:cNvPr id="17" name="TextBox 16"/>
          <p:cNvSpPr txBox="1"/>
          <p:nvPr/>
        </p:nvSpPr>
        <p:spPr>
          <a:xfrm>
            <a:off x="8000999" y="4425696"/>
            <a:ext cx="1996135" cy="548640"/>
          </a:xfrm>
          <a:prstGeom prst="rect">
            <a:avLst/>
          </a:prstGeom>
          <a:noFill/>
        </p:spPr>
        <p:txBody>
          <a:bodyPr wrap="square" lIns="0" rIns="0" tIns="0" bIns="0" anchor="t">
            <a:spAutoFit/>
          </a:bodyPr>
          <a:lstStyle/>
          <a:p>
            <a:pPr algn="l">
              <a:spcAft>
                <a:spcPts val="0"/>
              </a:spcAft>
            </a:pPr>
            <a:r>
              <a:rPr sz="1400" b="0" i="0">
                <a:solidFill>
                  <a:srgbClr val="D5DCE6"/>
                </a:solidFill>
                <a:latin typeface="Calibri"/>
              </a:rPr>
              <a:t>Chain and regression split &gt;2%</a:t>
            </a:r>
          </a:p>
        </p:txBody>
      </p:sp>
      <p:sp>
        <p:nvSpPr>
          <p:cNvPr id="18" name="TextBox 17"/>
          <p:cNvSpPr txBox="1"/>
          <p:nvPr/>
        </p:nvSpPr>
        <p:spPr>
          <a:xfrm>
            <a:off x="10042855" y="4425696"/>
            <a:ext cx="1325880" cy="548640"/>
          </a:xfrm>
          <a:prstGeom prst="rect">
            <a:avLst/>
          </a:prstGeom>
          <a:noFill/>
        </p:spPr>
        <p:txBody>
          <a:bodyPr wrap="square" lIns="0" rIns="0" tIns="0" bIns="0" anchor="t">
            <a:spAutoFit/>
          </a:bodyPr>
          <a:lstStyle/>
          <a:p>
            <a:pPr algn="r">
              <a:spcAft>
                <a:spcPts val="0"/>
              </a:spcAft>
            </a:pPr>
            <a:r>
              <a:rPr sz="1300" b="1" i="0">
                <a:solidFill>
                  <a:srgbClr val="E9A13B"/>
                </a:solidFill>
                <a:latin typeface="Calibri"/>
              </a:rPr>
              <a:t>raised (2.1%)</a:t>
            </a:r>
          </a:p>
        </p:txBody>
      </p:sp>
      <p:sp>
        <p:nvSpPr>
          <p:cNvPr id="19" name="TextBox 18"/>
          <p:cNvSpPr txBox="1"/>
          <p:nvPr/>
        </p:nvSpPr>
        <p:spPr>
          <a:xfrm>
            <a:off x="8000999" y="4992624"/>
            <a:ext cx="1996135" cy="548640"/>
          </a:xfrm>
          <a:prstGeom prst="rect">
            <a:avLst/>
          </a:prstGeom>
          <a:noFill/>
        </p:spPr>
        <p:txBody>
          <a:bodyPr wrap="square" lIns="0" rIns="0" tIns="0" bIns="0" anchor="t">
            <a:spAutoFit/>
          </a:bodyPr>
          <a:lstStyle/>
          <a:p>
            <a:pPr algn="l">
              <a:spcAft>
                <a:spcPts val="0"/>
              </a:spcAft>
            </a:pPr>
            <a:r>
              <a:rPr sz="1400" b="0" i="0">
                <a:solidFill>
                  <a:srgbClr val="D5DCE6"/>
                </a:solidFill>
                <a:latin typeface="Calibri"/>
              </a:rPr>
              <a:t>Southwest's TSA share negative two months</a:t>
            </a:r>
          </a:p>
        </p:txBody>
      </p:sp>
      <p:sp>
        <p:nvSpPr>
          <p:cNvPr id="20" name="TextBox 19"/>
          <p:cNvSpPr txBox="1"/>
          <p:nvPr/>
        </p:nvSpPr>
        <p:spPr>
          <a:xfrm>
            <a:off x="10042855" y="4992624"/>
            <a:ext cx="1325880" cy="548640"/>
          </a:xfrm>
          <a:prstGeom prst="rect">
            <a:avLst/>
          </a:prstGeom>
          <a:noFill/>
        </p:spPr>
        <p:txBody>
          <a:bodyPr wrap="square" lIns="0" rIns="0" tIns="0" bIns="0" anchor="t">
            <a:spAutoFit/>
          </a:bodyPr>
          <a:lstStyle/>
          <a:p>
            <a:pPr algn="r">
              <a:spcAft>
                <a:spcPts val="0"/>
              </a:spcAft>
            </a:pPr>
            <a:r>
              <a:rPr sz="1300" b="0" i="1">
                <a:solidFill>
                  <a:srgbClr val="AEB8C6"/>
                </a:solidFill>
                <a:latin typeface="Calibri"/>
              </a:rPr>
              <a:t>check T-100</a:t>
            </a:r>
          </a:p>
        </p:txBody>
      </p:sp>
      <p:sp>
        <p:nvSpPr>
          <p:cNvPr id="21" name="TextBox 20"/>
          <p:cNvSpPr txBox="1"/>
          <p:nvPr/>
        </p:nvSpPr>
        <p:spPr>
          <a:xfrm>
            <a:off x="8000999" y="5559552"/>
            <a:ext cx="1996135" cy="548640"/>
          </a:xfrm>
          <a:prstGeom prst="rect">
            <a:avLst/>
          </a:prstGeom>
          <a:noFill/>
        </p:spPr>
        <p:txBody>
          <a:bodyPr wrap="square" lIns="0" rIns="0" tIns="0" bIns="0" anchor="t">
            <a:spAutoFit/>
          </a:bodyPr>
          <a:lstStyle/>
          <a:p>
            <a:pPr algn="l">
              <a:spcAft>
                <a:spcPts val="0"/>
              </a:spcAft>
            </a:pPr>
            <a:r>
              <a:rPr sz="1400" b="0" i="0">
                <a:solidFill>
                  <a:srgbClr val="D5DCE6"/>
                </a:solidFill>
                <a:latin typeface="Calibri"/>
              </a:rPr>
              <a:t>A funding lapse or TSA collection change</a:t>
            </a:r>
          </a:p>
        </p:txBody>
      </p:sp>
      <p:sp>
        <p:nvSpPr>
          <p:cNvPr id="22" name="TextBox 21"/>
          <p:cNvSpPr txBox="1"/>
          <p:nvPr/>
        </p:nvSpPr>
        <p:spPr>
          <a:xfrm>
            <a:off x="10042855" y="5559552"/>
            <a:ext cx="1325880" cy="548640"/>
          </a:xfrm>
          <a:prstGeom prst="rect">
            <a:avLst/>
          </a:prstGeom>
          <a:noFill/>
        </p:spPr>
        <p:txBody>
          <a:bodyPr wrap="square" lIns="0" rIns="0" tIns="0" bIns="0" anchor="t">
            <a:spAutoFit/>
          </a:bodyPr>
          <a:lstStyle/>
          <a:p>
            <a:pPr algn="r">
              <a:spcAft>
                <a:spcPts val="0"/>
              </a:spcAft>
            </a:pPr>
            <a:r>
              <a:rPr sz="1300" b="1" i="0">
                <a:solidFill>
                  <a:srgbClr val="2A9D8F"/>
                </a:solidFill>
                <a:latin typeface="Calibri"/>
              </a:rPr>
              <a:t>none in Q3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