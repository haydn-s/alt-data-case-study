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Guidance band</c:v>
                </c:pt>
              </c:strCache>
            </c:strRef>
          </c:tx>
          <c:spPr>
            <a:ln w="28575">
              <a:solidFill>
                <a:srgbClr val="2A9D8F"/>
              </a:solidFill>
            </a:ln>
          </c:spPr>
          <c:marker>
            <c:symbol val="none"/>
          </c:marker>
          <c:xVal>
            <c:numRef>
              <c:f>Sheet1!$A$2:$A$26</c:f>
              <c:numCache>
                <c:formatCode>General</c:formatCode>
                <c:ptCount val="25"/>
                <c:pt idx="0">
                  <c:v>208.3</c:v>
                </c:pt>
                <c:pt idx="1">
                  <c:v>209.56</c:v>
                </c:pt>
                <c:pt idx="2">
                  <c:v>210.82</c:v>
                </c:pt>
                <c:pt idx="3">
                  <c:v>212.08</c:v>
                </c:pt>
                <c:pt idx="4">
                  <c:v>213.34</c:v>
                </c:pt>
                <c:pt idx="5">
                  <c:v>214.6</c:v>
                </c:pt>
                <c:pt idx="6">
                  <c:v>215.86</c:v>
                </c:pt>
                <c:pt idx="7">
                  <c:v>217.12</c:v>
                </c:pt>
                <c:pt idx="8">
                  <c:v>218.38</c:v>
                </c:pt>
                <c:pt idx="9">
                  <c:v>219.64</c:v>
                </c:pt>
                <c:pt idx="10">
                  <c:v>220.9</c:v>
                </c:pt>
                <c:pt idx="11">
                  <c:v>222.16</c:v>
                </c:pt>
                <c:pt idx="12">
                  <c:v>223.42</c:v>
                </c:pt>
                <c:pt idx="13">
                  <c:v>224.68</c:v>
                </c:pt>
                <c:pt idx="14">
                  <c:v>225.94</c:v>
                </c:pt>
                <c:pt idx="15">
                  <c:v>227.2</c:v>
                </c:pt>
                <c:pt idx="16">
                  <c:v>228.46</c:v>
                </c:pt>
                <c:pt idx="17">
                  <c:v>229.72</c:v>
                </c:pt>
                <c:pt idx="18">
                  <c:v>230.98</c:v>
                </c:pt>
                <c:pt idx="19">
                  <c:v>232.24</c:v>
                </c:pt>
                <c:pt idx="20">
                  <c:v>233.5</c:v>
                </c:pt>
                <c:pt idx="21">
                  <c:v>234.76</c:v>
                </c:pt>
                <c:pt idx="22">
                  <c:v>236.02</c:v>
                </c:pt>
                <c:pt idx="23">
                  <c:v>237.28</c:v>
                </c:pt>
                <c:pt idx="24">
                  <c:v>238.54</c:v>
                </c:pt>
              </c:numCache>
            </c:numRef>
          </c:xVal>
          <c:yVal>
            <c:numRef>
              <c:f>Sheet1!$B$2:$B$26</c:f>
              <c:numCache>
                <c:formatCode>General</c:formatCode>
                <c:ptCount val="25"/>
                <c:pt idx="0">
                  <c:v>35500.0</c:v>
                </c:pt>
                <c:pt idx="1">
                  <c:v>35286.6</c:v>
                </c:pt>
                <c:pt idx="2">
                  <c:v>35075.7</c:v>
                </c:pt>
                <c:pt idx="3">
                  <c:v>34867.3</c:v>
                </c:pt>
                <c:pt idx="4">
                  <c:v>34661.4</c:v>
                </c:pt>
                <c:pt idx="5">
                  <c:v>34457.9</c:v>
                </c:pt>
                <c:pt idx="6">
                  <c:v>34256.8</c:v>
                </c:pt>
                <c:pt idx="7">
                  <c:v>34058.0</c:v>
                </c:pt>
                <c:pt idx="8">
                  <c:v>33861.5</c:v>
                </c:pt>
                <c:pt idx="9">
                  <c:v>33667.3</c:v>
                </c:pt>
                <c:pt idx="10">
                  <c:v>33475.3</c:v>
                </c:pt>
                <c:pt idx="11">
                  <c:v>33285.4</c:v>
                </c:pt>
                <c:pt idx="12">
                  <c:v>33097.7</c:v>
                </c:pt>
                <c:pt idx="13">
                  <c:v>32912.1</c:v>
                </c:pt>
                <c:pt idx="14">
                  <c:v>32728.6</c:v>
                </c:pt>
                <c:pt idx="15">
                  <c:v>32547.1</c:v>
                </c:pt>
                <c:pt idx="16">
                  <c:v>32367.6</c:v>
                </c:pt>
                <c:pt idx="17">
                  <c:v>32190.1</c:v>
                </c:pt>
                <c:pt idx="18">
                  <c:v>32014.5</c:v>
                </c:pt>
                <c:pt idx="19">
                  <c:v>31840.9</c:v>
                </c:pt>
                <c:pt idx="20">
                  <c:v>31669.1</c:v>
                </c:pt>
                <c:pt idx="21">
                  <c:v>31499.1</c:v>
                </c:pt>
                <c:pt idx="22">
                  <c:v>31331.0</c:v>
                </c:pt>
                <c:pt idx="23">
                  <c:v>31164.6</c:v>
                </c:pt>
                <c:pt idx="24">
                  <c:v>31000.0</c:v>
                </c:pt>
              </c:numCache>
            </c:numRef>
          </c:yVal>
          <c:smooth val="0"/>
        </c:ser>
        <c:ser>
          <c:idx val="1"/>
          <c:order val="1"/>
          <c:tx>
            <c:strRef>
              <c:f>Sheet1!$B$28</c:f>
              <c:strCache>
                <c:ptCount val="1"/>
                <c:pt idx="0">
                  <c:v>Guidance band (upper edge)</c:v>
                </c:pt>
              </c:strCache>
            </c:strRef>
          </c:tx>
          <c:spPr>
            <a:ln w="28575">
              <a:solidFill>
                <a:srgbClr val="2A9D8F"/>
              </a:solidFill>
            </a:ln>
          </c:spPr>
          <c:marker>
            <c:symbol val="none"/>
          </c:marker>
          <c:xVal>
            <c:numRef>
              <c:f>Sheet1!$A$29:$A$53</c:f>
              <c:numCache>
                <c:formatCode>General</c:formatCode>
                <c:ptCount val="25"/>
                <c:pt idx="0">
                  <c:v>213.98</c:v>
                </c:pt>
                <c:pt idx="1">
                  <c:v>215.28</c:v>
                </c:pt>
                <c:pt idx="2">
                  <c:v>216.57</c:v>
                </c:pt>
                <c:pt idx="3">
                  <c:v>217.87</c:v>
                </c:pt>
                <c:pt idx="4">
                  <c:v>219.16</c:v>
                </c:pt>
                <c:pt idx="5">
                  <c:v>220.46</c:v>
                </c:pt>
                <c:pt idx="6">
                  <c:v>221.75</c:v>
                </c:pt>
                <c:pt idx="7">
                  <c:v>223.04</c:v>
                </c:pt>
                <c:pt idx="8">
                  <c:v>224.34</c:v>
                </c:pt>
                <c:pt idx="9">
                  <c:v>225.63</c:v>
                </c:pt>
                <c:pt idx="10">
                  <c:v>226.93</c:v>
                </c:pt>
                <c:pt idx="11">
                  <c:v>228.22</c:v>
                </c:pt>
                <c:pt idx="12">
                  <c:v>229.52</c:v>
                </c:pt>
                <c:pt idx="13">
                  <c:v>230.81</c:v>
                </c:pt>
                <c:pt idx="14">
                  <c:v>232.1</c:v>
                </c:pt>
                <c:pt idx="15">
                  <c:v>233.4</c:v>
                </c:pt>
                <c:pt idx="16">
                  <c:v>234.69</c:v>
                </c:pt>
                <c:pt idx="17">
                  <c:v>235.99</c:v>
                </c:pt>
                <c:pt idx="18">
                  <c:v>237.28</c:v>
                </c:pt>
                <c:pt idx="19">
                  <c:v>238.58</c:v>
                </c:pt>
                <c:pt idx="20">
                  <c:v>239.87</c:v>
                </c:pt>
                <c:pt idx="21">
                  <c:v>241.16</c:v>
                </c:pt>
                <c:pt idx="22">
                  <c:v>242.46</c:v>
                </c:pt>
                <c:pt idx="23">
                  <c:v>243.75</c:v>
                </c:pt>
                <c:pt idx="24">
                  <c:v>245.05</c:v>
                </c:pt>
              </c:numCache>
            </c:numRef>
          </c:xVal>
          <c:yVal>
            <c:numRef>
              <c:f>Sheet1!$B$29:$B$53</c:f>
              <c:numCache>
                <c:formatCode>General</c:formatCode>
                <c:ptCount val="25"/>
                <c:pt idx="0">
                  <c:v>35500.0</c:v>
                </c:pt>
                <c:pt idx="1">
                  <c:v>35286.6</c:v>
                </c:pt>
                <c:pt idx="2">
                  <c:v>35075.7</c:v>
                </c:pt>
                <c:pt idx="3">
                  <c:v>34867.3</c:v>
                </c:pt>
                <c:pt idx="4">
                  <c:v>34661.4</c:v>
                </c:pt>
                <c:pt idx="5">
                  <c:v>34457.9</c:v>
                </c:pt>
                <c:pt idx="6">
                  <c:v>34256.8</c:v>
                </c:pt>
                <c:pt idx="7">
                  <c:v>34058.0</c:v>
                </c:pt>
                <c:pt idx="8">
                  <c:v>33861.5</c:v>
                </c:pt>
                <c:pt idx="9">
                  <c:v>33667.3</c:v>
                </c:pt>
                <c:pt idx="10">
                  <c:v>33475.3</c:v>
                </c:pt>
                <c:pt idx="11">
                  <c:v>33285.4</c:v>
                </c:pt>
                <c:pt idx="12">
                  <c:v>33097.7</c:v>
                </c:pt>
                <c:pt idx="13">
                  <c:v>32912.1</c:v>
                </c:pt>
                <c:pt idx="14">
                  <c:v>32728.6</c:v>
                </c:pt>
                <c:pt idx="15">
                  <c:v>32547.1</c:v>
                </c:pt>
                <c:pt idx="16">
                  <c:v>32367.6</c:v>
                </c:pt>
                <c:pt idx="17">
                  <c:v>32190.1</c:v>
                </c:pt>
                <c:pt idx="18">
                  <c:v>32014.5</c:v>
                </c:pt>
                <c:pt idx="19">
                  <c:v>31840.9</c:v>
                </c:pt>
                <c:pt idx="20">
                  <c:v>31669.1</c:v>
                </c:pt>
                <c:pt idx="21">
                  <c:v>31499.1</c:v>
                </c:pt>
                <c:pt idx="22">
                  <c:v>31331.0</c:v>
                </c:pt>
                <c:pt idx="23">
                  <c:v>31164.6</c:v>
                </c:pt>
                <c:pt idx="24">
                  <c:v>31000.0</c:v>
                </c:pt>
              </c:numCache>
            </c:numRef>
          </c:yVal>
          <c:smooth val="0"/>
        </c:ser>
        <c:ser>
          <c:idx val="2"/>
          <c:order val="2"/>
          <c:tx>
            <c:strRef>
              <c:f>Sheet1!$B$55</c:f>
              <c:strCache>
                <c:ptCount val="1"/>
                <c:pt idx="0">
                  <c:v>Team forecast</c:v>
                </c:pt>
              </c:strCache>
            </c:strRef>
          </c:tx>
          <c:spPr>
            <a:ln>
              <a:noFill/>
            </a:ln>
          </c:spPr>
          <c:marker>
            <c:symbol val="diamond"/>
            <c:size val="12"/>
            <c:spPr>
              <a:solidFill>
                <a:srgbClr val="E9A13B"/>
              </a:solidFill>
              <a:ln>
                <a:solidFill>
                  <a:srgbClr val="FFFFFF"/>
                </a:solidFill>
              </a:ln>
            </c:spPr>
          </c:marker>
          <c:xVal>
            <c:numRef>
              <c:f>Sheet1!$A$56:$A$56</c:f>
              <c:numCache>
                <c:formatCode>General</c:formatCode>
                <c:ptCount val="1"/>
                <c:pt idx="0">
                  <c:v>229.34</c:v>
                </c:pt>
              </c:numCache>
            </c:numRef>
          </c:xVal>
          <c:yVal>
            <c:numRef>
              <c:f>Sheet1!$B$56:$B$56</c:f>
              <c:numCache>
                <c:formatCode>General</c:formatCode>
                <c:ptCount val="1"/>
                <c:pt idx="0">
                  <c:v>32912.0</c:v>
                </c:pt>
              </c:numCache>
            </c:numRef>
          </c:yVal>
          <c:smooth val="0"/>
        </c:ser>
        <c:ser>
          <c:idx val="3"/>
          <c:order val="3"/>
          <c:tx>
            <c:strRef>
              <c:f>Sheet1!$B$58</c:f>
              <c:strCache>
                <c:ptCount val="1"/>
                <c:pt idx="0">
                  <c:v>B0 last year</c:v>
                </c:pt>
              </c:strCache>
            </c:strRef>
          </c:tx>
          <c:spPr>
            <a:ln>
              <a:noFill/>
            </a:ln>
          </c:spPr>
          <c:marker>
            <c:symbol val="circle"/>
            <c:size val="10"/>
            <c:spPr>
              <a:solidFill>
                <a:srgbClr val="8A94A3"/>
              </a:solidFill>
              <a:ln>
                <a:solidFill>
                  <a:srgbClr val="FFFFFF"/>
                </a:solidFill>
              </a:ln>
            </c:spPr>
          </c:marker>
          <c:xVal>
            <c:numRef>
              <c:f>Sheet1!$A$59:$A$59</c:f>
              <c:numCache>
                <c:formatCode>General</c:formatCode>
                <c:ptCount val="1"/>
                <c:pt idx="0">
                  <c:v>182.56</c:v>
                </c:pt>
              </c:numCache>
            </c:numRef>
          </c:xVal>
          <c:yVal>
            <c:numRef>
              <c:f>Sheet1!$B$59:$B$59</c:f>
              <c:numCache>
                <c:formatCode>General</c:formatCode>
                <c:ptCount val="1"/>
                <c:pt idx="0">
                  <c:v>34581.0</c:v>
                </c:pt>
              </c:numCache>
            </c:numRef>
          </c:yVal>
          <c:smooth val="0"/>
        </c:ser>
        <c:ser>
          <c:idx val="4"/>
          <c:order val="4"/>
          <c:tx>
            <c:strRef>
              <c:f>Sheet1!$B$61</c:f>
              <c:strCache>
                <c:ptCount val="1"/>
                <c:pt idx="0">
                  <c:v>B1 packet</c:v>
                </c:pt>
              </c:strCache>
            </c:strRef>
          </c:tx>
          <c:spPr>
            <a:ln>
              <a:noFill/>
            </a:ln>
          </c:spPr>
          <c:marker>
            <c:symbol val="circle"/>
            <c:size val="10"/>
            <c:spPr>
              <a:solidFill>
                <a:srgbClr val="D1495B"/>
              </a:solidFill>
              <a:ln>
                <a:solidFill>
                  <a:srgbClr val="FFFFFF"/>
                </a:solidFill>
              </a:ln>
            </c:spPr>
          </c:marker>
          <c:xVal>
            <c:numRef>
              <c:f>Sheet1!$A$62:$A$62</c:f>
              <c:numCache>
                <c:formatCode>General</c:formatCode>
                <c:ptCount val="1"/>
                <c:pt idx="0">
                  <c:v>220.67</c:v>
                </c:pt>
              </c:numCache>
            </c:numRef>
          </c:xVal>
          <c:yVal>
            <c:numRef>
              <c:f>Sheet1!$B$62:$B$62</c:f>
              <c:numCache>
                <c:formatCode>General</c:formatCode>
                <c:ptCount val="1"/>
                <c:pt idx="0">
                  <c:v>33435.67</c:v>
                </c:pt>
              </c:numCache>
            </c:numRef>
          </c:yVal>
          <c:smooth val="0"/>
        </c:ser>
        <c:ser>
          <c:idx val="5"/>
          <c:order val="5"/>
          <c:tx>
            <c:strRef>
              <c:f>Sheet1!$B$64</c:f>
              <c:strCache>
                <c:ptCount val="1"/>
                <c:pt idx="0">
                  <c:v>B1 ex-breakage</c:v>
                </c:pt>
              </c:strCache>
            </c:strRef>
          </c:tx>
          <c:spPr>
            <a:ln>
              <a:noFill/>
            </a:ln>
          </c:spPr>
          <c:marker>
            <c:symbol val="circle"/>
            <c:size val="10"/>
            <c:spPr>
              <a:solidFill>
                <a:srgbClr val="8E2C3A"/>
              </a:solidFill>
              <a:ln>
                <a:solidFill>
                  <a:srgbClr val="FFFFFF"/>
                </a:solidFill>
              </a:ln>
            </c:spPr>
          </c:marker>
          <c:xVal>
            <c:numRef>
              <c:f>Sheet1!$A$65:$A$65</c:f>
              <c:numCache>
                <c:formatCode>General</c:formatCode>
                <c:ptCount val="1"/>
                <c:pt idx="0">
                  <c:v>228.78</c:v>
                </c:pt>
              </c:numCache>
            </c:numRef>
          </c:xVal>
          <c:yVal>
            <c:numRef>
              <c:f>Sheet1!$B$65:$B$65</c:f>
              <c:numCache>
                <c:formatCode>General</c:formatCode>
                <c:ptCount val="1"/>
                <c:pt idx="0">
                  <c:v>33435.67</c:v>
                </c:pt>
              </c:numCache>
            </c:numRef>
          </c:yVal>
          <c:smooth val="0"/>
        </c:ser>
        <c:ser>
          <c:idx val="6"/>
          <c:order val="6"/>
          <c:tx>
            <c:strRef>
              <c:f>Sheet1!$B$67</c:f>
              <c:strCache>
                <c:ptCount val="1"/>
                <c:pt idx="0">
                  <c:v>Team 80% interval</c:v>
                </c:pt>
              </c:strCache>
            </c:strRef>
          </c:tx>
          <c:spPr>
            <a:ln w="19050">
              <a:solidFill>
                <a:srgbClr val="E9A13B"/>
              </a:solidFill>
            </a:ln>
          </c:spPr>
          <c:marker>
            <c:symbol val="none"/>
          </c:marker>
          <c:xVal>
            <c:numRef>
              <c:f>Sheet1!$A$68:$A$69</c:f>
              <c:numCache>
                <c:formatCode>General</c:formatCode>
                <c:ptCount val="2"/>
                <c:pt idx="0">
                  <c:v>215.865</c:v>
                </c:pt>
                <c:pt idx="1">
                  <c:v>242.815</c:v>
                </c:pt>
              </c:numCache>
            </c:numRef>
          </c:xVal>
          <c:yVal>
            <c:numRef>
              <c:f>Sheet1!$B$68:$B$69</c:f>
              <c:numCache>
                <c:formatCode>General</c:formatCode>
                <c:ptCount val="2"/>
                <c:pt idx="0">
                  <c:v>32912.0</c:v>
                </c:pt>
                <c:pt idx="1">
                  <c:v>32912.0</c:v>
                </c:pt>
              </c:numCache>
            </c:numRef>
          </c:yVal>
          <c:smooth val="0"/>
        </c:ser>
        <c:ser>
          <c:idx val="7"/>
          <c:order val="7"/>
          <c:tx>
            <c:strRef>
              <c:f>Sheet1!$B$71</c:f>
              <c:strCache>
                <c:ptCount val="1"/>
                <c:pt idx="0">
                  <c:v>Team 80% interval (passengers)</c:v>
                </c:pt>
              </c:strCache>
            </c:strRef>
          </c:tx>
          <c:spPr>
            <a:ln w="19050">
              <a:solidFill>
                <a:srgbClr val="E9A13B"/>
              </a:solidFill>
            </a:ln>
          </c:spPr>
          <c:marker>
            <c:symbol val="none"/>
          </c:marker>
          <c:xVal>
            <c:numRef>
              <c:f>Sheet1!$A$72:$A$73</c:f>
              <c:numCache>
                <c:formatCode>General</c:formatCode>
                <c:ptCount val="2"/>
                <c:pt idx="0">
                  <c:v>229.34</c:v>
                </c:pt>
                <c:pt idx="1">
                  <c:v>229.34</c:v>
                </c:pt>
              </c:numCache>
            </c:numRef>
          </c:xVal>
          <c:yVal>
            <c:numRef>
              <c:f>Sheet1!$B$72:$B$73</c:f>
              <c:numCache>
                <c:formatCode>General</c:formatCode>
                <c:ptCount val="2"/>
                <c:pt idx="0">
                  <c:v>31911.5439</c:v>
                </c:pt>
                <c:pt idx="1">
                  <c:v>33912.4561</c:v>
                </c:pt>
              </c:numCache>
            </c:numRef>
          </c:yVal>
          <c:smooth val="0"/>
        </c:ser>
        <c:axId val="-2128940872"/>
        <c:axId val="-2129643912"/>
      </c:scatterChart>
      <c:valAx>
        <c:axId val="-2128940872"/>
        <c:scaling>
          <c:orientation val="minMax"/>
          <c:max val="250.0"/>
          <c:min val="180.0"/>
        </c:scaling>
        <c:delete val="0"/>
        <c:axPos val="b"/>
        <c:title>
          <c:tx>
            <c:rich>
              <a:bodyPr/>
              <a:lstStyle/>
              <a:p>
                <a:r>
                  <a:rPr sz="1200" b="0">
                    <a:solidFill>
                      <a:srgbClr val="5B6573"/>
                    </a:solidFill>
                    <a:latin typeface="Calibri"/>
                  </a:rPr>
                  <a:t>Average fare ($)</a:t>
                </a:r>
              </a:p>
            </c:rich>
          </c:tx>
          <c:layout/>
          <c:overlay val="0"/>
        </c:title>
        <c:numFmt formatCode="&quot;$&quot;0" sourceLinked="0"/>
        <c:majorTickMark val="out"/>
        <c:minorTickMark val="none"/>
        <c:tickLblPos val="nextTo"/>
        <c:spPr>
          <a:ln>
            <a:solidFill>
              <a:srgbClr val="C9D1DC"/>
            </a:solidFill>
          </a:ln>
        </c:spPr>
        <c:txPr>
          <a:bodyPr/>
          <a:lstStyle/>
          <a:p>
            <a:pPr>
              <a:defRPr sz="1200">
                <a:solidFill>
                  <a:srgbClr val="5B6573"/>
                </a:solidFill>
                <a:latin typeface="Calibri"/>
              </a:defRPr>
            </a:pPr>
          </a:p>
        </c:txPr>
        <c:crossAx val="-2129643912"/>
        <c:crosses val="autoZero"/>
        <c:crossBetween val="midCat"/>
        <c:majorUnit val="10.0"/>
      </c:valAx>
      <c:valAx>
        <c:axId val="-2129643912"/>
        <c:scaling>
          <c:orientation val="minMax"/>
          <c:max val="35500.0"/>
          <c:min val="31000.0"/>
        </c:scaling>
        <c:delete val="0"/>
        <c:axPos val="l"/>
        <c:majorGridlines>
          <c:spPr>
            <a:ln>
              <a:solidFill>
                <a:srgbClr val="E3E8EF"/>
              </a:solidFill>
            </a:ln>
          </c:spPr>
        </c:majorGridlines>
        <c:title>
          <c:tx>
            <c:rich>
              <a:bodyPr/>
              <a:lstStyle/>
              <a:p>
                <a:r>
                  <a:rPr sz="1200" b="0">
                    <a:solidFill>
                      <a:srgbClr val="5B6573"/>
                    </a:solidFill>
                    <a:latin typeface="Calibri"/>
                  </a:rPr>
                  <a:t>Revenue passengers (000s)</a:t>
                </a:r>
              </a:p>
            </c:rich>
          </c:tx>
          <c:layout/>
          <c:overlay val="0"/>
        </c:title>
        <c:numFmt formatCode="#,##0" sourceLinked="0"/>
        <c:majorTickMark val="out"/>
        <c:minorTickMark val="none"/>
        <c:tickLblPos val="nextTo"/>
        <c:spPr>
          <a:ln>
            <a:solidFill>
              <a:srgbClr val="C9D1DC"/>
            </a:solidFill>
          </a:ln>
        </c:spPr>
        <c:txPr>
          <a:bodyPr/>
          <a:lstStyle/>
          <a:p>
            <a:pPr>
              <a:defRPr sz="1200">
                <a:solidFill>
                  <a:srgbClr val="5B6573"/>
                </a:solidFill>
                <a:latin typeface="Calibri"/>
              </a:defRPr>
            </a:pPr>
          </a:p>
        </c:txPr>
        <c:crossAx val="-2128940872"/>
        <c:crosses val="autoZero"/>
        <c:crossBetween val="midCat"/>
        <c:majorUnit val="1000.0"/>
      </c:valAx>
    </c:plotArea>
    <c:legend>
      <c:legendPos val="b"/>
      <c:legendEntry>
        <c:idx val="7"/>
        <c:delete val="1"/>
      </c:legendEntry>
      <c:legendEntry>
        <c:idx val="1"/>
        <c:delete val="1"/>
      </c:legendEntry>
      <c:layout/>
      <c:overlay val="0"/>
      <c:txPr>
        <a:bodyPr/>
        <a:lstStyle/>
        <a:p>
          <a:pPr>
            <a:defRPr sz="1200">
              <a:solidFill>
                <a:srgbClr val="5B6573"/>
              </a:solidFill>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5202B"/>
                </a:solidFill>
                <a:latin typeface="Calibri"/>
              </a:rPr>
              <a:t>2023–2024, pre fee change</a:t>
            </a:r>
          </a:p>
        </c:rich>
      </c:tx>
      <c:layout/>
      <c:overlay val="0"/>
    </c:title>
    <c:autoTitleDeleted val="0"/>
    <c:plotArea>
      <c:barChart>
        <c:barDir val="col"/>
        <c:grouping val="clustered"/>
        <c:ser>
          <c:idx val="0"/>
          <c:order val="0"/>
          <c:tx>
            <c:strRef>
              <c:f>Sheet1!$B$1</c:f>
              <c:strCache>
                <c:ptCount val="1"/>
                <c:pt idx="0">
                  <c:v>Our method</c:v>
                </c:pt>
              </c:strCache>
            </c:strRef>
          </c:tx>
          <c:spPr>
            <a:solidFill>
              <a:srgbClr val="1F3B73"/>
            </a:solidFill>
          </c:spPr>
          <c:cat>
            <c:strRef>
              <c:f>Sheet1!$A$2:$A$4</c:f>
              <c:strCache>
                <c:ptCount val="3"/>
                <c:pt idx="0">
                  <c:v>Passengers</c:v>
                </c:pt>
                <c:pt idx="1">
                  <c:v>Fare</c:v>
                </c:pt>
                <c:pt idx="2">
                  <c:v>Revenue</c:v>
                </c:pt>
              </c:strCache>
            </c:strRef>
          </c:cat>
          <c:val>
            <c:numRef>
              <c:f>Sheet1!$B$2:$B$4</c:f>
              <c:numCache>
                <c:formatCode>General</c:formatCode>
                <c:ptCount val="3"/>
                <c:pt idx="0">
                  <c:v>2.52</c:v>
                </c:pt>
                <c:pt idx="1">
                  <c:v>3.71</c:v>
                </c:pt>
                <c:pt idx="2">
                  <c:v>3.0</c:v>
                </c:pt>
              </c:numCache>
            </c:numRef>
          </c:val>
        </c:ser>
        <c:ser>
          <c:idx val="1"/>
          <c:order val="1"/>
          <c:tx>
            <c:strRef>
              <c:f>Sheet1!$C$1</c:f>
              <c:strCache>
                <c:ptCount val="1"/>
                <c:pt idx="0">
                  <c:v>B1 naive</c:v>
                </c:pt>
              </c:strCache>
            </c:strRef>
          </c:tx>
          <c:spPr>
            <a:solidFill>
              <a:srgbClr val="D1495B"/>
            </a:solidFill>
          </c:spPr>
          <c:cat>
            <c:strRef>
              <c:f>Sheet1!$A$2:$A$4</c:f>
              <c:strCache>
                <c:ptCount val="3"/>
                <c:pt idx="0">
                  <c:v>Passengers</c:v>
                </c:pt>
                <c:pt idx="1">
                  <c:v>Fare</c:v>
                </c:pt>
                <c:pt idx="2">
                  <c:v>Revenue</c:v>
                </c:pt>
              </c:strCache>
            </c:strRef>
          </c:cat>
          <c:val>
            <c:numRef>
              <c:f>Sheet1!$C$2:$C$4</c:f>
              <c:numCache>
                <c:formatCode>General</c:formatCode>
                <c:ptCount val="3"/>
                <c:pt idx="0">
                  <c:v>4.65</c:v>
                </c:pt>
                <c:pt idx="1">
                  <c:v>3.39</c:v>
                </c:pt>
                <c:pt idx="2">
                  <c:v>4.75</c:v>
                </c:pt>
              </c:numCache>
            </c:numRef>
          </c:val>
        </c:ser>
        <c:dLbls>
          <c:numFmt formatCode="0.0&quot;%&quot;" sourceLinked="0"/>
          <c:txPr>
            <a:bodyPr/>
            <a:lstStyle/>
            <a:p>
              <a:pPr>
                <a:defRPr sz="1200">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C"/>
            </a:solidFill>
          </a:ln>
        </c:spPr>
        <c:txPr>
          <a:bodyPr/>
          <a:lstStyle/>
          <a:p>
            <a:pPr>
              <a:defRPr sz="1200">
                <a:solidFill>
                  <a:srgbClr val="5B6573"/>
                </a:solidFill>
                <a:latin typeface="Calibri"/>
              </a:defRPr>
            </a:pPr>
          </a:p>
        </c:txPr>
        <c:crossAx val="-2113994440"/>
        <c:crosses val="autoZero"/>
        <c:auto val="1"/>
        <c:lblAlgn val="ctr"/>
        <c:lblOffset val="100"/>
        <c:noMultiLvlLbl val="0"/>
      </c:catAx>
      <c:valAx>
        <c:axId val="-2113994440"/>
        <c:scaling>
          <c:max val="6.0"/>
          <c:min val="0.0"/>
        </c:scaling>
        <c:delete val="0"/>
        <c:axPos val="l"/>
        <c:majorGridlines>
          <c:spPr>
            <a:ln>
              <a:solidFill>
                <a:srgbClr val="E3E8EF"/>
              </a:solidFill>
            </a:ln>
          </c:spPr>
        </c:majorGridlines>
        <c:numFmt formatCode="0&quot;%&quot;" sourceLinked="0"/>
        <c:majorTickMark val="out"/>
        <c:minorTickMark val="none"/>
        <c:tickLblPos val="nextTo"/>
        <c:spPr>
          <a:ln>
            <a:noFill/>
          </a:ln>
        </c:spPr>
        <c:txPr>
          <a:bodyPr/>
          <a:lstStyle/>
          <a:p>
            <a:pPr>
              <a:defRPr sz="1200">
                <a:solidFill>
                  <a:srgbClr val="5B6573"/>
                </a:solidFill>
                <a:latin typeface="Calibri"/>
              </a:defRPr>
            </a:pPr>
          </a:p>
        </c:txPr>
        <c:crossAx val="-2068027336"/>
        <c:crosses val="autoZero"/>
        <c:majorUnit val="2.0"/>
      </c:valAx>
    </c:plotArea>
    <c:legend>
      <c:legendPos val="b"/>
      <c:overlay val="0"/>
      <c:txPr>
        <a:bodyPr/>
        <a:lstStyle/>
        <a:p>
          <a:pPr>
            <a:defRPr sz="1200">
              <a:solidFill>
                <a:srgbClr val="5B6573"/>
              </a:solidFill>
            </a:defRPr>
          </a:pPr>
        </a:p>
      </c:txPr>
    </c:legend>
    <c:dispBlanksAs val="gap"/>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5202B"/>
                </a:solidFill>
                <a:latin typeface="Calibri"/>
              </a:rPr>
              <a:t>2025–2026, fee + model change</a:t>
            </a:r>
          </a:p>
        </c:rich>
      </c:tx>
      <c:layout/>
      <c:overlay val="0"/>
    </c:title>
    <c:autoTitleDeleted val="0"/>
    <c:plotArea>
      <c:barChart>
        <c:barDir val="col"/>
        <c:grouping val="clustered"/>
        <c:ser>
          <c:idx val="0"/>
          <c:order val="0"/>
          <c:tx>
            <c:strRef>
              <c:f>Sheet1!$B$1</c:f>
              <c:strCache>
                <c:ptCount val="1"/>
                <c:pt idx="0">
                  <c:v>Our method</c:v>
                </c:pt>
              </c:strCache>
            </c:strRef>
          </c:tx>
          <c:spPr>
            <a:solidFill>
              <a:srgbClr val="1F3B73"/>
            </a:solidFill>
          </c:spPr>
          <c:cat>
            <c:strRef>
              <c:f>Sheet1!$A$2:$A$4</c:f>
              <c:strCache>
                <c:ptCount val="3"/>
                <c:pt idx="0">
                  <c:v>Passengers</c:v>
                </c:pt>
                <c:pt idx="1">
                  <c:v>Fare</c:v>
                </c:pt>
                <c:pt idx="2">
                  <c:v>Revenue</c:v>
                </c:pt>
              </c:strCache>
            </c:strRef>
          </c:cat>
          <c:val>
            <c:numRef>
              <c:f>Sheet1!$B$2:$B$4</c:f>
              <c:numCache>
                <c:formatCode>General</c:formatCode>
                <c:ptCount val="3"/>
                <c:pt idx="0">
                  <c:v>1.5</c:v>
                </c:pt>
                <c:pt idx="1">
                  <c:v>4.42</c:v>
                </c:pt>
                <c:pt idx="2">
                  <c:v>3.51</c:v>
                </c:pt>
              </c:numCache>
            </c:numRef>
          </c:val>
        </c:ser>
        <c:ser>
          <c:idx val="1"/>
          <c:order val="1"/>
          <c:tx>
            <c:strRef>
              <c:f>Sheet1!$C$1</c:f>
              <c:strCache>
                <c:ptCount val="1"/>
                <c:pt idx="0">
                  <c:v>B1 naive</c:v>
                </c:pt>
              </c:strCache>
            </c:strRef>
          </c:tx>
          <c:spPr>
            <a:solidFill>
              <a:srgbClr val="D1495B"/>
            </a:solidFill>
          </c:spPr>
          <c:cat>
            <c:strRef>
              <c:f>Sheet1!$A$2:$A$4</c:f>
              <c:strCache>
                <c:ptCount val="3"/>
                <c:pt idx="0">
                  <c:v>Passengers</c:v>
                </c:pt>
                <c:pt idx="1">
                  <c:v>Fare</c:v>
                </c:pt>
                <c:pt idx="2">
                  <c:v>Revenue</c:v>
                </c:pt>
              </c:strCache>
            </c:strRef>
          </c:cat>
          <c:val>
            <c:numRef>
              <c:f>Sheet1!$C$2:$C$4</c:f>
              <c:numCache>
                <c:formatCode>General</c:formatCode>
                <c:ptCount val="3"/>
                <c:pt idx="0">
                  <c:v>2.64</c:v>
                </c:pt>
                <c:pt idx="1">
                  <c:v>4.95</c:v>
                </c:pt>
                <c:pt idx="2">
                  <c:v>3.85</c:v>
                </c:pt>
              </c:numCache>
            </c:numRef>
          </c:val>
        </c:ser>
        <c:dLbls>
          <c:numFmt formatCode="0.0&quot;%&quot;" sourceLinked="0"/>
          <c:txPr>
            <a:bodyPr/>
            <a:lstStyle/>
            <a:p>
              <a:pPr>
                <a:defRPr sz="1200">
                  <a:solidFill>
                    <a:srgbClr val="1B1F24"/>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9D1DC"/>
            </a:solidFill>
          </a:ln>
        </c:spPr>
        <c:txPr>
          <a:bodyPr/>
          <a:lstStyle/>
          <a:p>
            <a:pPr>
              <a:defRPr sz="1200">
                <a:solidFill>
                  <a:srgbClr val="5B6573"/>
                </a:solidFill>
                <a:latin typeface="Calibri"/>
              </a:defRPr>
            </a:pPr>
          </a:p>
        </c:txPr>
        <c:crossAx val="-2113994440"/>
        <c:crosses val="autoZero"/>
        <c:auto val="1"/>
        <c:lblAlgn val="ctr"/>
        <c:lblOffset val="100"/>
        <c:noMultiLvlLbl val="0"/>
      </c:catAx>
      <c:valAx>
        <c:axId val="-2113994440"/>
        <c:scaling>
          <c:max val="6.0"/>
          <c:min val="0.0"/>
        </c:scaling>
        <c:delete val="0"/>
        <c:axPos val="l"/>
        <c:majorGridlines>
          <c:spPr>
            <a:ln>
              <a:solidFill>
                <a:srgbClr val="E3E8EF"/>
              </a:solidFill>
            </a:ln>
          </c:spPr>
        </c:majorGridlines>
        <c:numFmt formatCode="0&quot;%&quot;" sourceLinked="0"/>
        <c:majorTickMark val="out"/>
        <c:minorTickMark val="none"/>
        <c:tickLblPos val="nextTo"/>
        <c:spPr>
          <a:ln>
            <a:noFill/>
          </a:ln>
        </c:spPr>
        <c:txPr>
          <a:bodyPr/>
          <a:lstStyle/>
          <a:p>
            <a:pPr>
              <a:defRPr sz="1200">
                <a:solidFill>
                  <a:srgbClr val="5B6573"/>
                </a:solidFill>
                <a:latin typeface="Calibri"/>
              </a:defRPr>
            </a:pPr>
          </a:p>
        </c:txPr>
        <c:crossAx val="-2068027336"/>
        <c:crosses val="autoZero"/>
        <c:majorUnit val="2.0"/>
      </c:valAx>
    </c:plotArea>
    <c:legend>
      <c:legendPos val="b"/>
      <c:overlay val="0"/>
      <c:txPr>
        <a:bodyPr/>
        <a:lstStyle/>
        <a:p>
          <a:pPr>
            <a:defRPr sz="1200">
              <a:solidFill>
                <a:srgbClr val="5B6573"/>
              </a:solidFill>
            </a:defRPr>
          </a:pPr>
        </a:p>
      </c:txPr>
    </c:legend>
    <c:dispBlanksAs val="gap"/>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Southwest carries about 5% fewer revenue passengers than a year ago but charges about 25% more per passenger, so passenger revenue lands inside the band management's guidance implies. The passenger count comes from TSA checkpoint throughput, Southwest's share of it (T-100), and the trip-factor bridge; the fare from three methods anchored on the BLS airfare index, seasonality and fuel. Intervals are Evaluation's harmonised 80% rule (post-COVID backtest error sd for both halves). The revenue interval uses a -0.4 error correlation because the fare is revenue divided by passengers. Kalshi's fare market agrees with our centre to within a dollar but is tighter than our band.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reported count does a checkpoint count measure? Enplaned passengers, not revenue passengers: a connecting trip is scanned once but boards twice, and the target counts it once. In Q2 2026 enplanements rose 0.3% while revenue passengers fell 3.3%. Cleaning: the TSA file is structurally clean (no missing, duplicate or non-positive days), so nothing was imputed. The two funding-lapse windows are flagged and tested: once the downward trend in YoY growth is controlled, neither shows a throughput drop, and the -6.7% the packet cites for Mar-May is +0.3% in this file. We went with the data and kept the flag. Neither window touches Q3 2026 or its Q3 2025 base.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Guidance pins passenger revenue to a narrow band, the teal curves. Any point between them satisfies guidance: flat passengers at about $215-220, or 5% fewer passengers at about $225-231. Those are different businesses, a volume story and a yield story, and the band cannot tell them apart. Our split says yield. The naive baselines miss the band on both sides: B1 on the packet's basis carries the $285M one-off into the fare and lands below; B1 rebuilt ex-breakage carries Q2's growth forward and lands above. Splitting also says which half to blame if the print misses the band.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re-implemented both roles' methods from their write-ups, reproduced their backtests exactly, and ran the packet's full 2022-2026 window. The TSA chain beats the naive baseline in every period and in 16 of 18 quarters, and in the current regime the edge is about as close to significance as six quarters allow. The fare does not reliably beat B1: in 2023-24 B1 wins outright. So the revenue figure the client cares about has no demonstrated edge over 'last year times last quarter's growth'. Interval check: Traffic's delivered band covered only 50% of post-COVID quarters and Price's 93%, so the form uses one harmonised rule for both.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print we wrote down what would make us wrong, in order of how much each could move the answer. The trip factor is the whole passenger call: it is extrapolated from four quarters and no public source observes it. A one-off revenue item would move the reported fare with no signal in public data. July capacity ran below the bottom of guidance. And the naive regression, which is nearly as accurate as our chain out of sample, says 2% lower. After the print, re-run integrate.py with actuals.json filled and this slide becomes the scorecard, with the passenger miss split into a boardings error and a trip-factor error. PoV for the debate: Flag.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548640" y="384048"/>
            <a:ext cx="11094415" cy="731520"/>
          </a:xfrm>
        </p:spPr>
        <p:txBody>
          <a:bodyPr lIns="0" rIns="0" anchor="t"/>
          <a:lstStyle/>
          <a:p>
            <a:pPr algn="l"/>
            <a:r>
              <a:rPr sz="3600" b="1">
                <a:solidFill>
                  <a:srgbClr val="FFFFFF"/>
                </a:solidFill>
                <a:latin typeface="Cambria"/>
              </a:rPr>
              <a:t>Fewer passengers, a much higher fare</a:t>
            </a:r>
          </a:p>
        </p:txBody>
      </p:sp>
      <p:sp>
        <p:nvSpPr>
          <p:cNvPr id="3" name="Subtitle"/>
          <p:cNvSpPr txBox="1"/>
          <p:nvPr/>
        </p:nvSpPr>
        <p:spPr>
          <a:xfrm>
            <a:off x="548640" y="1143000"/>
            <a:ext cx="11094415" cy="365760"/>
          </a:xfrm>
          <a:prstGeom prst="rect">
            <a:avLst/>
          </a:prstGeom>
          <a:noFill/>
        </p:spPr>
        <p:txBody>
          <a:bodyPr wrap="square" lIns="0" rIns="0" tIns="0" bIns="0" anchor="t">
            <a:spAutoFit/>
          </a:bodyPr>
          <a:lstStyle/>
          <a:p>
            <a:pPr algn="l">
              <a:spcAft>
                <a:spcPts val="0"/>
              </a:spcAft>
            </a:pPr>
            <a:r>
              <a:rPr sz="1400" b="0" i="0">
                <a:solidFill>
                  <a:srgbClr val="AEB8C6"/>
                </a:solidFill>
                <a:latin typeface="Calibri"/>
              </a:rPr>
              <a:t>Southwest Airlines (LUV), Q3 2026  ·  forecast locked Oct 21 2026, 12:00 ET  ·  free public data only</a:t>
            </a:r>
          </a:p>
        </p:txBody>
      </p:sp>
      <p:sp>
        <p:nvSpPr>
          <p:cNvPr id="4" name="Card Revenue Passengers"/>
          <p:cNvSpPr/>
          <p:nvPr/>
        </p:nvSpPr>
        <p:spPr>
          <a:xfrm>
            <a:off x="548640" y="1783080"/>
            <a:ext cx="3515258" cy="3246120"/>
          </a:xfrm>
          <a:prstGeom prst="roundRect">
            <a:avLst>
              <a:gd name="adj" fmla="val 6000"/>
            </a:avLst>
          </a:prstGeom>
          <a:solidFill>
            <a:srgbClr val="223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2057400"/>
            <a:ext cx="2966618" cy="274320"/>
          </a:xfrm>
          <a:prstGeom prst="rect">
            <a:avLst/>
          </a:prstGeom>
          <a:noFill/>
        </p:spPr>
        <p:txBody>
          <a:bodyPr wrap="square" lIns="0" rIns="0" tIns="0" bIns="0" anchor="t">
            <a:spAutoFit/>
          </a:bodyPr>
          <a:lstStyle/>
          <a:p>
            <a:pPr algn="l">
              <a:spcAft>
                <a:spcPts val="0"/>
              </a:spcAft>
            </a:pPr>
            <a:r>
              <a:rPr sz="1200" b="1" i="0">
                <a:solidFill>
                  <a:srgbClr val="AEB8C6"/>
                </a:solidFill>
                <a:latin typeface="Calibri"/>
              </a:rPr>
              <a:t>REVENUE PASSENGERS</a:t>
            </a:r>
          </a:p>
        </p:txBody>
      </p:sp>
      <p:sp>
        <p:nvSpPr>
          <p:cNvPr id="6" name="TextBox 5"/>
          <p:cNvSpPr txBox="1"/>
          <p:nvPr/>
        </p:nvSpPr>
        <p:spPr>
          <a:xfrm>
            <a:off x="822959" y="2377440"/>
            <a:ext cx="2966618" cy="777240"/>
          </a:xfrm>
          <a:prstGeom prst="rect">
            <a:avLst/>
          </a:prstGeom>
          <a:noFill/>
        </p:spPr>
        <p:txBody>
          <a:bodyPr wrap="square" lIns="0" rIns="0" tIns="0" bIns="0" anchor="t">
            <a:spAutoFit/>
          </a:bodyPr>
          <a:lstStyle/>
          <a:p>
            <a:pPr algn="l">
              <a:spcAft>
                <a:spcPts val="0"/>
              </a:spcAft>
            </a:pPr>
            <a:r>
              <a:rPr sz="4400" b="1" i="0">
                <a:solidFill>
                  <a:srgbClr val="E9A13B"/>
                </a:solidFill>
                <a:latin typeface="Cambria"/>
              </a:rPr>
              <a:t>32,912k</a:t>
            </a:r>
          </a:p>
        </p:txBody>
      </p:sp>
      <p:sp>
        <p:nvSpPr>
          <p:cNvPr id="7" name="TextBox 6"/>
          <p:cNvSpPr txBox="1"/>
          <p:nvPr/>
        </p:nvSpPr>
        <p:spPr>
          <a:xfrm>
            <a:off x="822959" y="3200400"/>
            <a:ext cx="2966618"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80%  31,912 – 33,912k</a:t>
            </a:r>
          </a:p>
        </p:txBody>
      </p:sp>
      <p:sp>
        <p:nvSpPr>
          <p:cNvPr id="8" name="TextBox 7"/>
          <p:cNvSpPr txBox="1"/>
          <p:nvPr/>
        </p:nvSpPr>
        <p:spPr>
          <a:xfrm>
            <a:off x="822959" y="3566160"/>
            <a:ext cx="2966618" cy="548640"/>
          </a:xfrm>
          <a:prstGeom prst="rect">
            <a:avLst/>
          </a:prstGeom>
          <a:noFill/>
        </p:spPr>
        <p:txBody>
          <a:bodyPr wrap="square" lIns="0" rIns="0" tIns="0" bIns="0" anchor="t">
            <a:spAutoFit/>
          </a:bodyPr>
          <a:lstStyle/>
          <a:p>
            <a:pPr algn="l">
              <a:spcAft>
                <a:spcPts val="0"/>
              </a:spcAft>
            </a:pPr>
            <a:r>
              <a:rPr sz="1400" b="0" i="0">
                <a:solidFill>
                  <a:srgbClr val="AEB8C6"/>
                </a:solidFill>
                <a:latin typeface="Calibri"/>
              </a:rPr>
              <a:t>−4.8% YoY  ·  TSA + T-100 chain</a:t>
            </a:r>
          </a:p>
        </p:txBody>
      </p:sp>
      <p:cxnSp>
        <p:nvCxnSpPr>
          <p:cNvPr id="9" name="Connector 8"/>
          <p:cNvCxnSpPr/>
          <p:nvPr/>
        </p:nvCxnSpPr>
        <p:spPr>
          <a:xfrm>
            <a:off x="822959" y="4160520"/>
            <a:ext cx="2966619" cy="0"/>
          </a:xfrm>
          <a:prstGeom prst="line">
            <a:avLst/>
          </a:prstGeom>
          <a:ln>
            <a:solidFill>
              <a:srgbClr val="3A4B6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59" y="4297680"/>
            <a:ext cx="2966618" cy="594360"/>
          </a:xfrm>
          <a:prstGeom prst="rect">
            <a:avLst/>
          </a:prstGeom>
          <a:noFill/>
        </p:spPr>
        <p:txBody>
          <a:bodyPr wrap="square" lIns="0" rIns="0" tIns="0" bIns="0" anchor="t">
            <a:spAutoFit/>
          </a:bodyPr>
          <a:lstStyle/>
          <a:p>
            <a:pPr algn="l">
              <a:spcAft>
                <a:spcPts val="200"/>
              </a:spcAft>
            </a:pPr>
            <a:r>
              <a:rPr sz="1400" b="1" i="0">
                <a:solidFill>
                  <a:srgbClr val="AEB8C6"/>
                </a:solidFill>
                <a:latin typeface="Calibri"/>
              </a:rPr>
              <a:t>Actual  </a:t>
            </a:r>
            <a:r>
              <a:rPr sz="1400" b="0" i="0">
                <a:solidFill>
                  <a:srgbClr val="AEB8C6"/>
                </a:solidFill>
                <a:latin typeface="Calibri"/>
              </a:rPr>
              <a:t>reported Oct 21, after the close</a:t>
            </a:r>
          </a:p>
        </p:txBody>
      </p:sp>
      <p:sp>
        <p:nvSpPr>
          <p:cNvPr id="11" name="Card Average Fare"/>
          <p:cNvSpPr/>
          <p:nvPr/>
        </p:nvSpPr>
        <p:spPr>
          <a:xfrm>
            <a:off x="4338218" y="1783080"/>
            <a:ext cx="3515258" cy="3246120"/>
          </a:xfrm>
          <a:prstGeom prst="roundRect">
            <a:avLst>
              <a:gd name="adj" fmla="val 6000"/>
            </a:avLst>
          </a:prstGeom>
          <a:solidFill>
            <a:srgbClr val="223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2538" y="2057400"/>
            <a:ext cx="2966618" cy="274320"/>
          </a:xfrm>
          <a:prstGeom prst="rect">
            <a:avLst/>
          </a:prstGeom>
          <a:noFill/>
        </p:spPr>
        <p:txBody>
          <a:bodyPr wrap="square" lIns="0" rIns="0" tIns="0" bIns="0" anchor="t">
            <a:spAutoFit/>
          </a:bodyPr>
          <a:lstStyle/>
          <a:p>
            <a:pPr algn="l">
              <a:spcAft>
                <a:spcPts val="0"/>
              </a:spcAft>
            </a:pPr>
            <a:r>
              <a:rPr sz="1200" b="1" i="0">
                <a:solidFill>
                  <a:srgbClr val="AEB8C6"/>
                </a:solidFill>
                <a:latin typeface="Calibri"/>
              </a:rPr>
              <a:t>AVERAGE FARE</a:t>
            </a:r>
          </a:p>
        </p:txBody>
      </p:sp>
      <p:sp>
        <p:nvSpPr>
          <p:cNvPr id="13" name="TextBox 12"/>
          <p:cNvSpPr txBox="1"/>
          <p:nvPr/>
        </p:nvSpPr>
        <p:spPr>
          <a:xfrm>
            <a:off x="4612538" y="2377440"/>
            <a:ext cx="2966618" cy="777240"/>
          </a:xfrm>
          <a:prstGeom prst="rect">
            <a:avLst/>
          </a:prstGeom>
          <a:noFill/>
        </p:spPr>
        <p:txBody>
          <a:bodyPr wrap="square" lIns="0" rIns="0" tIns="0" bIns="0" anchor="t">
            <a:spAutoFit/>
          </a:bodyPr>
          <a:lstStyle/>
          <a:p>
            <a:pPr algn="l">
              <a:spcAft>
                <a:spcPts val="0"/>
              </a:spcAft>
            </a:pPr>
            <a:r>
              <a:rPr sz="4400" b="1" i="0">
                <a:solidFill>
                  <a:srgbClr val="E9A13B"/>
                </a:solidFill>
                <a:latin typeface="Cambria"/>
              </a:rPr>
              <a:t>$229.34</a:t>
            </a:r>
          </a:p>
        </p:txBody>
      </p:sp>
      <p:sp>
        <p:nvSpPr>
          <p:cNvPr id="14" name="TextBox 13"/>
          <p:cNvSpPr txBox="1"/>
          <p:nvPr/>
        </p:nvSpPr>
        <p:spPr>
          <a:xfrm>
            <a:off x="4612538" y="3200400"/>
            <a:ext cx="2966618"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80%  $215.87 – $242.81</a:t>
            </a:r>
          </a:p>
        </p:txBody>
      </p:sp>
      <p:sp>
        <p:nvSpPr>
          <p:cNvPr id="15" name="TextBox 14"/>
          <p:cNvSpPr txBox="1"/>
          <p:nvPr/>
        </p:nvSpPr>
        <p:spPr>
          <a:xfrm>
            <a:off x="4612538" y="3566160"/>
            <a:ext cx="2966618" cy="548640"/>
          </a:xfrm>
          <a:prstGeom prst="rect">
            <a:avLst/>
          </a:prstGeom>
          <a:noFill/>
        </p:spPr>
        <p:txBody>
          <a:bodyPr wrap="square" lIns="0" rIns="0" tIns="0" bIns="0" anchor="t">
            <a:spAutoFit/>
          </a:bodyPr>
          <a:lstStyle/>
          <a:p>
            <a:pPr algn="l">
              <a:spcAft>
                <a:spcPts val="0"/>
              </a:spcAft>
            </a:pPr>
            <a:r>
              <a:rPr sz="1400" b="0" i="0">
                <a:solidFill>
                  <a:srgbClr val="AEB8C6"/>
                </a:solidFill>
                <a:latin typeface="Calibri"/>
              </a:rPr>
              <a:t>+25.6% YoY  ·  CPI, season, fuel blend</a:t>
            </a:r>
          </a:p>
        </p:txBody>
      </p:sp>
      <p:cxnSp>
        <p:nvCxnSpPr>
          <p:cNvPr id="16" name="Connector 15"/>
          <p:cNvCxnSpPr/>
          <p:nvPr/>
        </p:nvCxnSpPr>
        <p:spPr>
          <a:xfrm>
            <a:off x="4612538" y="4160520"/>
            <a:ext cx="2966618" cy="0"/>
          </a:xfrm>
          <a:prstGeom prst="line">
            <a:avLst/>
          </a:prstGeom>
          <a:ln>
            <a:solidFill>
              <a:srgbClr val="3A4B6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12538" y="4297680"/>
            <a:ext cx="2966618" cy="594360"/>
          </a:xfrm>
          <a:prstGeom prst="rect">
            <a:avLst/>
          </a:prstGeom>
          <a:noFill/>
        </p:spPr>
        <p:txBody>
          <a:bodyPr wrap="square" lIns="0" rIns="0" tIns="0" bIns="0" anchor="t">
            <a:spAutoFit/>
          </a:bodyPr>
          <a:lstStyle/>
          <a:p>
            <a:pPr algn="l">
              <a:spcAft>
                <a:spcPts val="200"/>
              </a:spcAft>
            </a:pPr>
            <a:r>
              <a:rPr sz="1400" b="1" i="0">
                <a:solidFill>
                  <a:srgbClr val="AEB8C6"/>
                </a:solidFill>
                <a:latin typeface="Calibri"/>
              </a:rPr>
              <a:t>Actual  </a:t>
            </a:r>
            <a:r>
              <a:rPr sz="1400" b="0" i="0">
                <a:solidFill>
                  <a:srgbClr val="AEB8C6"/>
                </a:solidFill>
                <a:latin typeface="Calibri"/>
              </a:rPr>
              <a:t>reported Oct 21, after the close</a:t>
            </a:r>
          </a:p>
        </p:txBody>
      </p:sp>
      <p:sp>
        <p:nvSpPr>
          <p:cNvPr id="18" name="Card Passenger Revenue"/>
          <p:cNvSpPr/>
          <p:nvPr/>
        </p:nvSpPr>
        <p:spPr>
          <a:xfrm>
            <a:off x="8127796" y="1783080"/>
            <a:ext cx="3515258" cy="3246120"/>
          </a:xfrm>
          <a:prstGeom prst="roundRect">
            <a:avLst>
              <a:gd name="adj" fmla="val 6000"/>
            </a:avLst>
          </a:prstGeom>
          <a:solidFill>
            <a:srgbClr val="223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2116" y="2057400"/>
            <a:ext cx="2966618" cy="274320"/>
          </a:xfrm>
          <a:prstGeom prst="rect">
            <a:avLst/>
          </a:prstGeom>
          <a:noFill/>
        </p:spPr>
        <p:txBody>
          <a:bodyPr wrap="square" lIns="0" rIns="0" tIns="0" bIns="0" anchor="t">
            <a:spAutoFit/>
          </a:bodyPr>
          <a:lstStyle/>
          <a:p>
            <a:pPr algn="l">
              <a:spcAft>
                <a:spcPts val="0"/>
              </a:spcAft>
            </a:pPr>
            <a:r>
              <a:rPr sz="1200" b="1" i="0">
                <a:solidFill>
                  <a:srgbClr val="AEB8C6"/>
                </a:solidFill>
                <a:latin typeface="Calibri"/>
              </a:rPr>
              <a:t>PASSENGER REVENUE</a:t>
            </a:r>
          </a:p>
        </p:txBody>
      </p:sp>
      <p:sp>
        <p:nvSpPr>
          <p:cNvPr id="20" name="TextBox 19"/>
          <p:cNvSpPr txBox="1"/>
          <p:nvPr/>
        </p:nvSpPr>
        <p:spPr>
          <a:xfrm>
            <a:off x="8402116" y="2377440"/>
            <a:ext cx="2966618" cy="777240"/>
          </a:xfrm>
          <a:prstGeom prst="rect">
            <a:avLst/>
          </a:prstGeom>
          <a:noFill/>
        </p:spPr>
        <p:txBody>
          <a:bodyPr wrap="square" lIns="0" rIns="0" tIns="0" bIns="0" anchor="t">
            <a:spAutoFit/>
          </a:bodyPr>
          <a:lstStyle/>
          <a:p>
            <a:pPr algn="l">
              <a:spcAft>
                <a:spcPts val="0"/>
              </a:spcAft>
            </a:pPr>
            <a:r>
              <a:rPr sz="4400" b="1" i="0">
                <a:solidFill>
                  <a:srgbClr val="E9A13B"/>
                </a:solidFill>
                <a:latin typeface="Cambria"/>
              </a:rPr>
              <a:t>$7.55bn</a:t>
            </a:r>
          </a:p>
        </p:txBody>
      </p:sp>
      <p:sp>
        <p:nvSpPr>
          <p:cNvPr id="21" name="TextBox 20"/>
          <p:cNvSpPr txBox="1"/>
          <p:nvPr/>
        </p:nvSpPr>
        <p:spPr>
          <a:xfrm>
            <a:off x="8402116" y="3200400"/>
            <a:ext cx="2966618"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80%  $7.14bn – $7.95bn</a:t>
            </a:r>
          </a:p>
        </p:txBody>
      </p:sp>
      <p:sp>
        <p:nvSpPr>
          <p:cNvPr id="22" name="TextBox 21"/>
          <p:cNvSpPr txBox="1"/>
          <p:nvPr/>
        </p:nvSpPr>
        <p:spPr>
          <a:xfrm>
            <a:off x="8402116" y="3566160"/>
            <a:ext cx="2966618" cy="548640"/>
          </a:xfrm>
          <a:prstGeom prst="rect">
            <a:avLst/>
          </a:prstGeom>
          <a:noFill/>
        </p:spPr>
        <p:txBody>
          <a:bodyPr wrap="square" lIns="0" rIns="0" tIns="0" bIns="0" anchor="t">
            <a:spAutoFit/>
          </a:bodyPr>
          <a:lstStyle/>
          <a:p>
            <a:pPr algn="l">
              <a:spcAft>
                <a:spcPts val="0"/>
              </a:spcAft>
            </a:pPr>
            <a:r>
              <a:rPr sz="1400" b="0" i="0">
                <a:solidFill>
                  <a:srgbClr val="AEB8C6"/>
                </a:solidFill>
                <a:latin typeface="Calibri"/>
              </a:rPr>
              <a:t>inside guided band $7.39bn – $7.60bn</a:t>
            </a:r>
          </a:p>
        </p:txBody>
      </p:sp>
      <p:cxnSp>
        <p:nvCxnSpPr>
          <p:cNvPr id="23" name="Connector 22"/>
          <p:cNvCxnSpPr/>
          <p:nvPr/>
        </p:nvCxnSpPr>
        <p:spPr>
          <a:xfrm>
            <a:off x="8402116" y="4160520"/>
            <a:ext cx="2966619" cy="0"/>
          </a:xfrm>
          <a:prstGeom prst="line">
            <a:avLst/>
          </a:prstGeom>
          <a:ln>
            <a:solidFill>
              <a:srgbClr val="3A4B6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402116" y="4297680"/>
            <a:ext cx="2966618" cy="594360"/>
          </a:xfrm>
          <a:prstGeom prst="rect">
            <a:avLst/>
          </a:prstGeom>
          <a:noFill/>
        </p:spPr>
        <p:txBody>
          <a:bodyPr wrap="square" lIns="0" rIns="0" tIns="0" bIns="0" anchor="t">
            <a:spAutoFit/>
          </a:bodyPr>
          <a:lstStyle/>
          <a:p>
            <a:pPr algn="l">
              <a:spcAft>
                <a:spcPts val="200"/>
              </a:spcAft>
            </a:pPr>
            <a:r>
              <a:rPr sz="1400" b="1" i="0">
                <a:solidFill>
                  <a:srgbClr val="AEB8C6"/>
                </a:solidFill>
                <a:latin typeface="Calibri"/>
              </a:rPr>
              <a:t>Actual  </a:t>
            </a:r>
            <a:r>
              <a:rPr sz="1400" b="0" i="0">
                <a:solidFill>
                  <a:srgbClr val="AEB8C6"/>
                </a:solidFill>
                <a:latin typeface="Calibri"/>
              </a:rPr>
              <a:t>reported Oct 21, after the close</a:t>
            </a:r>
          </a:p>
        </p:txBody>
      </p:sp>
      <p:sp>
        <p:nvSpPr>
          <p:cNvPr id="25" name="TextBox 24"/>
          <p:cNvSpPr txBox="1"/>
          <p:nvPr/>
        </p:nvSpPr>
        <p:spPr>
          <a:xfrm>
            <a:off x="548640" y="5349240"/>
            <a:ext cx="11094415" cy="274320"/>
          </a:xfrm>
          <a:prstGeom prst="rect">
            <a:avLst/>
          </a:prstGeom>
          <a:noFill/>
        </p:spPr>
        <p:txBody>
          <a:bodyPr wrap="square" lIns="0" rIns="0" tIns="0" bIns="0" anchor="t">
            <a:spAutoFit/>
          </a:bodyPr>
          <a:lstStyle/>
          <a:p>
            <a:pPr algn="l">
              <a:spcAft>
                <a:spcPts val="0"/>
              </a:spcAft>
            </a:pPr>
            <a:r>
              <a:rPr sz="1200" b="1" i="0">
                <a:solidFill>
                  <a:srgbClr val="AEB8C6"/>
                </a:solidFill>
                <a:latin typeface="Calibri"/>
              </a:rPr>
              <a:t>BENCHMARKS</a:t>
            </a:r>
          </a:p>
        </p:txBody>
      </p:sp>
      <p:sp>
        <p:nvSpPr>
          <p:cNvPr id="26" name="TextBox 25"/>
          <p:cNvSpPr txBox="1"/>
          <p:nvPr/>
        </p:nvSpPr>
        <p:spPr>
          <a:xfrm>
            <a:off x="548640" y="5669279"/>
            <a:ext cx="2567863"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B0  same quarter last year</a:t>
            </a:r>
          </a:p>
        </p:txBody>
      </p:sp>
      <p:sp>
        <p:nvSpPr>
          <p:cNvPr id="27" name="TextBox 26"/>
          <p:cNvSpPr txBox="1"/>
          <p:nvPr/>
        </p:nvSpPr>
        <p:spPr>
          <a:xfrm>
            <a:off x="548640" y="5943600"/>
            <a:ext cx="2567863"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34,581k  ·  $182.56</a:t>
            </a:r>
          </a:p>
        </p:txBody>
      </p:sp>
      <p:sp>
        <p:nvSpPr>
          <p:cNvPr id="28" name="TextBox 27"/>
          <p:cNvSpPr txBox="1"/>
          <p:nvPr/>
        </p:nvSpPr>
        <p:spPr>
          <a:xfrm>
            <a:off x="3390823" y="5669279"/>
            <a:ext cx="2567863"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B1  packet (reported Q2)</a:t>
            </a:r>
          </a:p>
        </p:txBody>
      </p:sp>
      <p:sp>
        <p:nvSpPr>
          <p:cNvPr id="29" name="TextBox 28"/>
          <p:cNvSpPr txBox="1"/>
          <p:nvPr/>
        </p:nvSpPr>
        <p:spPr>
          <a:xfrm>
            <a:off x="3390823" y="5943600"/>
            <a:ext cx="2567863"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33,436k  ·  $220.67</a:t>
            </a:r>
          </a:p>
        </p:txBody>
      </p:sp>
      <p:sp>
        <p:nvSpPr>
          <p:cNvPr id="30" name="TextBox 29"/>
          <p:cNvSpPr txBox="1"/>
          <p:nvPr/>
        </p:nvSpPr>
        <p:spPr>
          <a:xfrm>
            <a:off x="6233007" y="5669279"/>
            <a:ext cx="2567863"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B1  rebuilt ex-breakage</a:t>
            </a:r>
          </a:p>
        </p:txBody>
      </p:sp>
      <p:sp>
        <p:nvSpPr>
          <p:cNvPr id="31" name="TextBox 30"/>
          <p:cNvSpPr txBox="1"/>
          <p:nvPr/>
        </p:nvSpPr>
        <p:spPr>
          <a:xfrm>
            <a:off x="6233007" y="5943600"/>
            <a:ext cx="2567863"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33,436k  ·  $228.78</a:t>
            </a:r>
          </a:p>
        </p:txBody>
      </p:sp>
      <p:sp>
        <p:nvSpPr>
          <p:cNvPr id="32" name="TextBox 31"/>
          <p:cNvSpPr txBox="1"/>
          <p:nvPr/>
        </p:nvSpPr>
        <p:spPr>
          <a:xfrm>
            <a:off x="9075191" y="5669279"/>
            <a:ext cx="2567863" cy="274320"/>
          </a:xfrm>
          <a:prstGeom prst="rect">
            <a:avLst/>
          </a:prstGeom>
          <a:noFill/>
        </p:spPr>
        <p:txBody>
          <a:bodyPr wrap="square" lIns="0" rIns="0" tIns="0" bIns="0" anchor="t">
            <a:spAutoFit/>
          </a:bodyPr>
          <a:lstStyle/>
          <a:p>
            <a:pPr algn="l">
              <a:spcAft>
                <a:spcPts val="0"/>
              </a:spcAft>
            </a:pPr>
            <a:r>
              <a:rPr sz="1200" b="0" i="0">
                <a:solidFill>
                  <a:srgbClr val="AEB8C6"/>
                </a:solidFill>
                <a:latin typeface="Calibri"/>
              </a:rPr>
              <a:t>Kalshi fare market, Oct 20</a:t>
            </a:r>
          </a:p>
        </p:txBody>
      </p:sp>
      <p:sp>
        <p:nvSpPr>
          <p:cNvPr id="33" name="TextBox 32"/>
          <p:cNvSpPr txBox="1"/>
          <p:nvPr/>
        </p:nvSpPr>
        <p:spPr>
          <a:xfrm>
            <a:off x="9075191" y="5943600"/>
            <a:ext cx="2567863"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median ≈ $229.71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731520"/>
          </a:xfrm>
        </p:spPr>
        <p:txBody>
          <a:bodyPr lIns="0" rIns="0" anchor="t"/>
          <a:lstStyle/>
          <a:p>
            <a:pPr algn="l"/>
            <a:r>
              <a:rPr sz="3600" b="1">
                <a:solidFill>
                  <a:srgbClr val="15202B"/>
                </a:solidFill>
                <a:latin typeface="Cambria"/>
              </a:rPr>
              <a:t>TSA counts boardings, not passengers</a:t>
            </a:r>
          </a:p>
        </p:txBody>
      </p:sp>
      <p:sp>
        <p:nvSpPr>
          <p:cNvPr id="3" name="Trip factor callout"/>
          <p:cNvSpPr/>
          <p:nvPr/>
        </p:nvSpPr>
        <p:spPr>
          <a:xfrm>
            <a:off x="548640" y="1371600"/>
            <a:ext cx="3749039" cy="489204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45920"/>
            <a:ext cx="3108959" cy="320040"/>
          </a:xfrm>
          <a:prstGeom prst="rect">
            <a:avLst/>
          </a:prstGeom>
          <a:noFill/>
        </p:spPr>
        <p:txBody>
          <a:bodyPr wrap="square" lIns="0" rIns="0" tIns="0" bIns="0" anchor="t">
            <a:spAutoFit/>
          </a:bodyPr>
          <a:lstStyle/>
          <a:p>
            <a:pPr algn="l">
              <a:spcAft>
                <a:spcPts val="0"/>
              </a:spcAft>
            </a:pPr>
            <a:r>
              <a:rPr sz="1200" b="1" i="0">
                <a:solidFill>
                  <a:srgbClr val="5B6573"/>
                </a:solidFill>
                <a:latin typeface="Calibri"/>
              </a:rPr>
              <a:t>Q2 2026, YEAR ON YEAR</a:t>
            </a:r>
          </a:p>
        </p:txBody>
      </p:sp>
      <p:sp>
        <p:nvSpPr>
          <p:cNvPr id="5" name="TextBox 4"/>
          <p:cNvSpPr txBox="1"/>
          <p:nvPr/>
        </p:nvSpPr>
        <p:spPr>
          <a:xfrm>
            <a:off x="868680" y="2011680"/>
            <a:ext cx="3108959" cy="731520"/>
          </a:xfrm>
          <a:prstGeom prst="rect">
            <a:avLst/>
          </a:prstGeom>
          <a:noFill/>
        </p:spPr>
        <p:txBody>
          <a:bodyPr wrap="square" lIns="0" rIns="0" tIns="0" bIns="0" anchor="t">
            <a:spAutoFit/>
          </a:bodyPr>
          <a:lstStyle/>
          <a:p>
            <a:pPr algn="l">
              <a:spcAft>
                <a:spcPts val="0"/>
              </a:spcAft>
            </a:pPr>
            <a:r>
              <a:rPr sz="4000" b="1" i="0">
                <a:solidFill>
                  <a:srgbClr val="1F3B73"/>
                </a:solidFill>
                <a:latin typeface="Cambria"/>
              </a:rPr>
              <a:t>+0.3%</a:t>
            </a:r>
            <a:r>
              <a:rPr sz="1800" b="0" i="0">
                <a:solidFill>
                  <a:srgbClr val="1B1F24"/>
                </a:solidFill>
                <a:latin typeface="Calibri"/>
              </a:rPr>
              <a:t>  enplaned</a:t>
            </a:r>
          </a:p>
        </p:txBody>
      </p:sp>
      <p:sp>
        <p:nvSpPr>
          <p:cNvPr id="6" name="TextBox 5"/>
          <p:cNvSpPr txBox="1"/>
          <p:nvPr/>
        </p:nvSpPr>
        <p:spPr>
          <a:xfrm>
            <a:off x="868680" y="2743200"/>
            <a:ext cx="3108959" cy="731520"/>
          </a:xfrm>
          <a:prstGeom prst="rect">
            <a:avLst/>
          </a:prstGeom>
          <a:noFill/>
        </p:spPr>
        <p:txBody>
          <a:bodyPr wrap="square" lIns="0" rIns="0" tIns="0" bIns="0" anchor="t">
            <a:spAutoFit/>
          </a:bodyPr>
          <a:lstStyle/>
          <a:p>
            <a:pPr algn="l">
              <a:spcAft>
                <a:spcPts val="0"/>
              </a:spcAft>
            </a:pPr>
            <a:r>
              <a:rPr sz="4000" b="1" i="0">
                <a:solidFill>
                  <a:srgbClr val="D1495B"/>
                </a:solidFill>
                <a:latin typeface="Cambria"/>
              </a:rPr>
              <a:t>−3.3%</a:t>
            </a:r>
            <a:r>
              <a:rPr sz="1800" b="0" i="0">
                <a:solidFill>
                  <a:srgbClr val="1B1F24"/>
                </a:solidFill>
                <a:latin typeface="Calibri"/>
              </a:rPr>
              <a:t>  revenue pax</a:t>
            </a:r>
          </a:p>
        </p:txBody>
      </p:sp>
      <p:sp>
        <p:nvSpPr>
          <p:cNvPr id="7" name="TextBox 6"/>
          <p:cNvSpPr txBox="1"/>
          <p:nvPr/>
        </p:nvSpPr>
        <p:spPr>
          <a:xfrm>
            <a:off x="868680" y="3703320"/>
            <a:ext cx="3108959" cy="2377440"/>
          </a:xfrm>
          <a:prstGeom prst="rect">
            <a:avLst/>
          </a:prstGeom>
          <a:noFill/>
        </p:spPr>
        <p:txBody>
          <a:bodyPr wrap="square" lIns="0" rIns="0" tIns="0" bIns="0" anchor="t">
            <a:spAutoFit/>
          </a:bodyPr>
          <a:lstStyle/>
          <a:p>
            <a:pPr algn="l">
              <a:spcAft>
                <a:spcPts val="800"/>
              </a:spcAft>
            </a:pPr>
            <a:r>
              <a:rPr sz="1400" b="0" i="0">
                <a:solidFill>
                  <a:srgbClr val="1B1F24"/>
                </a:solidFill>
                <a:latin typeface="Calibri"/>
              </a:rPr>
              <a:t>A checkpoint scan is a boarding. The target counts one-way paying trips. The bridge is the trip factor (enplaned ÷ revenue passengers), up 3.7% in a year as assigned seating pushed travellers onto connections.</a:t>
            </a:r>
          </a:p>
          <a:p>
            <a:pPr algn="l">
              <a:spcAft>
                <a:spcPts val="800"/>
              </a:spcAft>
            </a:pPr>
            <a:r>
              <a:rPr sz="1400" b="1" i="0">
                <a:solidFill>
                  <a:srgbClr val="1B1F24"/>
                </a:solidFill>
                <a:latin typeface="Calibri"/>
              </a:rPr>
              <a:t>No free source observes it. </a:t>
            </a:r>
            <a:r>
              <a:rPr sz="1400" b="0" i="0">
                <a:solidFill>
                  <a:srgbClr val="1B1F24"/>
                </a:solidFill>
                <a:latin typeface="Calibri"/>
              </a:rPr>
              <a:t>We extrapolate it from four post-break quarters, and it swings our answer by ~1,000k.</a:t>
            </a:r>
          </a:p>
        </p:txBody>
      </p:sp>
      <p:graphicFrame>
        <p:nvGraphicFramePr>
          <p:cNvPr id="8" name="Cleaning decisions"/>
          <p:cNvGraphicFramePr>
            <a:graphicFrameLocks noGrp="1"/>
          </p:cNvGraphicFramePr>
          <p:nvPr/>
        </p:nvGraphicFramePr>
        <p:xfrm>
          <a:off x="4663440" y="1371600"/>
          <a:ext cx="6979615" cy="4892040"/>
        </p:xfrm>
        <a:graphic>
          <a:graphicData uri="http://schemas.openxmlformats.org/drawingml/2006/table">
            <a:tbl>
              <a:tblPr firstRow="1" bandRow="1">
                <a:tableStyleId>{5C22544A-7EE6-4342-B048-85BDC9FD1C3A}</a:tableStyleId>
              </a:tblPr>
              <a:tblGrid>
                <a:gridCol w="1783080"/>
                <a:gridCol w="2788920"/>
                <a:gridCol w="2407615"/>
              </a:tblGrid>
              <a:tr h="698862">
                <a:tc>
                  <a:txBody>
                    <a:bodyPr wrap="square"/>
                    <a:lstStyle/>
                    <a:p>
                      <a:r>
                        <a:rPr sz="1300" b="1">
                          <a:solidFill>
                            <a:srgbClr val="FFFFFF"/>
                          </a:solidFill>
                          <a:latin typeface="Calibri"/>
                        </a:rPr>
                        <a:t>Source</a:t>
                      </a:r>
                    </a:p>
                  </a:txBody>
                  <a:tcPr marL="91440" marR="91440" marT="54864" marB="54864" anchor="ctr">
                    <a:solidFill>
                      <a:srgbClr val="1F3B73"/>
                    </a:solidFill>
                  </a:tcPr>
                </a:tc>
                <a:tc>
                  <a:txBody>
                    <a:bodyPr wrap="square"/>
                    <a:lstStyle/>
                    <a:p>
                      <a:r>
                        <a:rPr sz="1300" b="1">
                          <a:solidFill>
                            <a:srgbClr val="FFFFFF"/>
                          </a:solidFill>
                          <a:latin typeface="Calibri"/>
                        </a:rPr>
                        <a:t>Cleaning decision</a:t>
                      </a:r>
                    </a:p>
                  </a:txBody>
                  <a:tcPr marL="91440" marR="91440" marT="54864" marB="54864" anchor="ctr">
                    <a:solidFill>
                      <a:srgbClr val="1F3B73"/>
                    </a:solidFill>
                  </a:tcPr>
                </a:tc>
                <a:tc>
                  <a:txBody>
                    <a:bodyPr wrap="square"/>
                    <a:lstStyle/>
                    <a:p>
                      <a:r>
                        <a:rPr sz="1300" b="1">
                          <a:solidFill>
                            <a:srgbClr val="FFFFFF"/>
                          </a:solidFill>
                          <a:latin typeface="Calibri"/>
                        </a:rPr>
                        <a:t>Why</a:t>
                      </a:r>
                    </a:p>
                  </a:txBody>
                  <a:tcPr marL="91440" marR="91440" marT="54864" marB="54864" anchor="ctr">
                    <a:solidFill>
                      <a:srgbClr val="1F3B73"/>
                    </a:solidFill>
                  </a:tcPr>
                </a:tc>
              </a:tr>
              <a:tr h="698862">
                <a:tc>
                  <a:txBody>
                    <a:bodyPr wrap="square"/>
                    <a:lstStyle/>
                    <a:p>
                      <a:r>
                        <a:rPr sz="1300" b="1">
                          <a:solidFill>
                            <a:srgbClr val="1B1F24"/>
                          </a:solidFill>
                          <a:latin typeface="Calibri"/>
                        </a:rPr>
                        <a:t>TSA daily, 2,830 days</a:t>
                      </a:r>
                    </a:p>
                  </a:txBody>
                  <a:tcPr marL="91440" marR="91440" marT="54864" marB="54864" anchor="ctr">
                    <a:solidFill>
                      <a:srgbClr val="FFFFFF"/>
                    </a:solidFill>
                  </a:tcPr>
                </a:tc>
                <a:tc>
                  <a:txBody>
                    <a:bodyPr wrap="square"/>
                    <a:lstStyle/>
                    <a:p>
                      <a:r>
                        <a:rPr sz="1300" b="0">
                          <a:solidFill>
                            <a:srgbClr val="1B1F24"/>
                          </a:solidFill>
                          <a:latin typeface="Calibri"/>
                        </a:rPr>
                        <a:t>No day imputed. Both funding lapses flagged, neither repaired</a:t>
                      </a:r>
                    </a:p>
                  </a:txBody>
                  <a:tcPr marL="91440" marR="91440" marT="54864" marB="54864" anchor="ctr">
                    <a:solidFill>
                      <a:srgbClr val="FFFFFF"/>
                    </a:solidFill>
                  </a:tcPr>
                </a:tc>
                <a:tc>
                  <a:txBody>
                    <a:bodyPr wrap="square"/>
                    <a:lstStyle/>
                    <a:p>
                      <a:r>
                        <a:rPr sz="1300" b="0">
                          <a:solidFill>
                            <a:srgbClr val="1B1F24"/>
                          </a:solidFill>
                          <a:latin typeface="Calibri"/>
                        </a:rPr>
                        <a:t>No dip once trend is controlled; the packet's −6.7% is not in this file</a:t>
                      </a:r>
                    </a:p>
                  </a:txBody>
                  <a:tcPr marL="91440" marR="91440" marT="54864" marB="54864" anchor="ctr">
                    <a:solidFill>
                      <a:srgbClr val="FFFFFF"/>
                    </a:solidFill>
                  </a:tcPr>
                </a:tc>
              </a:tr>
              <a:tr h="698862">
                <a:tc>
                  <a:txBody>
                    <a:bodyPr wrap="square"/>
                    <a:lstStyle/>
                    <a:p>
                      <a:r>
                        <a:rPr sz="1300" b="1">
                          <a:solidFill>
                            <a:srgbClr val="1B1F24"/>
                          </a:solidFill>
                          <a:latin typeface="Calibri"/>
                        </a:rPr>
                        <a:t>BTS T-100, Southwest</a:t>
                      </a:r>
                    </a:p>
                  </a:txBody>
                  <a:tcPr marL="91440" marR="91440" marT="54864" marB="54864" anchor="ctr">
                    <a:solidFill>
                      <a:srgbClr val="EEF2F7"/>
                    </a:solidFill>
                  </a:tcPr>
                </a:tc>
                <a:tc>
                  <a:txBody>
                    <a:bodyPr wrap="square"/>
                    <a:lstStyle/>
                    <a:p>
                      <a:r>
                        <a:rPr sz="1300" b="0">
                          <a:solidFill>
                            <a:srgbClr val="1B1F24"/>
                          </a:solidFill>
                          <a:latin typeface="Calibri"/>
                        </a:rPr>
                        <a:t>July is a filing; Aug–Sep nowcast from TSA × share</a:t>
                      </a:r>
                    </a:p>
                  </a:txBody>
                  <a:tcPr marL="91440" marR="91440" marT="54864" marB="54864" anchor="ctr">
                    <a:solidFill>
                      <a:srgbClr val="EEF2F7"/>
                    </a:solidFill>
                  </a:tcPr>
                </a:tc>
                <a:tc>
                  <a:txBody>
                    <a:bodyPr wrap="square"/>
                    <a:lstStyle/>
                    <a:p>
                      <a:r>
                        <a:rPr sz="1300" b="0">
                          <a:solidFill>
                            <a:srgbClr val="1B1F24"/>
                          </a:solidFill>
                          <a:latin typeface="Calibri"/>
                        </a:rPr>
                        <a:t>BTS publishes ~3 months late</a:t>
                      </a:r>
                    </a:p>
                  </a:txBody>
                  <a:tcPr marL="91440" marR="91440" marT="54864" marB="54864" anchor="ctr">
                    <a:solidFill>
                      <a:srgbClr val="EEF2F7"/>
                    </a:solidFill>
                  </a:tcPr>
                </a:tc>
              </a:tr>
              <a:tr h="698862">
                <a:tc>
                  <a:txBody>
                    <a:bodyPr wrap="square"/>
                    <a:lstStyle/>
                    <a:p>
                      <a:r>
                        <a:rPr sz="1300" b="1">
                          <a:solidFill>
                            <a:srgbClr val="1B1F24"/>
                          </a:solidFill>
                          <a:latin typeface="Calibri"/>
                        </a:rPr>
                        <a:t>Southwest quarterly</a:t>
                      </a:r>
                    </a:p>
                  </a:txBody>
                  <a:tcPr marL="91440" marR="91440" marT="54864" marB="54864" anchor="ctr">
                    <a:solidFill>
                      <a:srgbClr val="FFFFFF"/>
                    </a:solidFill>
                  </a:tcPr>
                </a:tc>
                <a:tc>
                  <a:txBody>
                    <a:bodyPr wrap="square"/>
                    <a:lstStyle/>
                    <a:p>
                      <a:r>
                        <a:rPr sz="1300" b="0">
                          <a:solidFill>
                            <a:srgbClr val="1B1F24"/>
                          </a:solidFill>
                          <a:latin typeface="Calibri"/>
                        </a:rPr>
                        <a:t>Q2 2026 +$285M breakage added back</a:t>
                      </a:r>
                    </a:p>
                  </a:txBody>
                  <a:tcPr marL="91440" marR="91440" marT="54864" marB="54864" anchor="ctr">
                    <a:solidFill>
                      <a:srgbClr val="FFFFFF"/>
                    </a:solidFill>
                  </a:tcPr>
                </a:tc>
                <a:tc>
                  <a:txBody>
                    <a:bodyPr wrap="square"/>
                    <a:lstStyle/>
                    <a:p>
                      <a:r>
                        <a:rPr sz="1300" b="0">
                          <a:solidFill>
                            <a:srgbClr val="1B1F24"/>
                          </a:solidFill>
                          <a:latin typeface="Calibri"/>
                        </a:rPr>
                        <a:t>One-off: fare $225.61 → $233.90 underlying</a:t>
                      </a:r>
                    </a:p>
                  </a:txBody>
                  <a:tcPr marL="91440" marR="91440" marT="54864" marB="54864" anchor="ctr">
                    <a:solidFill>
                      <a:srgbClr val="FFFFFF"/>
                    </a:solidFill>
                  </a:tcPr>
                </a:tc>
              </a:tr>
              <a:tr h="698862">
                <a:tc>
                  <a:txBody>
                    <a:bodyPr wrap="square"/>
                    <a:lstStyle/>
                    <a:p>
                      <a:r>
                        <a:rPr sz="1300" b="1">
                          <a:solidFill>
                            <a:srgbClr val="1B1F24"/>
                          </a:solidFill>
                          <a:latin typeface="Calibri"/>
                        </a:rPr>
                        <a:t>BLS airfare CPI</a:t>
                      </a:r>
                    </a:p>
                  </a:txBody>
                  <a:tcPr marL="91440" marR="91440" marT="54864" marB="54864" anchor="ctr">
                    <a:solidFill>
                      <a:srgbClr val="EEF2F7"/>
                    </a:solidFill>
                  </a:tcPr>
                </a:tc>
                <a:tc>
                  <a:txBody>
                    <a:bodyPr wrap="square"/>
                    <a:lstStyle/>
                    <a:p>
                      <a:r>
                        <a:rPr sz="1300" b="0">
                          <a:solidFill>
                            <a:srgbClr val="1B1F24"/>
                          </a:solidFill>
                          <a:latin typeface="Calibri"/>
                        </a:rPr>
                        <a:t>Oct 2025 blank → interpolated</a:t>
                      </a:r>
                    </a:p>
                  </a:txBody>
                  <a:tcPr marL="91440" marR="91440" marT="54864" marB="54864" anchor="ctr">
                    <a:solidFill>
                      <a:srgbClr val="EEF2F7"/>
                    </a:solidFill>
                  </a:tcPr>
                </a:tc>
                <a:tc>
                  <a:txBody>
                    <a:bodyPr wrap="square"/>
                    <a:lstStyle/>
                    <a:p>
                      <a:r>
                        <a:rPr sz="1300" b="0">
                          <a:solidFill>
                            <a:srgbClr val="1B1F24"/>
                          </a:solidFill>
                          <a:latin typeface="Calibri"/>
                        </a:rPr>
                        <a:t>Shutdown gap; touches Q4 2025 only</a:t>
                      </a:r>
                    </a:p>
                  </a:txBody>
                  <a:tcPr marL="91440" marR="91440" marT="54864" marB="54864" anchor="ctr">
                    <a:solidFill>
                      <a:srgbClr val="EEF2F7"/>
                    </a:solidFill>
                  </a:tcPr>
                </a:tc>
              </a:tr>
              <a:tr h="698862">
                <a:tc>
                  <a:txBody>
                    <a:bodyPr wrap="square"/>
                    <a:lstStyle/>
                    <a:p>
                      <a:r>
                        <a:rPr sz="1300" b="1">
                          <a:solidFill>
                            <a:srgbClr val="1B1F24"/>
                          </a:solidFill>
                          <a:latin typeface="Calibri"/>
                        </a:rPr>
                        <a:t>EIA jet fuel spot</a:t>
                      </a:r>
                    </a:p>
                  </a:txBody>
                  <a:tcPr marL="91440" marR="91440" marT="54864" marB="54864" anchor="ctr">
                    <a:solidFill>
                      <a:srgbClr val="FFFFFF"/>
                    </a:solidFill>
                  </a:tcPr>
                </a:tc>
                <a:tc>
                  <a:txBody>
                    <a:bodyPr wrap="square"/>
                    <a:lstStyle/>
                    <a:p>
                      <a:r>
                        <a:rPr sz="1300" b="0">
                          <a:solidFill>
                            <a:srgbClr val="1B1F24"/>
                          </a:solidFill>
                          <a:latin typeface="Calibri"/>
                        </a:rPr>
                        <a:t>87 holiday blanks dropped; add Southwest's premium over spot</a:t>
                      </a:r>
                    </a:p>
                  </a:txBody>
                  <a:tcPr marL="91440" marR="91440" marT="54864" marB="54864" anchor="ctr">
                    <a:solidFill>
                      <a:srgbClr val="FFFFFF"/>
                    </a:solidFill>
                  </a:tcPr>
                </a:tc>
                <a:tc>
                  <a:txBody>
                    <a:bodyPr wrap="square"/>
                    <a:lstStyle/>
                    <a:p>
                      <a:r>
                        <a:rPr sz="1300" b="0">
                          <a:solidFill>
                            <a:srgbClr val="1B1F24"/>
                          </a:solidFill>
                          <a:latin typeface="Calibri"/>
                        </a:rPr>
                        <a:t>Wholesale is ~30¢ below what Southwest pays</a:t>
                      </a:r>
                    </a:p>
                  </a:txBody>
                  <a:tcPr marL="91440" marR="91440" marT="54864" marB="54864" anchor="ctr">
                    <a:solidFill>
                      <a:srgbClr val="FFFFFF"/>
                    </a:solidFill>
                  </a:tcPr>
                </a:tc>
              </a:tr>
              <a:tr h="698868">
                <a:tc>
                  <a:txBody>
                    <a:bodyPr wrap="square"/>
                    <a:lstStyle/>
                    <a:p>
                      <a:r>
                        <a:rPr sz="1300" b="1">
                          <a:solidFill>
                            <a:srgbClr val="1B1F24"/>
                          </a:solidFill>
                          <a:latin typeface="Calibri"/>
                        </a:rPr>
                        <a:t>Google Trends</a:t>
                      </a:r>
                    </a:p>
                  </a:txBody>
                  <a:tcPr marL="91440" marR="91440" marT="54864" marB="54864" anchor="ctr">
                    <a:solidFill>
                      <a:srgbClr val="EEF2F7"/>
                    </a:solidFill>
                  </a:tcPr>
                </a:tc>
                <a:tc>
                  <a:txBody>
                    <a:bodyPr wrap="square"/>
                    <a:lstStyle/>
                    <a:p>
                      <a:r>
                        <a:rPr sz="1300" b="0">
                          <a:solidFill>
                            <a:srgbClr val="1B1F24"/>
                          </a:solidFill>
                          <a:latin typeface="Calibri"/>
                        </a:rPr>
                        <a:t>Not used</a:t>
                      </a:r>
                    </a:p>
                  </a:txBody>
                  <a:tcPr marL="91440" marR="91440" marT="54864" marB="54864" anchor="ctr">
                    <a:solidFill>
                      <a:srgbClr val="EEF2F7"/>
                    </a:solidFill>
                  </a:tcPr>
                </a:tc>
                <a:tc>
                  <a:txBody>
                    <a:bodyPr wrap="square"/>
                    <a:lstStyle/>
                    <a:p>
                      <a:r>
                        <a:rPr sz="1300" b="0">
                          <a:solidFill>
                            <a:srgbClr val="1B1F24"/>
                          </a:solidFill>
                          <a:latin typeface="Calibri"/>
                        </a:rPr>
                        <a:t>Rescaled on every pull: no stable history to backtest</a:t>
                      </a:r>
                    </a:p>
                  </a:txBody>
                  <a:tcPr marL="91440" marR="91440" marT="54864" marB="54864" anchor="ctr">
                    <a:solidFill>
                      <a:srgbClr val="EEF2F7"/>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731520"/>
          </a:xfrm>
        </p:spPr>
        <p:txBody>
          <a:bodyPr lIns="0" rIns="0" anchor="t"/>
          <a:lstStyle/>
          <a:p>
            <a:pPr algn="l"/>
            <a:r>
              <a:rPr sz="3600" b="1">
                <a:solidFill>
                  <a:srgbClr val="15202B"/>
                </a:solidFill>
                <a:latin typeface="Cambria"/>
              </a:rPr>
              <a:t>The split says yield, not volume</a:t>
            </a:r>
          </a:p>
        </p:txBody>
      </p:sp>
      <p:sp>
        <p:nvSpPr>
          <p:cNvPr id="3" name="Oval 2"/>
          <p:cNvSpPr/>
          <p:nvPr/>
        </p:nvSpPr>
        <p:spPr>
          <a:xfrm>
            <a:off x="548640" y="1417320"/>
            <a:ext cx="502920" cy="502920"/>
          </a:xfrm>
          <a:prstGeom prst="ellipse">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4" name="TextBox 3"/>
          <p:cNvSpPr txBox="1"/>
          <p:nvPr/>
        </p:nvSpPr>
        <p:spPr>
          <a:xfrm>
            <a:off x="1280160" y="1399032"/>
            <a:ext cx="3200400"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mbria"/>
              </a:rPr>
              <a:t>Passengers</a:t>
            </a:r>
            <a:r>
              <a:rPr sz="1800" b="1" i="0">
                <a:solidFill>
                  <a:srgbClr val="E9A13B"/>
                </a:solidFill>
                <a:latin typeface="Calibri"/>
              </a:rPr>
              <a:t>   32,912k</a:t>
            </a:r>
          </a:p>
        </p:txBody>
      </p:sp>
      <p:sp>
        <p:nvSpPr>
          <p:cNvPr id="5" name="TextBox 4"/>
          <p:cNvSpPr txBox="1"/>
          <p:nvPr/>
        </p:nvSpPr>
        <p:spPr>
          <a:xfrm>
            <a:off x="1280160" y="1828800"/>
            <a:ext cx="3200400"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TSA × Southwest share × uplift ÷ trip factor, blended 65/35 with ASM × load factor ÷ haul</a:t>
            </a:r>
          </a:p>
        </p:txBody>
      </p:sp>
      <p:sp>
        <p:nvSpPr>
          <p:cNvPr id="6" name="Oval 5"/>
          <p:cNvSpPr/>
          <p:nvPr/>
        </p:nvSpPr>
        <p:spPr>
          <a:xfrm>
            <a:off x="548640" y="2926080"/>
            <a:ext cx="502920" cy="502920"/>
          </a:xfrm>
          <a:prstGeom prst="ellipse">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7" name="TextBox 6"/>
          <p:cNvSpPr txBox="1"/>
          <p:nvPr/>
        </p:nvSpPr>
        <p:spPr>
          <a:xfrm>
            <a:off x="1280160" y="2907792"/>
            <a:ext cx="3200400"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mbria"/>
              </a:rPr>
              <a:t>Fare</a:t>
            </a:r>
            <a:r>
              <a:rPr sz="1800" b="1" i="0">
                <a:solidFill>
                  <a:srgbClr val="E9A13B"/>
                </a:solidFill>
                <a:latin typeface="Calibri"/>
              </a:rPr>
              <a:t>   $229.34</a:t>
            </a:r>
          </a:p>
        </p:txBody>
      </p:sp>
      <p:sp>
        <p:nvSpPr>
          <p:cNvPr id="8" name="TextBox 7"/>
          <p:cNvSpPr txBox="1"/>
          <p:nvPr/>
        </p:nvSpPr>
        <p:spPr>
          <a:xfrm>
            <a:off x="1280160" y="3337560"/>
            <a:ext cx="3200400"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Blend of an industry anchor (BLS CPI), a seasonal step and fuel pass-through</a:t>
            </a:r>
          </a:p>
        </p:txBody>
      </p:sp>
      <p:sp>
        <p:nvSpPr>
          <p:cNvPr id="9" name="Oval 8"/>
          <p:cNvSpPr/>
          <p:nvPr/>
        </p:nvSpPr>
        <p:spPr>
          <a:xfrm>
            <a:off x="548640" y="4434840"/>
            <a:ext cx="502920" cy="502920"/>
          </a:xfrm>
          <a:prstGeom prst="ellipse">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0" name="TextBox 9"/>
          <p:cNvSpPr txBox="1"/>
          <p:nvPr/>
        </p:nvSpPr>
        <p:spPr>
          <a:xfrm>
            <a:off x="1280160" y="4416552"/>
            <a:ext cx="3200400" cy="365760"/>
          </a:xfrm>
          <a:prstGeom prst="rect">
            <a:avLst/>
          </a:prstGeom>
          <a:noFill/>
        </p:spPr>
        <p:txBody>
          <a:bodyPr wrap="square" lIns="0" rIns="0" tIns="0" bIns="0" anchor="t">
            <a:spAutoFit/>
          </a:bodyPr>
          <a:lstStyle/>
          <a:p>
            <a:pPr algn="l">
              <a:spcAft>
                <a:spcPts val="0"/>
              </a:spcAft>
            </a:pPr>
            <a:r>
              <a:rPr sz="2000" b="1" i="0">
                <a:solidFill>
                  <a:srgbClr val="15202B"/>
                </a:solidFill>
                <a:latin typeface="Cambria"/>
              </a:rPr>
              <a:t>Revenue</a:t>
            </a:r>
            <a:r>
              <a:rPr sz="1800" b="1" i="0">
                <a:solidFill>
                  <a:srgbClr val="E9A13B"/>
                </a:solidFill>
                <a:latin typeface="Calibri"/>
              </a:rPr>
              <a:t>   $7.55bn</a:t>
            </a:r>
          </a:p>
        </p:txBody>
      </p:sp>
      <p:sp>
        <p:nvSpPr>
          <p:cNvPr id="11" name="TextBox 10"/>
          <p:cNvSpPr txBox="1"/>
          <p:nvPr/>
        </p:nvSpPr>
        <p:spPr>
          <a:xfrm>
            <a:off x="1280160" y="4846320"/>
            <a:ext cx="3200400"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Passengers × fare, with a −0.4 error correlation, checked against guidance</a:t>
            </a:r>
          </a:p>
        </p:txBody>
      </p:sp>
      <p:graphicFrame>
        <p:nvGraphicFramePr>
          <p:cNvPr id="12" name="Iso-revenue chart"/>
          <p:cNvGraphicFramePr>
            <a:graphicFrameLocks noGrp="1"/>
          </p:cNvGraphicFramePr>
          <p:nvPr/>
        </p:nvGraphicFramePr>
        <p:xfrm>
          <a:off x="4709159" y="1280160"/>
          <a:ext cx="6933895" cy="4526280"/>
        </p:xfrm>
        <a:graphic>
          <a:graphicData uri="http://schemas.openxmlformats.org/drawingml/2006/chart">
            <c:chart xmlns:c="http://schemas.openxmlformats.org/drawingml/2006/chart" r:id="rId2"/>
          </a:graphicData>
        </a:graphic>
      </p:graphicFrame>
      <p:sp>
        <p:nvSpPr>
          <p:cNvPr id="13" name="TextBox 12"/>
          <p:cNvSpPr txBox="1"/>
          <p:nvPr/>
        </p:nvSpPr>
        <p:spPr>
          <a:xfrm>
            <a:off x="4709159" y="5897880"/>
            <a:ext cx="6933895" cy="548640"/>
          </a:xfrm>
          <a:prstGeom prst="rect">
            <a:avLst/>
          </a:prstGeom>
          <a:noFill/>
        </p:spPr>
        <p:txBody>
          <a:bodyPr wrap="square" lIns="0" rIns="0" tIns="0" bIns="0" anchor="t">
            <a:spAutoFit/>
          </a:bodyPr>
          <a:lstStyle/>
          <a:p>
            <a:pPr algn="l">
              <a:spcAft>
                <a:spcPts val="0"/>
              </a:spcAft>
            </a:pPr>
            <a:r>
              <a:rPr sz="1200" b="0" i="0">
                <a:solidFill>
                  <a:srgbClr val="5B6573"/>
                </a:solidFill>
                <a:latin typeface="Calibri"/>
              </a:rPr>
              <a:t>Teal lines: passenger revenue implied by guidance, $7.39bn–$7.60bn at a 91.5% passenger share. Both naive baselines miss it, on opposite sides.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731520"/>
          </a:xfrm>
        </p:spPr>
        <p:txBody>
          <a:bodyPr lIns="0" rIns="0" anchor="t"/>
          <a:lstStyle/>
          <a:p>
            <a:pPr algn="l"/>
            <a:r>
              <a:rPr sz="3600" b="1">
                <a:solidFill>
                  <a:srgbClr val="15202B"/>
                </a:solidFill>
                <a:latin typeface="Cambria"/>
              </a:rPr>
              <a:t>Passengers beat naive; fares don't yet</a:t>
            </a:r>
          </a:p>
        </p:txBody>
      </p:sp>
      <p:graphicFrame>
        <p:nvGraphicFramePr>
          <p:cNvPr id="3" name="Backtest MAPE 2023–2024, pre fee change"/>
          <p:cNvGraphicFramePr>
            <a:graphicFrameLocks noGrp="1"/>
          </p:cNvGraphicFramePr>
          <p:nvPr/>
        </p:nvGraphicFramePr>
        <p:xfrm>
          <a:off x="548640" y="1325880"/>
          <a:ext cx="3657600" cy="4206240"/>
        </p:xfrm>
        <a:graphic>
          <a:graphicData uri="http://schemas.openxmlformats.org/drawingml/2006/chart">
            <c:chart xmlns:c="http://schemas.openxmlformats.org/drawingml/2006/chart" r:id="rId2"/>
          </a:graphicData>
        </a:graphic>
      </p:graphicFrame>
      <p:graphicFrame>
        <p:nvGraphicFramePr>
          <p:cNvPr id="4" name="Backtest MAPE 2025–2026, fee + model change"/>
          <p:cNvGraphicFramePr>
            <a:graphicFrameLocks noGrp="1"/>
          </p:cNvGraphicFramePr>
          <p:nvPr/>
        </p:nvGraphicFramePr>
        <p:xfrm>
          <a:off x="4480559" y="1325880"/>
          <a:ext cx="3657600" cy="4206240"/>
        </p:xfrm>
        <a:graphic>
          <a:graphicData uri="http://schemas.openxmlformats.org/drawingml/2006/chart">
            <c:chart xmlns:c="http://schemas.openxmlformats.org/drawingml/2006/chart" r:id="rId3"/>
          </a:graphicData>
        </a:graphic>
      </p:graphicFrame>
      <p:sp>
        <p:nvSpPr>
          <p:cNvPr id="5" name="Oval 4"/>
          <p:cNvSpPr/>
          <p:nvPr/>
        </p:nvSpPr>
        <p:spPr>
          <a:xfrm>
            <a:off x="8549640" y="1463040"/>
            <a:ext cx="292608" cy="292608"/>
          </a:xfrm>
          <a:prstGeom prst="ellipse">
            <a:avLst/>
          </a:prstGeom>
          <a:solidFill>
            <a:srgbClr val="1F3B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6" name="TextBox 5"/>
          <p:cNvSpPr txBox="1"/>
          <p:nvPr/>
        </p:nvSpPr>
        <p:spPr>
          <a:xfrm>
            <a:off x="9006840" y="1417320"/>
            <a:ext cx="2636215" cy="365760"/>
          </a:xfrm>
          <a:prstGeom prst="rect">
            <a:avLst/>
          </a:prstGeom>
          <a:noFill/>
        </p:spPr>
        <p:txBody>
          <a:bodyPr wrap="square" lIns="0" rIns="0" tIns="0" bIns="0" anchor="t">
            <a:spAutoFit/>
          </a:bodyPr>
          <a:lstStyle/>
          <a:p>
            <a:pPr algn="l">
              <a:spcAft>
                <a:spcPts val="0"/>
              </a:spcAft>
            </a:pPr>
            <a:r>
              <a:rPr sz="1600" b="1" i="0">
                <a:solidFill>
                  <a:srgbClr val="15202B"/>
                </a:solidFill>
                <a:latin typeface="Calibri"/>
              </a:rPr>
              <a:t>Passengers: an edge</a:t>
            </a:r>
          </a:p>
        </p:txBody>
      </p:sp>
      <p:sp>
        <p:nvSpPr>
          <p:cNvPr id="7" name="TextBox 6"/>
          <p:cNvSpPr txBox="1"/>
          <p:nvPr/>
        </p:nvSpPr>
        <p:spPr>
          <a:xfrm>
            <a:off x="9006840" y="1783080"/>
            <a:ext cx="2636215"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Beats B1 in 16/18 quarters. Current-era p = 0.05 (blend).</a:t>
            </a:r>
          </a:p>
        </p:txBody>
      </p:sp>
      <p:sp>
        <p:nvSpPr>
          <p:cNvPr id="8" name="Oval 7"/>
          <p:cNvSpPr/>
          <p:nvPr/>
        </p:nvSpPr>
        <p:spPr>
          <a:xfrm>
            <a:off x="8549640" y="2834639"/>
            <a:ext cx="292608" cy="29260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9" name="TextBox 8"/>
          <p:cNvSpPr txBox="1"/>
          <p:nvPr/>
        </p:nvSpPr>
        <p:spPr>
          <a:xfrm>
            <a:off x="9006840" y="2788920"/>
            <a:ext cx="2636215" cy="365760"/>
          </a:xfrm>
          <a:prstGeom prst="rect">
            <a:avLst/>
          </a:prstGeom>
          <a:noFill/>
        </p:spPr>
        <p:txBody>
          <a:bodyPr wrap="square" lIns="0" rIns="0" tIns="0" bIns="0" anchor="t">
            <a:spAutoFit/>
          </a:bodyPr>
          <a:lstStyle/>
          <a:p>
            <a:pPr algn="l">
              <a:spcAft>
                <a:spcPts val="0"/>
              </a:spcAft>
            </a:pPr>
            <a:r>
              <a:rPr sz="1600" b="1" i="0">
                <a:solidFill>
                  <a:srgbClr val="15202B"/>
                </a:solidFill>
                <a:latin typeface="Calibri"/>
              </a:rPr>
              <a:t>Fare: no edge yet</a:t>
            </a:r>
          </a:p>
        </p:txBody>
      </p:sp>
      <p:sp>
        <p:nvSpPr>
          <p:cNvPr id="10" name="TextBox 9"/>
          <p:cNvSpPr txBox="1"/>
          <p:nvPr/>
        </p:nvSpPr>
        <p:spPr>
          <a:xfrm>
            <a:off x="9006840" y="3154679"/>
            <a:ext cx="2636215"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B1 wins 2023–24. Current-era gap 0.5 pt, p = 0.44.</a:t>
            </a:r>
          </a:p>
        </p:txBody>
      </p:sp>
      <p:sp>
        <p:nvSpPr>
          <p:cNvPr id="11" name="Oval 10"/>
          <p:cNvSpPr/>
          <p:nvPr/>
        </p:nvSpPr>
        <p:spPr>
          <a:xfrm>
            <a:off x="8549640" y="4206240"/>
            <a:ext cx="292608" cy="29260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
            </a:r>
          </a:p>
        </p:txBody>
      </p:sp>
      <p:sp>
        <p:nvSpPr>
          <p:cNvPr id="12" name="TextBox 11"/>
          <p:cNvSpPr txBox="1"/>
          <p:nvPr/>
        </p:nvSpPr>
        <p:spPr>
          <a:xfrm>
            <a:off x="9006840" y="4160520"/>
            <a:ext cx="2636215" cy="365760"/>
          </a:xfrm>
          <a:prstGeom prst="rect">
            <a:avLst/>
          </a:prstGeom>
          <a:noFill/>
        </p:spPr>
        <p:txBody>
          <a:bodyPr wrap="square" lIns="0" rIns="0" tIns="0" bIns="0" anchor="t">
            <a:spAutoFit/>
          </a:bodyPr>
          <a:lstStyle/>
          <a:p>
            <a:pPr algn="l">
              <a:spcAft>
                <a:spcPts val="0"/>
              </a:spcAft>
            </a:pPr>
            <a:r>
              <a:rPr sz="1600" b="1" i="0">
                <a:solidFill>
                  <a:srgbClr val="15202B"/>
                </a:solidFill>
                <a:latin typeface="Calibri"/>
              </a:rPr>
              <a:t>Revenue: not proven</a:t>
            </a:r>
          </a:p>
        </p:txBody>
      </p:sp>
      <p:sp>
        <p:nvSpPr>
          <p:cNvPr id="13" name="TextBox 12"/>
          <p:cNvSpPr txBox="1"/>
          <p:nvPr/>
        </p:nvSpPr>
        <p:spPr>
          <a:xfrm>
            <a:off x="9006840" y="4526280"/>
            <a:ext cx="2636215" cy="914400"/>
          </a:xfrm>
          <a:prstGeom prst="rect">
            <a:avLst/>
          </a:prstGeom>
          <a:noFill/>
        </p:spPr>
        <p:txBody>
          <a:bodyPr wrap="square" lIns="0" rIns="0" tIns="0" bIns="0" anchor="t">
            <a:spAutoFit/>
          </a:bodyPr>
          <a:lstStyle/>
          <a:p>
            <a:pPr algn="l">
              <a:spcAft>
                <a:spcPts val="0"/>
              </a:spcAft>
            </a:pPr>
            <a:r>
              <a:rPr sz="1400" b="0" i="0">
                <a:solidFill>
                  <a:srgbClr val="1B1F24"/>
                </a:solidFill>
                <a:latin typeface="Calibri"/>
              </a:rPr>
              <a:t>The client's number: p = 0.53. Sell the split, not the point.</a:t>
            </a:r>
          </a:p>
        </p:txBody>
      </p:sp>
      <p:sp>
        <p:nvSpPr>
          <p:cNvPr id="14" name="TextBox 13"/>
          <p:cNvSpPr txBox="1"/>
          <p:nvPr/>
        </p:nvSpPr>
        <p:spPr>
          <a:xfrm>
            <a:off x="548640" y="5760720"/>
            <a:ext cx="11094415" cy="685800"/>
          </a:xfrm>
          <a:prstGeom prst="rect">
            <a:avLst/>
          </a:prstGeom>
          <a:noFill/>
        </p:spPr>
        <p:txBody>
          <a:bodyPr wrap="square" lIns="0" rIns="0" tIns="0" bIns="0" anchor="t">
            <a:spAutoFit/>
          </a:bodyPr>
          <a:lstStyle/>
          <a:p>
            <a:pPr algn="l">
              <a:spcAft>
                <a:spcPts val="0"/>
              </a:spcAft>
            </a:pPr>
            <a:r>
              <a:rPr sz="1200" b="0" i="0">
                <a:solidFill>
                  <a:srgbClr val="5B6573"/>
                </a:solidFill>
                <a:latin typeface="Calibri"/>
              </a:rPr>
              <a:t>MAPE, vintage-correct backtest: every parameter re-estimated from what was public at the time. Our method = TSA chain (passengers), out-of-sample price blend (fare), their product (revenue). 2022 is reported separately in Evaluation/README because COVID bases flatter every method. p = Diebold-Mariano vs B1, HLN small-sample correction, n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548640" y="384048"/>
            <a:ext cx="11094415" cy="731520"/>
          </a:xfrm>
        </p:spPr>
        <p:txBody>
          <a:bodyPr lIns="0" rIns="0" anchor="t"/>
          <a:lstStyle/>
          <a:p>
            <a:pPr algn="l"/>
            <a:r>
              <a:rPr sz="3600" b="1">
                <a:solidFill>
                  <a:srgbClr val="FFFFFF"/>
                </a:solidFill>
                <a:latin typeface="Cambria"/>
              </a:rPr>
              <a:t>What would make us wrong</a:t>
            </a:r>
          </a:p>
        </p:txBody>
      </p:sp>
      <p:sp>
        <p:nvSpPr>
          <p:cNvPr id="3" name="TextBox 2"/>
          <p:cNvSpPr txBox="1"/>
          <p:nvPr/>
        </p:nvSpPr>
        <p:spPr>
          <a:xfrm>
            <a:off x="548640" y="1188720"/>
            <a:ext cx="6720840" cy="320040"/>
          </a:xfrm>
          <a:prstGeom prst="rect">
            <a:avLst/>
          </a:prstGeom>
          <a:noFill/>
        </p:spPr>
        <p:txBody>
          <a:bodyPr wrap="square" lIns="0" rIns="0" tIns="0" bIns="0" anchor="t">
            <a:spAutoFit/>
          </a:bodyPr>
          <a:lstStyle/>
          <a:p>
            <a:pPr algn="l">
              <a:spcAft>
                <a:spcPts val="0"/>
              </a:spcAft>
            </a:pPr>
            <a:r>
              <a:rPr sz="1200" b="1" i="0">
                <a:solidFill>
                  <a:srgbClr val="AEB8C6"/>
                </a:solidFill>
                <a:latin typeface="Calibri"/>
              </a:rPr>
              <a:t>PRE-REGISTERED BEFORE THE PRINT</a:t>
            </a:r>
          </a:p>
        </p:txBody>
      </p:sp>
      <p:sp>
        <p:nvSpPr>
          <p:cNvPr id="4" name="Oval 3"/>
          <p:cNvSpPr/>
          <p:nvPr/>
        </p:nvSpPr>
        <p:spPr>
          <a:xfrm>
            <a:off x="548640" y="1664208"/>
            <a:ext cx="384048" cy="3840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143000" y="1645920"/>
            <a:ext cx="6126479"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Trip factor</a:t>
            </a:r>
          </a:p>
        </p:txBody>
      </p:sp>
      <p:sp>
        <p:nvSpPr>
          <p:cNvPr id="6" name="TextBox 5"/>
          <p:cNvSpPr txBox="1"/>
          <p:nvPr/>
        </p:nvSpPr>
        <p:spPr>
          <a:xfrm>
            <a:off x="1143000" y="1993392"/>
            <a:ext cx="6126479" cy="685800"/>
          </a:xfrm>
          <a:prstGeom prst="rect">
            <a:avLst/>
          </a:prstGeom>
          <a:noFill/>
        </p:spPr>
        <p:txBody>
          <a:bodyPr wrap="square" lIns="0" rIns="0" tIns="0" bIns="0" anchor="t">
            <a:spAutoFit/>
          </a:bodyPr>
          <a:lstStyle/>
          <a:p>
            <a:pPr algn="l">
              <a:spcAft>
                <a:spcPts val="0"/>
              </a:spcAft>
            </a:pPr>
            <a:r>
              <a:rPr sz="1400" b="0" i="0">
                <a:solidFill>
                  <a:srgbClr val="D5DCE6"/>
                </a:solidFill>
                <a:latin typeface="Calibri"/>
              </a:rPr>
              <a:t>We assume 1.3098, +3.4% YoY. With no 2026 step the TSA chain gives ~33,900k: above B1, at the top edge of our 80% band.</a:t>
            </a:r>
          </a:p>
        </p:txBody>
      </p:sp>
      <p:sp>
        <p:nvSpPr>
          <p:cNvPr id="7" name="Oval 6"/>
          <p:cNvSpPr/>
          <p:nvPr/>
        </p:nvSpPr>
        <p:spPr>
          <a:xfrm>
            <a:off x="548640" y="2743200"/>
            <a:ext cx="384048" cy="3840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143000" y="2724912"/>
            <a:ext cx="6126479"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A one-off in the print</a:t>
            </a:r>
          </a:p>
        </p:txBody>
      </p:sp>
      <p:sp>
        <p:nvSpPr>
          <p:cNvPr id="9" name="TextBox 8"/>
          <p:cNvSpPr txBox="1"/>
          <p:nvPr/>
        </p:nvSpPr>
        <p:spPr>
          <a:xfrm>
            <a:off x="1143000" y="3072384"/>
            <a:ext cx="6126479" cy="685800"/>
          </a:xfrm>
          <a:prstGeom prst="rect">
            <a:avLst/>
          </a:prstGeom>
          <a:noFill/>
        </p:spPr>
        <p:txBody>
          <a:bodyPr wrap="square" lIns="0" rIns="0" tIns="0" bIns="0" anchor="t">
            <a:spAutoFit/>
          </a:bodyPr>
          <a:lstStyle/>
          <a:p>
            <a:pPr algn="l">
              <a:spcAft>
                <a:spcPts val="0"/>
              </a:spcAft>
            </a:pPr>
            <a:r>
              <a:rPr sz="1400" b="0" i="0">
                <a:solidFill>
                  <a:srgbClr val="D5DCE6"/>
                </a:solidFill>
                <a:latin typeface="Calibri"/>
              </a:rPr>
              <a:t>Q2's $285M breakage moved the reported fare by $8. We forecast the underlying fare.</a:t>
            </a:r>
          </a:p>
        </p:txBody>
      </p:sp>
      <p:sp>
        <p:nvSpPr>
          <p:cNvPr id="10" name="Oval 9"/>
          <p:cNvSpPr/>
          <p:nvPr/>
        </p:nvSpPr>
        <p:spPr>
          <a:xfrm>
            <a:off x="548640" y="3822191"/>
            <a:ext cx="384048" cy="3840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143000" y="3803904"/>
            <a:ext cx="6126479"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Capacity below guide</a:t>
            </a:r>
          </a:p>
        </p:txBody>
      </p:sp>
      <p:sp>
        <p:nvSpPr>
          <p:cNvPr id="12" name="TextBox 11"/>
          <p:cNvSpPr txBox="1"/>
          <p:nvPr/>
        </p:nvSpPr>
        <p:spPr>
          <a:xfrm>
            <a:off x="1143000" y="4151376"/>
            <a:ext cx="6126479" cy="685800"/>
          </a:xfrm>
          <a:prstGeom prst="rect">
            <a:avLst/>
          </a:prstGeom>
          <a:noFill/>
        </p:spPr>
        <p:txBody>
          <a:bodyPr wrap="square" lIns="0" rIns="0" tIns="0" bIns="0" anchor="t">
            <a:spAutoFit/>
          </a:bodyPr>
          <a:lstStyle/>
          <a:p>
            <a:pPr algn="l">
              <a:spcAft>
                <a:spcPts val="0"/>
              </a:spcAft>
            </a:pPr>
            <a:r>
              <a:rPr sz="1400" b="0" i="0">
                <a:solidFill>
                  <a:srgbClr val="D5DCE6"/>
                </a:solidFill>
                <a:latin typeface="Calibri"/>
              </a:rPr>
              <a:t>July domestic ASMs ran −1.8% YoY against a −1% to flat guide: about −160k passengers.</a:t>
            </a:r>
          </a:p>
        </p:txBody>
      </p:sp>
      <p:sp>
        <p:nvSpPr>
          <p:cNvPr id="13" name="Oval 12"/>
          <p:cNvSpPr/>
          <p:nvPr/>
        </p:nvSpPr>
        <p:spPr>
          <a:xfrm>
            <a:off x="548640" y="4901183"/>
            <a:ext cx="384048" cy="384048"/>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143000" y="4882896"/>
            <a:ext cx="6126479" cy="32004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The naive regression</a:t>
            </a:r>
          </a:p>
        </p:txBody>
      </p:sp>
      <p:sp>
        <p:nvSpPr>
          <p:cNvPr id="15" name="TextBox 14"/>
          <p:cNvSpPr txBox="1"/>
          <p:nvPr/>
        </p:nvSpPr>
        <p:spPr>
          <a:xfrm>
            <a:off x="1143000" y="5230368"/>
            <a:ext cx="6126479" cy="685800"/>
          </a:xfrm>
          <a:prstGeom prst="rect">
            <a:avLst/>
          </a:prstGeom>
          <a:noFill/>
        </p:spPr>
        <p:txBody>
          <a:bodyPr wrap="square" lIns="0" rIns="0" tIns="0" bIns="0" anchor="t">
            <a:spAutoFit/>
          </a:bodyPr>
          <a:lstStyle/>
          <a:p>
            <a:pPr algn="l">
              <a:spcAft>
                <a:spcPts val="0"/>
              </a:spcAft>
            </a:pPr>
            <a:r>
              <a:rPr sz="1400" b="0" i="0">
                <a:solidFill>
                  <a:srgbClr val="D5DCE6"/>
                </a:solidFill>
                <a:latin typeface="Calibri"/>
              </a:rPr>
              <a:t>Refitted, it says 32,097k, 2.1% below us. We think it misses the share flip, but the gap is large.</a:t>
            </a:r>
          </a:p>
        </p:txBody>
      </p:sp>
      <p:sp>
        <p:nvSpPr>
          <p:cNvPr id="16" name="PoV card"/>
          <p:cNvSpPr/>
          <p:nvPr/>
        </p:nvSpPr>
        <p:spPr>
          <a:xfrm>
            <a:off x="7680959" y="1188720"/>
            <a:ext cx="3962095" cy="5074920"/>
          </a:xfrm>
          <a:prstGeom prst="roundRect">
            <a:avLst>
              <a:gd name="adj" fmla="val 6000"/>
            </a:avLst>
          </a:prstGeom>
          <a:solidFill>
            <a:srgbClr val="223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0999" y="1463040"/>
            <a:ext cx="3322015" cy="320040"/>
          </a:xfrm>
          <a:prstGeom prst="rect">
            <a:avLst/>
          </a:prstGeom>
          <a:noFill/>
        </p:spPr>
        <p:txBody>
          <a:bodyPr wrap="square" lIns="0" rIns="0" tIns="0" bIns="0" anchor="t">
            <a:spAutoFit/>
          </a:bodyPr>
          <a:lstStyle/>
          <a:p>
            <a:pPr algn="l">
              <a:spcAft>
                <a:spcPts val="0"/>
              </a:spcAft>
            </a:pPr>
            <a:r>
              <a:rPr sz="1200" b="1" i="0">
                <a:solidFill>
                  <a:srgbClr val="E9A13B"/>
                </a:solidFill>
                <a:latin typeface="Calibri"/>
              </a:rPr>
              <a:t>OUR POV  ·  TEAM FLAG</a:t>
            </a:r>
          </a:p>
        </p:txBody>
      </p:sp>
      <p:sp>
        <p:nvSpPr>
          <p:cNvPr id="18" name="TextBox 17"/>
          <p:cNvSpPr txBox="1"/>
          <p:nvPr/>
        </p:nvSpPr>
        <p:spPr>
          <a:xfrm>
            <a:off x="8000999" y="1828800"/>
            <a:ext cx="3322015" cy="1188720"/>
          </a:xfrm>
          <a:prstGeom prst="rect">
            <a:avLst/>
          </a:prstGeom>
          <a:noFill/>
        </p:spPr>
        <p:txBody>
          <a:bodyPr wrap="square" lIns="0" rIns="0" tIns="0" bIns="0" anchor="t">
            <a:spAutoFit/>
          </a:bodyPr>
          <a:lstStyle/>
          <a:p>
            <a:pPr algn="l">
              <a:spcAft>
                <a:spcPts val="0"/>
              </a:spcAft>
            </a:pPr>
            <a:r>
              <a:rPr sz="1600" b="1" i="0">
                <a:solidFill>
                  <a:srgbClr val="FFFFFF"/>
                </a:solidFill>
                <a:latin typeface="Calibri"/>
              </a:rPr>
              <a:t>Sell the passenger nowcast and the fare attribution, with a regime flag. Do not sell the revenue point as beating naive.</a:t>
            </a:r>
          </a:p>
        </p:txBody>
      </p:sp>
      <p:sp>
        <p:nvSpPr>
          <p:cNvPr id="19" name="TextBox 18"/>
          <p:cNvSpPr txBox="1"/>
          <p:nvPr/>
        </p:nvSpPr>
        <p:spPr>
          <a:xfrm>
            <a:off x="8000999" y="3154680"/>
            <a:ext cx="3322015" cy="274320"/>
          </a:xfrm>
          <a:prstGeom prst="rect">
            <a:avLst/>
          </a:prstGeom>
          <a:noFill/>
        </p:spPr>
        <p:txBody>
          <a:bodyPr wrap="square" lIns="0" rIns="0" tIns="0" bIns="0" anchor="t">
            <a:spAutoFit/>
          </a:bodyPr>
          <a:lstStyle/>
          <a:p>
            <a:pPr algn="l">
              <a:spcAft>
                <a:spcPts val="0"/>
              </a:spcAft>
            </a:pPr>
            <a:r>
              <a:rPr sz="1400" b="1" i="0">
                <a:solidFill>
                  <a:srgbClr val="AEB8C6"/>
                </a:solidFill>
                <a:latin typeface="Calibri"/>
              </a:rPr>
              <a:t>Downgrade when</a:t>
            </a:r>
          </a:p>
        </p:txBody>
      </p:sp>
      <p:sp>
        <p:nvSpPr>
          <p:cNvPr id="20" name="TextBox 19"/>
          <p:cNvSpPr txBox="1"/>
          <p:nvPr/>
        </p:nvSpPr>
        <p:spPr>
          <a:xfrm>
            <a:off x="8000999" y="3520440"/>
            <a:ext cx="3322015" cy="2560320"/>
          </a:xfrm>
          <a:prstGeom prst="rect">
            <a:avLst/>
          </a:prstGeom>
          <a:noFill/>
        </p:spPr>
        <p:txBody>
          <a:bodyPr wrap="square" lIns="0" rIns="0" tIns="0" bIns="0" anchor="t">
            <a:spAutoFit/>
          </a:bodyPr>
          <a:lstStyle/>
          <a:p>
            <a:pPr algn="l" marL="228600" indent="-228600">
              <a:spcAft>
                <a:spcPts val="600"/>
              </a:spcAft>
              <a:buChar char="•"/>
            </a:pPr>
            <a:r>
              <a:rPr sz="1400" b="0" i="0">
                <a:solidFill>
                  <a:srgbClr val="D5DCE6"/>
                </a:solidFill>
                <a:latin typeface="Calibri"/>
              </a:rPr>
              <a:t>The trip factor moves &gt;1.5 pt off trend</a:t>
            </a:r>
          </a:p>
          <a:p>
            <a:pPr algn="l" marL="228600" indent="-228600">
              <a:spcAft>
                <a:spcPts val="600"/>
              </a:spcAft>
              <a:buChar char="•"/>
            </a:pPr>
            <a:r>
              <a:rPr sz="1400" b="0" i="0">
                <a:solidFill>
                  <a:srgbClr val="D5DCE6"/>
                </a:solidFill>
                <a:latin typeface="Calibri"/>
              </a:rPr>
              <a:t>Southwest's TSA share turns negative two months running</a:t>
            </a:r>
          </a:p>
          <a:p>
            <a:pPr algn="l" marL="228600" indent="-228600">
              <a:spcAft>
                <a:spcPts val="600"/>
              </a:spcAft>
              <a:buChar char="•"/>
            </a:pPr>
            <a:r>
              <a:rPr sz="1400" b="0" i="0">
                <a:solidFill>
                  <a:srgbClr val="D5DCE6"/>
                </a:solidFill>
                <a:latin typeface="Calibri"/>
              </a:rPr>
              <a:t>The TSA chain loses to B1 two quarters running</a:t>
            </a:r>
          </a:p>
          <a:p>
            <a:pPr algn="l" marL="228600" indent="-228600">
              <a:spcAft>
                <a:spcPts val="600"/>
              </a:spcAft>
              <a:buChar char="•"/>
            </a:pPr>
            <a:r>
              <a:rPr sz="1400" b="0" i="0">
                <a:solidFill>
                  <a:srgbClr val="D5DCE6"/>
                </a:solidFill>
                <a:latin typeface="Calibri"/>
              </a:rPr>
              <a:t>A funding lapse or a TSA collection change</a:t>
            </a:r>
          </a:p>
          <a:p>
            <a:pPr algn="l" marL="228600" indent="-228600">
              <a:spcAft>
                <a:spcPts val="600"/>
              </a:spcAft>
              <a:buChar char="•"/>
            </a:pPr>
            <a:r>
              <a:rPr sz="1400" b="0" i="0">
                <a:solidFill>
                  <a:srgbClr val="D5DCE6"/>
                </a:solidFill>
                <a:latin typeface="Calibri"/>
              </a:rPr>
              <a:t>The TSA chain and the naive regression split by &gt;2% (raised for Q3)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